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351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D6FBCD-8BEB-4CF4-9A18-B00564119731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39F091-20E2-42D4-994B-4B78117A38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251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39F091-20E2-42D4-994B-4B78117A38C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500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768096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8BDF8"/>
                </a:solidFill>
                <a:latin typeface="Segoe UI"/>
              </a:defRPr>
            </a:pPr>
            <a:r>
              <a:t>AI2002  ·  COMPUTER VISION PROJECT  ·  RESEARCH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7680960" cy="8002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Failure-Aware &amp; Resource-Adaptive</a:t>
            </a:r>
            <a:br>
              <a:rPr lang="en-US" dirty="0"/>
            </a:br>
            <a:r>
              <a:rPr dirty="0"/>
              <a:t>2D Aerial Mosaicking for UAV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768096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120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2D </a:t>
            </a:r>
            <a:r>
              <a:rPr dirty="0" err="1"/>
              <a:t>từ</a:t>
            </a:r>
            <a:r>
              <a:rPr dirty="0"/>
              <a:t> video UAV: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biết</a:t>
            </a:r>
            <a:r>
              <a:rPr dirty="0"/>
              <a:t> </a:t>
            </a:r>
            <a:r>
              <a:rPr dirty="0" err="1"/>
              <a:t>rủi</a:t>
            </a:r>
            <a:r>
              <a:rPr dirty="0"/>
              <a:t> </a:t>
            </a:r>
            <a:r>
              <a:rPr dirty="0" err="1"/>
              <a:t>ro</a:t>
            </a:r>
            <a:r>
              <a:rPr dirty="0"/>
              <a:t>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luồng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khống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</a:t>
            </a:r>
            <a:r>
              <a:rPr dirty="0" err="1"/>
              <a:t>trôi</a:t>
            </a:r>
            <a:r>
              <a:rPr dirty="0"/>
              <a:t> </a:t>
            </a:r>
            <a:r>
              <a:rPr dirty="0" err="1"/>
              <a:t>dạt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2788920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3474720" cy="72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rPr dirty="0"/>
              <a:t>GIẢNG VIÊN </a:t>
            </a:r>
            <a:r>
              <a:rPr lang="en-US" dirty="0"/>
              <a:t>BỘ MÔN</a:t>
            </a:r>
            <a:endParaRPr dirty="0"/>
          </a:p>
          <a:p>
            <a:pPr>
              <a:lnSpc>
                <a:spcPct val="200000"/>
              </a:lnSpc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Nguyễn Hồng Hải (HaiNH51)</a:t>
            </a:r>
          </a:p>
          <a:p>
            <a:pPr>
              <a:lnSpc>
                <a:spcPct val="200000"/>
              </a:lnSpc>
              <a:defRPr sz="9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môn</a:t>
            </a:r>
            <a:r>
              <a:rPr dirty="0"/>
              <a:t> Trí </a:t>
            </a:r>
            <a:r>
              <a:rPr dirty="0" err="1"/>
              <a:t>tuệ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(AI)  ·  FPT University</a:t>
            </a:r>
            <a:br>
              <a:rPr dirty="0"/>
            </a:br>
            <a:r>
              <a:rPr dirty="0"/>
              <a:t>Khoa Công </a:t>
            </a:r>
            <a:r>
              <a:rPr dirty="0" err="1"/>
              <a:t>nghệ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 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3063240"/>
            <a:ext cx="9144" cy="10160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3017520"/>
            <a:ext cx="3840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850" b="1">
                <a:solidFill>
                  <a:srgbClr val="34D399"/>
                </a:solidFill>
                <a:latin typeface="Segoe UI"/>
              </a:defRPr>
            </a:pPr>
            <a:r>
              <a:t>NHÓM SINH VIÊN THỰC HIỆN  ·  NHÓM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364992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Diệp Quang Sáng
</a:t>
            </a:r>
            <a:r>
              <a:rPr sz="850">
                <a:solidFill>
                  <a:srgbClr val="94A3B8"/>
                </a:solidFill>
                <a:latin typeface="Segoe UI"/>
              </a:rPr>
              <a:t>SE200655</a:t>
            </a:r>
          </a:p>
          <a:p>
            <a:pPr>
              <a:lnSpc>
                <a:spcPct val="2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Đào Đặng Nguyên Khôi
</a:t>
            </a:r>
            <a:r>
              <a:rPr sz="850">
                <a:solidFill>
                  <a:srgbClr val="94A3B8"/>
                </a:solidFill>
                <a:latin typeface="Segoe UI"/>
              </a:rPr>
              <a:t>SE200450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364992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8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Nguyễn Đức Nam
</a:t>
            </a:r>
            <a:r>
              <a:rPr sz="850">
                <a:solidFill>
                  <a:srgbClr val="94A3B8"/>
                </a:solidFill>
                <a:latin typeface="Segoe UI"/>
              </a:rPr>
              <a:t>SE200991</a:t>
            </a:r>
          </a:p>
          <a:p>
            <a:pPr>
              <a:lnSpc>
                <a:spcPct val="2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Trương Quang Đăng Khoa
</a:t>
            </a:r>
            <a:r>
              <a:rPr sz="850">
                <a:solidFill>
                  <a:srgbClr val="94A3B8"/>
                </a:solidFill>
                <a:latin typeface="Segoe UI"/>
              </a:rPr>
              <a:t>SE201463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01 / BỐI CẢNH THỰC TẾ &amp; BÀI TOÁN NGHIÊN CỨU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Nghịch lý xử lý ảnh UAV: Nhu cầu thực địa vs Rào cản công nghệ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10158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8BDF8"/>
                </a:solidFill>
                <a:latin typeface="Segoe UI"/>
              </a:defRPr>
            </a:pPr>
            <a:r>
              <a:t>ĐIỂM NGHẼN CÔNG NGHỆ HIỆN NAY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Xử lý ảnh UAV truyền thống bộc lộ nhiều hạn chế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74519"/>
            <a:ext cx="35661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5661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01  Phần mềm 3D/SfM (Pix4D, Metashape)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Mất nhiều giờ xử lý; đòi hỏi máy trạm đắt tiền và bắt buộc GPS RTK chính xác. Không đáp ứng cứu nạn khẩn cấp.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02  Thuật toán 2D cổ điển (SIFT / ORB)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Chạy nhẹ trên CPU nhưng rất mong manh; dễ mất dấu (tracking failure) khi camera rung lắc hoặc đổi góc bay.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03  Sai số trôi dạt tích lũy (Cumulative Drift)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Sai số đăng ký tích tụ dần theo hành trình bay, làm méo mó và biến dạng toàn bộ bản đồ ảnh ghép.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325880"/>
            <a:ext cx="9144" cy="33020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1325880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4D399"/>
                </a:solidFill>
                <a:latin typeface="Segoe UI"/>
              </a:defRPr>
            </a:pPr>
            <a:r>
              <a:t>ĐỘT PHÁ CỦA ĐỀ CƯƠNG ĐỀ XUẤT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Bản đồ 2D thời gian thực, tự thích ứng rủi 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874519"/>
            <a:ext cx="365760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657600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rPr dirty="0" err="1"/>
              <a:t>Vận</a:t>
            </a:r>
            <a:r>
              <a:rPr dirty="0"/>
              <a:t> </a:t>
            </a:r>
            <a:r>
              <a:rPr dirty="0" err="1"/>
              <a:t>hành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laptop </a:t>
            </a: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thường</a:t>
            </a:r>
            <a:endParaRPr dirty="0"/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nhu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khẩn</a:t>
            </a:r>
            <a:r>
              <a:rPr dirty="0"/>
              <a:t> </a:t>
            </a:r>
            <a:r>
              <a:rPr dirty="0" err="1"/>
              <a:t>cấp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hộ</a:t>
            </a:r>
            <a:r>
              <a:rPr dirty="0"/>
              <a:t> </a:t>
            </a:r>
            <a:r>
              <a:rPr dirty="0" err="1"/>
              <a:t>bão</a:t>
            </a:r>
            <a:r>
              <a:rPr dirty="0"/>
              <a:t> </a:t>
            </a:r>
            <a:r>
              <a:rPr dirty="0" err="1"/>
              <a:t>lũ</a:t>
            </a:r>
            <a:r>
              <a:rPr dirty="0"/>
              <a:t>, </a:t>
            </a:r>
            <a:r>
              <a:rPr dirty="0" err="1"/>
              <a:t>sạt</a:t>
            </a:r>
            <a:r>
              <a:rPr dirty="0"/>
              <a:t> </a:t>
            </a:r>
            <a:r>
              <a:rPr dirty="0" err="1"/>
              <a:t>lở</a:t>
            </a:r>
            <a:r>
              <a:rPr dirty="0"/>
              <a:t> </a:t>
            </a:r>
            <a:r>
              <a:rPr dirty="0" err="1"/>
              <a:t>đất</a:t>
            </a:r>
            <a:r>
              <a:rPr dirty="0"/>
              <a:t> </a:t>
            </a:r>
            <a:r>
              <a:rPr dirty="0" err="1"/>
              <a:t>ngay</a:t>
            </a:r>
            <a:r>
              <a:rPr dirty="0"/>
              <a:t> </a:t>
            </a:r>
            <a:r>
              <a:rPr dirty="0" err="1"/>
              <a:t>tại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địa</a:t>
            </a:r>
            <a:r>
              <a:rPr dirty="0"/>
              <a:t>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máy</a:t>
            </a:r>
            <a:r>
              <a:rPr dirty="0"/>
              <a:t>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chuyên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GPS RTK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/>
              <a:t>Tái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bản</a:t>
            </a:r>
            <a:r>
              <a:rPr dirty="0"/>
              <a:t> </a:t>
            </a: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trạng</a:t>
            </a:r>
            <a:r>
              <a:rPr dirty="0"/>
              <a:t> 2D </a:t>
            </a:r>
            <a:r>
              <a:rPr dirty="0" err="1"/>
              <a:t>cục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dựa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chuỗi</a:t>
            </a:r>
            <a:r>
              <a:rPr dirty="0"/>
              <a:t> 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</a:t>
            </a:r>
            <a:r>
              <a:rPr dirty="0" err="1"/>
              <a:t>đồng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(</a:t>
            </a:r>
            <a:r>
              <a:rPr dirty="0" err="1"/>
              <a:t>Homography</a:t>
            </a:r>
            <a:r>
              <a:rPr dirty="0"/>
              <a:t>)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lũy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34D399"/>
                </a:solidFill>
                <a:latin typeface="Segoe UI"/>
              </a:defRPr>
            </a:pP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thích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 &amp; </a:t>
            </a:r>
            <a:r>
              <a:rPr dirty="0" err="1"/>
              <a:t>Khống</a:t>
            </a:r>
            <a:r>
              <a:rPr dirty="0"/>
              <a:t> </a:t>
            </a:r>
            <a:r>
              <a:rPr dirty="0" err="1"/>
              <a:t>chế</a:t>
            </a:r>
            <a:r>
              <a:rPr dirty="0"/>
              <a:t> drift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Mặc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nhẹ</a:t>
            </a:r>
            <a:r>
              <a:rPr dirty="0"/>
              <a:t>;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gọi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sâu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nguy</a:t>
            </a:r>
            <a:r>
              <a:rPr dirty="0"/>
              <a:t> </a:t>
            </a:r>
            <a:r>
              <a:rPr dirty="0" err="1"/>
              <a:t>cơ</a:t>
            </a:r>
            <a:r>
              <a:rPr dirty="0"/>
              <a:t> </a:t>
            </a:r>
            <a:r>
              <a:rPr dirty="0" err="1"/>
              <a:t>lỗi</a:t>
            </a:r>
            <a:r>
              <a:rPr dirty="0"/>
              <a:t>; </a:t>
            </a:r>
            <a:r>
              <a:rPr dirty="0" err="1"/>
              <a:t>kích</a:t>
            </a:r>
            <a:r>
              <a:rPr dirty="0"/>
              <a:t> </a:t>
            </a:r>
            <a:r>
              <a:rPr dirty="0" err="1"/>
              <a:t>hoạt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hồi</a:t>
            </a:r>
            <a:r>
              <a:rPr dirty="0"/>
              <a:t> 3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02 / INPUT &amp; OUTPUT SPECIFICATION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Đặc tả dữ liệu đầu vào &amp; Kết quả đầu ra của hệ thống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1680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8BDF8"/>
                </a:solidFill>
                <a:latin typeface="Segoe UI"/>
              </a:defRPr>
            </a:pPr>
            <a:r>
              <a:t>INPUT SPECIFICATION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Video UAV tuần tự ngoài thực địa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5661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01  Video quang học RGB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1080p / 4K, trích xuất chuỗi frame liên tiếp.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02  Góc quay Near-Nadir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Camera hướng thẳng đứng, hạn chế parallax ngoài mặt phẳng.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03  Chuỗi 100 – 1000 frames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Độ chồng lấn (overlap) giữa 2 frame liên tiếp ≥ 60%.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04  Không bắt buộc GPS/IMU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Vận hành linh hoạt trên camera drone dân dụng thông thường.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325880"/>
            <a:ext cx="9144" cy="33020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1325880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4D399"/>
                </a:solidFill>
                <a:latin typeface="Segoe UI"/>
              </a:defRPr>
            </a:pPr>
            <a:r>
              <a:t>OUTPUT DELIVERABLES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Bản đồ hiện trạng 2D &amp;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657600" cy="15491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34D399"/>
                </a:solidFill>
                <a:latin typeface="Segoe UI"/>
              </a:defRPr>
            </a:pPr>
            <a:r>
              <a:rPr dirty="0" err="1"/>
              <a:t>Bản</a:t>
            </a:r>
            <a:r>
              <a:rPr dirty="0"/>
              <a:t> </a:t>
            </a: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cảnh</a:t>
            </a:r>
            <a:r>
              <a:rPr dirty="0"/>
              <a:t> Mosaic 2D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trạng</a:t>
            </a:r>
            <a:r>
              <a:rPr dirty="0"/>
              <a:t> </a:t>
            </a:r>
            <a:r>
              <a:rPr dirty="0" err="1"/>
              <a:t>mặt</a:t>
            </a:r>
            <a:r>
              <a:rPr dirty="0"/>
              <a:t> </a:t>
            </a:r>
            <a:r>
              <a:rPr dirty="0" err="1"/>
              <a:t>đất</a:t>
            </a:r>
            <a:r>
              <a:rPr dirty="0"/>
              <a:t> </a:t>
            </a:r>
            <a:r>
              <a:rPr dirty="0" err="1"/>
              <a:t>tại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bay,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liền</a:t>
            </a:r>
            <a:r>
              <a:rPr dirty="0"/>
              <a:t> </a:t>
            </a:r>
            <a:r>
              <a:rPr dirty="0" err="1"/>
              <a:t>mạch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34D399"/>
                </a:solidFill>
                <a:latin typeface="Segoe UI"/>
              </a:defRPr>
            </a:pPr>
            <a:r>
              <a:rPr dirty="0"/>
              <a:t>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Homography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lũy</a:t>
            </a:r>
            <a:endParaRPr dirty="0"/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/>
              <a:t>Lưu </a:t>
            </a:r>
            <a:r>
              <a:rPr dirty="0" err="1"/>
              <a:t>vết</a:t>
            </a:r>
            <a:r>
              <a:rPr dirty="0"/>
              <a:t> ma </a:t>
            </a:r>
            <a:r>
              <a:rPr dirty="0" err="1"/>
              <a:t>trận</a:t>
            </a:r>
            <a:r>
              <a:rPr dirty="0"/>
              <a:t> H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lũy</a:t>
            </a:r>
            <a:r>
              <a:rPr dirty="0"/>
              <a:t> </a:t>
            </a:r>
            <a:r>
              <a:rPr dirty="0" err="1"/>
              <a:t>từng</a:t>
            </a:r>
            <a:r>
              <a:rPr dirty="0"/>
              <a:t> frame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vị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rộng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34D399"/>
                </a:solidFill>
                <a:latin typeface="Segoe UI"/>
              </a:defRPr>
            </a:pPr>
            <a:r>
              <a:rPr dirty="0"/>
              <a:t>Nhật </a:t>
            </a:r>
            <a:r>
              <a:rPr dirty="0" err="1"/>
              <a:t>ký</a:t>
            </a:r>
            <a:r>
              <a:rPr dirty="0"/>
              <a:t> </a:t>
            </a:r>
            <a:r>
              <a:rPr dirty="0" err="1"/>
              <a:t>chất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(Quality Log)</a:t>
            </a:r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/>
              <a:t>File CSV/JSON </a:t>
            </a:r>
            <a:r>
              <a:rPr dirty="0" err="1"/>
              <a:t>ghi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tỷ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phủ</a:t>
            </a:r>
            <a:r>
              <a:rPr dirty="0"/>
              <a:t>, </a:t>
            </a:r>
            <a:r>
              <a:rPr dirty="0" err="1"/>
              <a:t>số</a:t>
            </a:r>
            <a:r>
              <a:rPr dirty="0"/>
              <a:t> inlier, </a:t>
            </a:r>
            <a:r>
              <a:rPr dirty="0" err="1"/>
              <a:t>sai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chiếu</a:t>
            </a:r>
            <a:r>
              <a:rPr dirty="0"/>
              <a:t> </a:t>
            </a:r>
            <a:r>
              <a:rPr dirty="0" err="1"/>
              <a:t>lại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00" b="1">
                <a:solidFill>
                  <a:srgbClr val="34D399"/>
                </a:solidFill>
                <a:latin typeface="Segoe UI"/>
              </a:defRPr>
            </a:pPr>
            <a:r>
              <a:rPr dirty="0" err="1"/>
              <a:t>Cụm</a:t>
            </a:r>
            <a:r>
              <a:rPr dirty="0"/>
              <a:t> </a:t>
            </a:r>
            <a:r>
              <a:rPr dirty="0" err="1"/>
              <a:t>Submosaics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endParaRPr dirty="0"/>
          </a:p>
          <a:p>
            <a:pPr>
              <a:lnSpc>
                <a:spcPct val="200000"/>
              </a:lnSpc>
              <a:spcAft>
                <a:spcPts val="8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cụm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con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 </a:t>
            </a:r>
            <a:r>
              <a:rPr dirty="0" err="1"/>
              <a:t>đứt</a:t>
            </a:r>
            <a:r>
              <a:rPr dirty="0"/>
              <a:t> </a:t>
            </a:r>
            <a:r>
              <a:rPr dirty="0" err="1"/>
              <a:t>gãy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khôi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03 / DỮ LIỆU THỰC NGHIỆM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Dữ liệu thực nghiệm từ drone thật: NPU Drone-Map &amp; DroneZaic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6511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3657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850" b="1">
                <a:solidFill>
                  <a:srgbClr val="38BDF8"/>
                </a:solidFill>
                <a:latin typeface="Segoe UI"/>
              </a:defRPr>
            </a:pPr>
            <a:r>
              <a:t>DATASET CHÍNH  ·  RDR-0002 &amp; RDR-0003</a:t>
            </a:r>
          </a:p>
          <a:p>
            <a:pPr>
              <a:lnSpc>
                <a:spcPct val="200000"/>
              </a:lnSpc>
              <a:defRPr sz="1150" b="1">
                <a:solidFill>
                  <a:srgbClr val="FFFFFF"/>
                </a:solidFill>
                <a:latin typeface="Segoe UI"/>
              </a:defRPr>
            </a:pPr>
            <a:r>
              <a:t>NPU Drone-Map (ĐH Bách Khoa Tây Bắc)</a:t>
            </a:r>
          </a:p>
        </p:txBody>
      </p:sp>
      <p:pic>
        <p:nvPicPr>
          <p:cNvPr id="5" name="Picture 4" descr="card_npu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92811"/>
            <a:ext cx="3657600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401568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Drone thật &amp; quy mô: </a:t>
            </a:r>
            <a:r>
              <a:rPr sz="850">
                <a:solidFill>
                  <a:srgbClr val="94A3B8"/>
                </a:solidFill>
                <a:latin typeface="Segoe UI"/>
              </a:rPr>
              <a:t>Phantom 3, GoPro, Inspire; 100+ GB dữ liệu video, ảnh, trajectory.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Ground Truth GCP: </a:t>
            </a:r>
            <a:r>
              <a:rPr sz="850">
                <a:solidFill>
                  <a:srgbClr val="94A3B8"/>
                </a:solidFill>
                <a:latin typeface="Segoe UI"/>
              </a:rPr>
              <a:t>Có tọa độ mốc kiểm soát mặt đất thực tế để đo sai số GCP RMSE.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Mục tiêu kiểm chứng: </a:t>
            </a:r>
            <a:r>
              <a:rPr sz="850">
                <a:solidFill>
                  <a:srgbClr val="94A3B8"/>
                </a:solidFill>
                <a:latin typeface="Segoe UI"/>
              </a:rPr>
              <a:t>Tập thử nghiệm chính cho toàn bộ 3 câu hỏi nghiên cứu RQ1 – RQ3.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265970"/>
            <a:ext cx="9144" cy="34290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36576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850" b="1">
                <a:solidFill>
                  <a:srgbClr val="34D399"/>
                </a:solidFill>
                <a:latin typeface="Segoe UI"/>
              </a:defRPr>
            </a:pPr>
            <a:r>
              <a:t>STRESS-TEST &amp; DỰ PHÒNG  ·  DRYAD OPEN</a:t>
            </a:r>
          </a:p>
          <a:p>
            <a:pPr>
              <a:lnSpc>
                <a:spcPct val="200000"/>
              </a:lnSpc>
              <a:defRPr sz="1150" b="1">
                <a:solidFill>
                  <a:srgbClr val="FFFFFF"/>
                </a:solidFill>
                <a:latin typeface="Segoe UI"/>
              </a:defRPr>
            </a:pPr>
            <a:r>
              <a:t>DroneZaic Dataset (PPJ 2025 / Dryad)</a:t>
            </a:r>
          </a:p>
        </p:txBody>
      </p:sp>
      <p:pic>
        <p:nvPicPr>
          <p:cNvPr id="9" name="Picture 8" descr="card_dronezaic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92811"/>
            <a:ext cx="3657600" cy="1508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880" y="3401568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Đặc tính dữ liệu: </a:t>
            </a:r>
            <a:r>
              <a:rPr sz="850">
                <a:solidFill>
                  <a:srgbClr val="94A3B8"/>
                </a:solidFill>
                <a:latin typeface="Segoe UI"/>
              </a:rPr>
              <a:t>Video 4K drone bay tự do trên cánh đồng ngô, quy mô 70.4 GB.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Thách thức lặp vân: </a:t>
            </a:r>
            <a:r>
              <a:rPr sz="850">
                <a:solidFill>
                  <a:srgbClr val="94A3B8"/>
                </a:solidFill>
                <a:latin typeface="Segoe UI"/>
              </a:rPr>
              <a:t>Địa hình nông nghiệp lặp vân cao (repetitive texture), nghèo góc nhọn.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• Mục tiêu kiểm chứng: </a:t>
            </a:r>
            <a:r>
              <a:rPr sz="850">
                <a:solidFill>
                  <a:srgbClr val="94A3B8"/>
                </a:solidFill>
                <a:latin typeface="Segoe UI"/>
              </a:rPr>
              <a:t>Thử thách cực hạn kích hoạt Matcher Router (RQ2) và Phục hồi (RQ3).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04 / PHƯƠNG PHÁP ĐÁNH GIÁ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Hệ thống chỉ số định lượng, Ground Truth &amp; Baseline đối chuẩn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98334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423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01  SAI SỐ HÌNH HỌC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GCP RMSE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Sai số mốc kiểm soát mặt đất thực tế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Loop Closure Drift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Độ lệch tích lũy khi khép kín vòng bay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5848" y="1280160"/>
            <a:ext cx="2423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850" b="1">
                <a:solidFill>
                  <a:srgbClr val="34D399"/>
                </a:solidFill>
                <a:latin typeface="Segoe UI"/>
              </a:defRPr>
            </a:pPr>
            <a:r>
              <a:t>02  ĐỘ BỀN VỮNG &amp; TIN CẬY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Tracking Rate (%)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Tỷ lệ ghép thành công liên tục chuỗi video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Failure Count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Số lần mất dấu dẫn đến đứt gãy chuỗi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0176" y="1280160"/>
            <a:ext cx="2423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6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03  HIỆU NĂNG TÍNH TOÁN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P50 / P95 Latency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Thời gian xử lý ms/frame trên laptop</a:t>
            </a:r>
          </a:p>
          <a:p>
            <a:pPr>
              <a:lnSpc>
                <a:spcPct val="200000"/>
              </a:lnSpc>
              <a:defRPr sz="1350" b="1">
                <a:solidFill>
                  <a:srgbClr val="FFFFFF"/>
                </a:solidFill>
                <a:latin typeface="Segoe UI"/>
              </a:defRPr>
            </a:pPr>
            <a:r>
              <a:t>Deep Activation (%)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Tỷ lệ frame phải gọi SIFT + LightGlue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91840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76809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850" b="1">
                <a:solidFill>
                  <a:srgbClr val="64748B"/>
                </a:solidFill>
                <a:latin typeface="Segoe UI"/>
              </a:defRPr>
            </a:pPr>
            <a:r>
              <a:t>3 PHƯƠNG PHÁP ĐỐI CHỨNG (BASELINES ĐỐI BẢNG)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423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 sz="950" b="1">
                <a:solidFill>
                  <a:srgbClr val="FFFFFF"/>
                </a:solidFill>
                <a:latin typeface="Segoe UI"/>
              </a:defRPr>
            </a:pPr>
            <a:r>
              <a:t>1. Always-Classical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SIFT / ORB (Thuần CPU)</a:t>
            </a:r>
          </a:p>
          <a:p>
            <a:pPr>
              <a:lnSpc>
                <a:spcPct val="200000"/>
              </a:lnSpc>
              <a:defRPr sz="800">
                <a:solidFill>
                  <a:srgbClr val="94A3B8"/>
                </a:solidFill>
                <a:latin typeface="Segoe UI"/>
              </a:defRPr>
            </a:pPr>
            <a:r>
              <a:t>Chạy nhẹ, tốc độ cao nhưng rất mong manh ở cảnh UAV khó.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3703320"/>
            <a:ext cx="2423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 sz="950" b="1">
                <a:solidFill>
                  <a:srgbClr val="FFFFFF"/>
                </a:solidFill>
                <a:latin typeface="Segoe UI"/>
              </a:defRPr>
            </a:pPr>
            <a:r>
              <a:t>2. Always-Learned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850" b="1">
                <a:solidFill>
                  <a:srgbClr val="34D399"/>
                </a:solidFill>
                <a:latin typeface="Segoe UI"/>
              </a:defRPr>
            </a:pPr>
            <a:r>
              <a:t>SIFT + LightGlue (100% GPU)</a:t>
            </a:r>
          </a:p>
          <a:p>
            <a:pPr>
              <a:lnSpc>
                <a:spcPct val="200000"/>
              </a:lnSpc>
              <a:defRPr sz="800">
                <a:solidFill>
                  <a:srgbClr val="94A3B8"/>
                </a:solidFill>
                <a:latin typeface="Segoe UI"/>
              </a:defRPr>
            </a:pPr>
            <a:r>
              <a:t>Độ chính xác vượt trội nhưng quá tải tài nguyên laptop biên.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0176" y="3703320"/>
            <a:ext cx="2423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 sz="950" b="1">
                <a:solidFill>
                  <a:srgbClr val="FFFFFF"/>
                </a:solidFill>
                <a:latin typeface="Segoe UI"/>
              </a:defRPr>
            </a:pPr>
            <a:r>
              <a:t>3. Sequential Baseline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Hwang et al. (2026)</a:t>
            </a:r>
          </a:p>
          <a:p>
            <a:pPr>
              <a:lnSpc>
                <a:spcPct val="200000"/>
              </a:lnSpc>
              <a:defRPr sz="800">
                <a:solidFill>
                  <a:srgbClr val="94A3B8"/>
                </a:solidFill>
                <a:latin typeface="Segoe UI"/>
              </a:defRPr>
            </a:pPr>
            <a:r>
              <a:t>Quy trình đối sánh tuần tự chuẩn gần nhất để so sánh độ lệch.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05 / ĐỀ XUẤT HƯỚNG GIẢI QUYẾT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Kiến trúc Pipeline 2 tầng: Tự thích ứng &amp; Cảnh báo rủi ro sớm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2276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37160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115214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8BDF8"/>
                </a:solidFill>
                <a:latin typeface="Segoe UI"/>
              </a:defRPr>
            </a:pPr>
            <a:r>
              <a:t>ĐẦU VÀO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Cặp Frame (k-1, k)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Video UAV RGB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Khử méo quang học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Trích xuất tuần tự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1408" y="1874519"/>
            <a:ext cx="3657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1325880"/>
            <a:ext cx="173736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4328" y="1417320"/>
            <a:ext cx="1517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8BDF8"/>
                </a:solidFill>
                <a:latin typeface="Segoe UI"/>
              </a:defRPr>
            </a:pPr>
            <a:r>
              <a:t>TẦNG 1: MẶC ĐỊNH (CPU)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SIFT / ORB Matcher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Xử lý 85–90% frame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Trích xuất chỉ báo rẻ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Vận hành nhẹ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9392" y="1874519"/>
            <a:ext cx="3200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>
                <a:solidFill>
                  <a:srgbClr val="38BDF8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325880"/>
            <a:ext cx="178308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417320"/>
            <a:ext cx="156362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8BDF8"/>
                </a:solidFill>
                <a:latin typeface="Segoe UI"/>
              </a:defRPr>
            </a:pPr>
            <a:r>
              <a:t>CỔNG RỦI RO (RQ1)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Risk Gate (Định tuyến)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Inlier ratio • Lệch chiếu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Phân tán không gian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Định tuyến 2 nhánh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783080"/>
            <a:ext cx="41148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>
                <a:solidFill>
                  <a:srgbClr val="34D399"/>
                </a:solidFill>
                <a:latin typeface="Segoe UI"/>
              </a:rPr>
              <a:t>→</a:t>
            </a:r>
          </a:p>
          <a:p>
            <a:pPr algn="ctr">
              <a:lnSpc>
                <a:spcPct val="200000"/>
              </a:lnSpc>
            </a:pPr>
            <a:r>
              <a:rPr sz="700" b="1">
                <a:solidFill>
                  <a:srgbClr val="34D399"/>
                </a:solidFill>
                <a:latin typeface="Segoe UI"/>
              </a:rPr>
              <a:t>An toàn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325880"/>
            <a:ext cx="155448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67728" y="1417320"/>
            <a:ext cx="133502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4D399"/>
                </a:solidFill>
                <a:latin typeface="Segoe UI"/>
              </a:defRPr>
            </a:pPr>
            <a:r>
              <a:t>KẾT QUẢ ĐẦU RA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Mosaic 2D Toàn Cảnh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Tích lũy ma trận H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Khống chế drift toàn cục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Ghi nhật ký CSV/JSON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0880" y="2761488"/>
            <a:ext cx="82296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 dirty="0">
                <a:solidFill>
                  <a:srgbClr val="38BDF8"/>
                </a:solidFill>
                <a:latin typeface="Segoe UI"/>
              </a:rPr>
              <a:t>↓</a:t>
            </a:r>
          </a:p>
          <a:p>
            <a:pPr algn="ctr">
              <a:lnSpc>
                <a:spcPct val="200000"/>
              </a:lnSpc>
            </a:pPr>
            <a:r>
              <a:rPr sz="700" b="1" dirty="0" err="1">
                <a:solidFill>
                  <a:srgbClr val="38BDF8"/>
                </a:solidFill>
                <a:latin typeface="Segoe UI"/>
              </a:rPr>
              <a:t>Rủi</a:t>
            </a:r>
            <a:r>
              <a:rPr sz="700" b="1" dirty="0">
                <a:solidFill>
                  <a:srgbClr val="38BDF8"/>
                </a:solidFill>
                <a:latin typeface="Segoe UI"/>
              </a:rPr>
              <a:t> </a:t>
            </a:r>
            <a:r>
              <a:rPr sz="700" b="1" dirty="0" err="1">
                <a:solidFill>
                  <a:srgbClr val="38BDF8"/>
                </a:solidFill>
                <a:latin typeface="Segoe UI"/>
              </a:rPr>
              <a:t>ro</a:t>
            </a:r>
            <a:r>
              <a:rPr sz="700" b="1" dirty="0">
                <a:solidFill>
                  <a:srgbClr val="38BDF8"/>
                </a:solidFill>
                <a:latin typeface="Segoe UI"/>
              </a:rPr>
              <a:t> (10%)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84255" y="3424428"/>
            <a:ext cx="201168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93983" y="3515868"/>
            <a:ext cx="179222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4D399"/>
                </a:solidFill>
                <a:latin typeface="Segoe UI"/>
              </a:defRPr>
            </a:pPr>
            <a:r>
              <a:rPr dirty="0"/>
              <a:t>TẦNG 2: HỌC SÂU (GPU) — RQ2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rPr dirty="0"/>
              <a:t>SIFT + </a:t>
            </a:r>
            <a:r>
              <a:rPr dirty="0" err="1"/>
              <a:t>LightGlue</a:t>
            </a:r>
            <a:endParaRPr dirty="0"/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Kích</a:t>
            </a:r>
            <a:r>
              <a:rPr dirty="0"/>
              <a:t> </a:t>
            </a:r>
            <a:r>
              <a:rPr dirty="0" err="1"/>
              <a:t>hoạt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rủi</a:t>
            </a:r>
            <a:r>
              <a:rPr dirty="0"/>
              <a:t> </a:t>
            </a:r>
            <a:r>
              <a:rPr dirty="0" err="1"/>
              <a:t>ro</a:t>
            </a:r>
            <a:r>
              <a:rPr dirty="0"/>
              <a:t> </a:t>
            </a:r>
            <a:r>
              <a:rPr dirty="0" err="1"/>
              <a:t>đỏ</a:t>
            </a:r>
            <a:endParaRPr dirty="0"/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Giảm</a:t>
            </a:r>
            <a:r>
              <a:rPr dirty="0"/>
              <a:t> 85% </a:t>
            </a:r>
            <a:r>
              <a:rPr dirty="0" err="1"/>
              <a:t>tải</a:t>
            </a:r>
            <a:r>
              <a:rPr dirty="0"/>
              <a:t> so GPU full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rPr dirty="0"/>
              <a:t>• </a:t>
            </a:r>
            <a:r>
              <a:rPr dirty="0" err="1"/>
              <a:t>Vượt</a:t>
            </a:r>
            <a:r>
              <a:rPr dirty="0"/>
              <a:t> </a:t>
            </a:r>
            <a:r>
              <a:rPr dirty="0" err="1"/>
              <a:t>trội</a:t>
            </a:r>
            <a:r>
              <a:rPr dirty="0"/>
              <a:t> </a:t>
            </a:r>
            <a:r>
              <a:rPr dirty="0" err="1"/>
              <a:t>góc</a:t>
            </a:r>
            <a:r>
              <a:rPr dirty="0"/>
              <a:t> </a:t>
            </a:r>
            <a:r>
              <a:rPr dirty="0" err="1"/>
              <a:t>xoay</a:t>
            </a:r>
            <a:r>
              <a:rPr dirty="0"/>
              <a:t> &amp; </a:t>
            </a:r>
            <a:r>
              <a:rPr dirty="0" err="1"/>
              <a:t>lặp</a:t>
            </a:r>
            <a:r>
              <a:rPr dirty="0"/>
              <a:t> </a:t>
            </a:r>
            <a:r>
              <a:rPr dirty="0" err="1"/>
              <a:t>vân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069715" y="4019015"/>
            <a:ext cx="3200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 dirty="0">
                <a:solidFill>
                  <a:srgbClr val="34D399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63536" y="3291840"/>
            <a:ext cx="1828800" cy="1508760"/>
          </a:xfrm>
          <a:prstGeom prst="rect">
            <a:avLst/>
          </a:prstGeom>
          <a:solidFill>
            <a:srgbClr val="0F0F12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3264" y="3383280"/>
            <a:ext cx="160934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750" b="1">
                <a:solidFill>
                  <a:srgbClr val="34D399"/>
                </a:solidFill>
                <a:latin typeface="Segoe UI"/>
              </a:defRPr>
            </a:pPr>
            <a:r>
              <a:t>KHỐNG CHẾ DRIFT — RQ3</a:t>
            </a:r>
          </a:p>
          <a:p>
            <a:pPr>
              <a:lnSpc>
                <a:spcPct val="200000"/>
              </a:lnSpc>
              <a:spcAft>
                <a:spcPts val="400"/>
              </a:spcAft>
              <a:defRPr sz="950" b="1">
                <a:solidFill>
                  <a:srgbClr val="FFFFFF"/>
                </a:solidFill>
                <a:latin typeface="Segoe UI"/>
              </a:defRPr>
            </a:pPr>
            <a:r>
              <a:t>Bộ 3 Hành Vi Phục Hồi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M1: Bỏ qua rung lắc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M2: Tái đối sánh Keyframe</a:t>
            </a:r>
          </a:p>
          <a:p>
            <a:pPr>
              <a:lnSpc>
                <a:spcPct val="200000"/>
              </a:lnSpc>
              <a:spcAft>
                <a:spcPts val="100"/>
              </a:spcAft>
              <a:defRPr sz="750">
                <a:solidFill>
                  <a:srgbClr val="94A3B8"/>
                </a:solidFill>
                <a:latin typeface="Segoe UI"/>
              </a:defRPr>
            </a:pPr>
            <a:r>
              <a:t>• M3: Tách Submosaics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9768" y="3566160"/>
            <a:ext cx="54864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200000"/>
              </a:lnSpc>
            </a:pPr>
            <a:r>
              <a:rPr sz="1300" b="1">
                <a:solidFill>
                  <a:srgbClr val="34D399"/>
                </a:solidFill>
                <a:latin typeface="Segoe UI"/>
              </a:rPr>
              <a:t>↗</a:t>
            </a:r>
          </a:p>
          <a:p>
            <a:pPr algn="ctr">
              <a:lnSpc>
                <a:spcPct val="200000"/>
              </a:lnSpc>
            </a:pPr>
            <a:r>
              <a:rPr sz="700" b="1">
                <a:solidFill>
                  <a:srgbClr val="34D399"/>
                </a:solidFill>
                <a:latin typeface="Segoe UI"/>
              </a:rPr>
              <a:t>Hợp nhất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3890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rPr dirty="0"/>
              <a:t>06 / ĐỀ XUẤT ĐÓNG GÓP CỦA NHÓM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rPr dirty="0"/>
              <a:t>3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&amp; </a:t>
            </a:r>
            <a:r>
              <a:rPr dirty="0" err="1"/>
              <a:t>Lộ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6 </a:t>
            </a:r>
            <a:r>
              <a:rPr dirty="0" err="1"/>
              <a:t>tuần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31520" y="1093797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187997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8BDF8"/>
                </a:solidFill>
                <a:latin typeface="Segoe UI"/>
              </a:defRPr>
            </a:pPr>
            <a:r>
              <a:t>GIÁ TRỊ MANG LẠI CHO BÀI TOÁN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 Đóng góp khoa học &amp; ứng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3797"/>
            <a:ext cx="35661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01  Phân luồng thích ứng 2 tầng (RQ2)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Dung hòa triệt để bài toán đánh đổi giữa tài nguyên biên và độ bền vững trước cảnh UAV khó.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02  Khung đối chuẩn rủi ro &amp; phục hồi (RQ1, RQ3)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Mô hình hóa định lượng tương quan giữa sai số tức thời và drift; quy chuẩn hóa 3 cơ chế phục hồi.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050" b="1">
                <a:solidFill>
                  <a:srgbClr val="FFFFFF"/>
                </a:solidFill>
                <a:latin typeface="Segoe UI"/>
              </a:defRPr>
            </a:pPr>
            <a:r>
              <a:t>03  Bộ công cụ mã nguồn mở hoàn chỉnh</a:t>
            </a:r>
          </a:p>
          <a:p>
            <a:pPr>
              <a:lnSpc>
                <a:spcPct val="200000"/>
              </a:lnSpc>
              <a:spcAft>
                <a:spcPts val="12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Đóng gói toàn bộ pipeline 2D kèm bộ công cụ đo kiểm tự động (Evaluation Harness) trên dữ liệu thực tế.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187997"/>
            <a:ext cx="9144" cy="33020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0" y="1187997"/>
            <a:ext cx="3657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200000"/>
              </a:lnSpc>
              <a:defRPr sz="900" b="1">
                <a:solidFill>
                  <a:srgbClr val="34D399"/>
                </a:solidFill>
                <a:latin typeface="Segoe UI"/>
              </a:defRPr>
            </a:pPr>
            <a:r>
              <a:t>LỘ TRÌNH THỰC HIỆN 6 TUẦN</a:t>
            </a:r>
          </a:p>
          <a:p>
            <a:pPr>
              <a:lnSpc>
                <a:spcPct val="200000"/>
              </a:lnSpc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Tiến độ 21/09/2026 – 31/10/2026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73797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Segoe UI"/>
              </a:rPr>
              <a:t>W1 (21/9 – 27/9)  ·  </a:t>
            </a:r>
            <a:r>
              <a:rPr sz="950" b="1">
                <a:solidFill>
                  <a:srgbClr val="FFFFFF"/>
                </a:solidFill>
                <a:latin typeface="Segoe UI"/>
              </a:rPr>
              <a:t>[Đức Nam]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Chuẩn hóa NPU/DroneZaic &amp; Dựng Evaluation Harness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Segoe UI"/>
              </a:rPr>
              <a:t>W2 (28/9 – 04/10)  ·  </a:t>
            </a:r>
            <a:r>
              <a:rPr sz="950" b="1">
                <a:solidFill>
                  <a:srgbClr val="FFFFFF"/>
                </a:solidFill>
                <a:latin typeface="Segoe UI"/>
              </a:rPr>
              <a:t>[Quang Sáng]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Xây dựng pipeline cơ sở ghép tuần tự Homography 2D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Segoe UI"/>
              </a:rPr>
              <a:t>W3 (05/10 – 11/10)  ·  </a:t>
            </a:r>
            <a:r>
              <a:rPr sz="950" b="1">
                <a:solidFill>
                  <a:srgbClr val="FFFFFF"/>
                </a:solidFill>
                <a:latin typeface="Segoe UI"/>
              </a:rPr>
              <a:t>[Nguyên Khôi]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Mô hình hóa chỉ báo rủi ro RQ1 &amp; Matcher Router RQ2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Segoe UI"/>
              </a:rPr>
              <a:t>W4 (12/10 – 18/10)  ·  </a:t>
            </a:r>
            <a:r>
              <a:rPr sz="950" b="1">
                <a:solidFill>
                  <a:srgbClr val="FFFFFF"/>
                </a:solidFill>
                <a:latin typeface="Segoe UI"/>
              </a:rPr>
              <a:t>[Đăng Khoa]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Module phục hồi có kiểm soát RQ3 &amp; Tích hợp hệ thống</a:t>
            </a:r>
          </a:p>
          <a:p>
            <a:pPr>
              <a:lnSpc>
                <a:spcPct val="200000"/>
              </a:lnSpc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Segoe UI"/>
              </a:rPr>
              <a:t>W5-6 (19/10 – 31/10)  ·  </a:t>
            </a:r>
            <a:r>
              <a:rPr sz="950" b="1">
                <a:solidFill>
                  <a:srgbClr val="FFFFFF"/>
                </a:solidFill>
                <a:latin typeface="Segoe UI"/>
              </a:rPr>
              <a:t>[Cả nhóm]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t>Benchmark diện rộng, phân tích số liệu &amp; Hoàn thiện báo cáo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7680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200000"/>
              </a:lnSpc>
              <a:spcAft>
                <a:spcPts val="400"/>
              </a:spcAft>
              <a:defRPr sz="850" b="1">
                <a:solidFill>
                  <a:srgbClr val="38BDF8"/>
                </a:solidFill>
                <a:latin typeface="Segoe UI"/>
              </a:defRPr>
            </a:pPr>
            <a:r>
              <a:t>07 / TỔNG KẾT ĐỀ CƯƠNG NGHIÊN CỨU</a:t>
            </a:r>
          </a:p>
          <a:p>
            <a:pPr algn="l">
              <a:lnSpc>
                <a:spcPct val="200000"/>
              </a:lnSpc>
              <a:defRPr sz="1750" b="1">
                <a:solidFill>
                  <a:srgbClr val="FFFFFF"/>
                </a:solidFill>
                <a:latin typeface="Segoe UI"/>
              </a:defRPr>
            </a:pPr>
            <a:r>
              <a:t>Failure-Aware 2D Aerial Mosaicking for UAV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14101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spcAft>
                <a:spcPts val="2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01 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sự</a:t>
            </a:r>
            <a:r>
              <a:rPr dirty="0"/>
              <a:t> &amp;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tiễn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  <a:p>
            <a:pPr>
              <a:lnSpc>
                <a:spcPct val="200000"/>
              </a:lnSpc>
              <a:spcAft>
                <a:spcPts val="10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bản</a:t>
            </a:r>
            <a:r>
              <a:rPr dirty="0"/>
              <a:t> </a:t>
            </a: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2D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trường</a:t>
            </a:r>
            <a:r>
              <a:rPr dirty="0"/>
              <a:t> </a:t>
            </a:r>
            <a:r>
              <a:rPr dirty="0" err="1"/>
              <a:t>nhanh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hộ</a:t>
            </a:r>
            <a:r>
              <a:rPr dirty="0"/>
              <a:t> </a:t>
            </a:r>
            <a:r>
              <a:rPr dirty="0" err="1"/>
              <a:t>thiên</a:t>
            </a:r>
            <a:r>
              <a:rPr dirty="0"/>
              <a:t> tai, </a:t>
            </a:r>
            <a:r>
              <a:rPr dirty="0" err="1"/>
              <a:t>bão</a:t>
            </a:r>
            <a:r>
              <a:rPr dirty="0"/>
              <a:t> </a:t>
            </a:r>
            <a:r>
              <a:rPr dirty="0" err="1"/>
              <a:t>lũ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nông</a:t>
            </a:r>
            <a:r>
              <a:rPr dirty="0"/>
              <a:t> </a:t>
            </a:r>
            <a:r>
              <a:rPr dirty="0" err="1"/>
              <a:t>nghiệp</a:t>
            </a:r>
            <a:r>
              <a:rPr dirty="0"/>
              <a:t>; </a:t>
            </a:r>
            <a:r>
              <a:rPr dirty="0" err="1"/>
              <a:t>khắc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triệt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trôi</a:t>
            </a:r>
            <a:r>
              <a:rPr dirty="0"/>
              <a:t> </a:t>
            </a:r>
            <a:r>
              <a:rPr dirty="0" err="1"/>
              <a:t>dạt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lũy</a:t>
            </a:r>
            <a:r>
              <a:rPr dirty="0"/>
              <a:t>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ép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GPS RTK </a:t>
            </a:r>
            <a:r>
              <a:rPr dirty="0" err="1"/>
              <a:t>đắt</a:t>
            </a:r>
            <a:r>
              <a:rPr dirty="0"/>
              <a:t> </a:t>
            </a:r>
            <a:r>
              <a:rPr dirty="0" err="1"/>
              <a:t>tiền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02  </a:t>
            </a:r>
            <a:r>
              <a:rPr dirty="0" err="1"/>
              <a:t>Đột</a:t>
            </a:r>
            <a:r>
              <a:rPr dirty="0"/>
              <a:t> </a:t>
            </a:r>
            <a:r>
              <a:rPr dirty="0" err="1"/>
              <a:t>phá</a:t>
            </a:r>
            <a:r>
              <a:rPr dirty="0"/>
              <a:t>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cận</a:t>
            </a:r>
            <a:endParaRPr dirty="0"/>
          </a:p>
          <a:p>
            <a:pPr>
              <a:lnSpc>
                <a:spcPct val="200000"/>
              </a:lnSpc>
              <a:spcAft>
                <a:spcPts val="10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/>
              <a:t>Khung </a:t>
            </a:r>
            <a:r>
              <a:rPr dirty="0" err="1"/>
              <a:t>làm</a:t>
            </a:r>
            <a:r>
              <a:rPr dirty="0"/>
              <a:t> </a:t>
            </a:r>
            <a:r>
              <a:rPr dirty="0" err="1"/>
              <a:t>việc</a:t>
            </a:r>
            <a:r>
              <a:rPr dirty="0"/>
              <a:t> 2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cảnh</a:t>
            </a:r>
            <a:r>
              <a:rPr dirty="0"/>
              <a:t> </a:t>
            </a: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rủi</a:t>
            </a:r>
            <a:r>
              <a:rPr dirty="0"/>
              <a:t> </a:t>
            </a:r>
            <a:r>
              <a:rPr dirty="0" err="1"/>
              <a:t>ro</a:t>
            </a:r>
            <a:r>
              <a:rPr dirty="0"/>
              <a:t> </a:t>
            </a:r>
            <a:r>
              <a:rPr dirty="0" err="1"/>
              <a:t>sớm</a:t>
            </a:r>
            <a:r>
              <a:rPr dirty="0"/>
              <a:t> (Risk Gate)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luồng</a:t>
            </a:r>
            <a:r>
              <a:rPr dirty="0"/>
              <a:t> </a:t>
            </a:r>
            <a:r>
              <a:rPr dirty="0" err="1"/>
              <a:t>thích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(Matcher Router)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vận</a:t>
            </a:r>
            <a:r>
              <a:rPr dirty="0"/>
              <a:t> </a:t>
            </a:r>
            <a:r>
              <a:rPr dirty="0" err="1"/>
              <a:t>hành</a:t>
            </a:r>
            <a:r>
              <a:rPr dirty="0"/>
              <a:t> </a:t>
            </a:r>
            <a:r>
              <a:rPr dirty="0" err="1"/>
              <a:t>trơn</a:t>
            </a:r>
            <a:r>
              <a:rPr dirty="0"/>
              <a:t> </a:t>
            </a:r>
            <a:r>
              <a:rPr dirty="0" err="1"/>
              <a:t>tru</a:t>
            </a:r>
            <a:r>
              <a:rPr dirty="0"/>
              <a:t> </a:t>
            </a:r>
            <a:r>
              <a:rPr dirty="0" err="1"/>
              <a:t>ngay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laptop </a:t>
            </a:r>
            <a:r>
              <a:rPr dirty="0" err="1"/>
              <a:t>cá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200000"/>
              </a:lnSpc>
              <a:spcAft>
                <a:spcPts val="2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03  </a:t>
            </a:r>
            <a:r>
              <a:rPr dirty="0" err="1"/>
              <a:t>Kế</a:t>
            </a:r>
            <a:r>
              <a:rPr dirty="0"/>
              <a:t> </a:t>
            </a:r>
            <a:r>
              <a:rPr dirty="0" err="1"/>
              <a:t>hoạch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thi</a:t>
            </a:r>
            <a:r>
              <a:rPr dirty="0"/>
              <a:t> &amp; </a:t>
            </a:r>
            <a:r>
              <a:rPr dirty="0" err="1"/>
              <a:t>sẵn</a:t>
            </a:r>
            <a:r>
              <a:rPr dirty="0"/>
              <a:t> </a:t>
            </a:r>
            <a:r>
              <a:rPr dirty="0" err="1"/>
              <a:t>sàng</a:t>
            </a:r>
            <a:endParaRPr dirty="0"/>
          </a:p>
          <a:p>
            <a:pPr>
              <a:lnSpc>
                <a:spcPct val="200000"/>
              </a:lnSpc>
              <a:spcAft>
                <a:spcPts val="1000"/>
              </a:spcAft>
              <a:defRPr sz="850">
                <a:solidFill>
                  <a:srgbClr val="94A3B8"/>
                </a:solidFill>
                <a:latin typeface="Segoe UI"/>
              </a:defRPr>
            </a:pP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UAV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NPU Drone-Map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DroneZaic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sẵn</a:t>
            </a:r>
            <a:r>
              <a:rPr dirty="0"/>
              <a:t> </a:t>
            </a:r>
            <a:r>
              <a:rPr dirty="0" err="1"/>
              <a:t>sàng</a:t>
            </a:r>
            <a:r>
              <a:rPr dirty="0"/>
              <a:t>, 4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viên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trách</a:t>
            </a:r>
            <a:r>
              <a:rPr dirty="0"/>
              <a:t> </a:t>
            </a:r>
            <a:r>
              <a:rPr dirty="0" err="1"/>
              <a:t>nhiệm</a:t>
            </a:r>
            <a:r>
              <a:rPr dirty="0"/>
              <a:t> </a:t>
            </a:r>
            <a:r>
              <a:rPr dirty="0" err="1"/>
              <a:t>rõ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lộ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6 </a:t>
            </a:r>
            <a:r>
              <a:rPr dirty="0" err="1"/>
              <a:t>tuần</a:t>
            </a:r>
            <a:r>
              <a:rPr dirty="0"/>
              <a:t> </a:t>
            </a:r>
            <a:r>
              <a:rPr dirty="0" err="1"/>
              <a:t>cụ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, cam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đúng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7680960" cy="12700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1575</Words>
  <Application>Microsoft Office PowerPoint</Application>
  <PresentationFormat>On-screen Show (16:9)</PresentationFormat>
  <Paragraphs>162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diep sang</dc:creator>
  <cp:keywords/>
  <dc:description>generated using python-pptx</dc:description>
  <cp:lastModifiedBy>diep sang</cp:lastModifiedBy>
  <cp:revision>6</cp:revision>
  <dcterms:created xsi:type="dcterms:W3CDTF">2013-01-27T09:14:16Z</dcterms:created>
  <dcterms:modified xsi:type="dcterms:W3CDTF">2026-09-19T08:55:32Z</dcterms:modified>
  <cp:category/>
</cp:coreProperties>
</file>