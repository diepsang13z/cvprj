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1" d="100"/>
          <a:sy n="121" d="100"/>
        </p:scale>
        <p:origin x="351" y="5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AD6FBCD-8BEB-4CF4-9A18-B00564119731}" type="datetimeFigureOut">
              <a:rPr lang="en-US" smtClean="0"/>
              <a:t>9/19/2026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A39F091-20E2-42D4-994B-4B78117A38CB}" type="slidenum">
              <a:rPr lang="en-US" smtClean="0"/>
              <a:t>‹#›</a:t>
            </a:fld>
            <a:endParaRPr lang="en-US"/>
          </a:p>
        </p:txBody>
      </p:sp>
    </p:spTree>
    <p:extLst>
      <p:ext uri="{BB962C8B-B14F-4D97-AF65-F5344CB8AC3E}">
        <p14:creationId xmlns:p14="http://schemas.microsoft.com/office/powerpoint/2010/main" val="13832519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A39F091-20E2-42D4-994B-4B78117A38CB}" type="slidenum">
              <a:rPr lang="en-US" smtClean="0"/>
              <a:t>1</a:t>
            </a:fld>
            <a:endParaRPr lang="en-US"/>
          </a:p>
        </p:txBody>
      </p:sp>
    </p:spTree>
    <p:extLst>
      <p:ext uri="{BB962C8B-B14F-4D97-AF65-F5344CB8AC3E}">
        <p14:creationId xmlns:p14="http://schemas.microsoft.com/office/powerpoint/2010/main" val="16655008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0A0A"/>
        </a:solidFill>
        <a:effectLst/>
      </p:bgPr>
    </p:bg>
    <p:spTree>
      <p:nvGrpSpPr>
        <p:cNvPr id="1" name=""/>
        <p:cNvGrpSpPr/>
        <p:nvPr/>
      </p:nvGrpSpPr>
      <p:grpSpPr>
        <a:xfrm>
          <a:off x="0" y="0"/>
          <a:ext cx="0" cy="0"/>
          <a:chOff x="0" y="0"/>
          <a:chExt cx="0" cy="0"/>
        </a:xfrm>
      </p:grpSpPr>
      <p:sp>
        <p:nvSpPr>
          <p:cNvPr id="2" name="TextBox 1"/>
          <p:cNvSpPr txBox="1"/>
          <p:nvPr/>
        </p:nvSpPr>
        <p:spPr>
          <a:xfrm>
            <a:off x="731520" y="731520"/>
            <a:ext cx="7680960" cy="320040"/>
          </a:xfrm>
          <a:prstGeom prst="rect">
            <a:avLst/>
          </a:prstGeom>
          <a:noFill/>
        </p:spPr>
        <p:txBody>
          <a:bodyPr wrap="none" lIns="0" tIns="0" rIns="0" bIns="0">
            <a:spAutoFit/>
          </a:bodyPr>
          <a:lstStyle/>
          <a:p>
            <a:pPr>
              <a:lnSpc>
                <a:spcPct val="200000"/>
              </a:lnSpc>
              <a:defRPr sz="900" b="1">
                <a:solidFill>
                  <a:srgbClr val="38BDF8"/>
                </a:solidFill>
                <a:latin typeface="Segoe UI"/>
              </a:defRPr>
            </a:pPr>
            <a:r>
              <a:t>AI2002  ·  COMPUTER VISION PROJECT  ·  RESEARCH PROPOSAL</a:t>
            </a:r>
          </a:p>
        </p:txBody>
      </p:sp>
      <p:sp>
        <p:nvSpPr>
          <p:cNvPr id="3" name="TextBox 2"/>
          <p:cNvSpPr txBox="1"/>
          <p:nvPr/>
        </p:nvSpPr>
        <p:spPr>
          <a:xfrm>
            <a:off x="731520" y="1143000"/>
            <a:ext cx="7680960" cy="1097280"/>
          </a:xfrm>
          <a:prstGeom prst="rect">
            <a:avLst/>
          </a:prstGeom>
          <a:noFill/>
        </p:spPr>
        <p:txBody>
          <a:bodyPr wrap="square" lIns="0" tIns="0" rIns="0" bIns="0">
            <a:spAutoFit/>
          </a:bodyPr>
          <a:lstStyle/>
          <a:p>
            <a:pPr>
              <a:lnSpc>
                <a:spcPct val="200000"/>
              </a:lnSpc>
              <a:spcAft>
                <a:spcPts val="800"/>
              </a:spcAft>
              <a:defRPr sz="2600" b="1">
                <a:solidFill>
                  <a:srgbClr val="FFFFFF"/>
                </a:solidFill>
                <a:latin typeface="Segoe UI"/>
              </a:defRPr>
            </a:pPr>
            <a:r>
              <a:t>Failure-Aware &amp; Resource-Adaptive</a:t>
            </a:r>
            <a:br/>
            <a:r>
              <a:t>2D Aerial Mosaicking for UAV Video</a:t>
            </a:r>
          </a:p>
        </p:txBody>
      </p:sp>
      <p:sp>
        <p:nvSpPr>
          <p:cNvPr id="4" name="TextBox 3"/>
          <p:cNvSpPr txBox="1"/>
          <p:nvPr/>
        </p:nvSpPr>
        <p:spPr>
          <a:xfrm>
            <a:off x="731520" y="2148840"/>
            <a:ext cx="7680960" cy="411480"/>
          </a:xfrm>
          <a:prstGeom prst="rect">
            <a:avLst/>
          </a:prstGeom>
          <a:noFill/>
        </p:spPr>
        <p:txBody>
          <a:bodyPr wrap="none" lIns="0" tIns="0" rIns="0" bIns="0">
            <a:spAutoFit/>
          </a:bodyPr>
          <a:lstStyle/>
          <a:p>
            <a:pPr>
              <a:lnSpc>
                <a:spcPct val="200000"/>
              </a:lnSpc>
              <a:defRPr sz="1200">
                <a:solidFill>
                  <a:srgbClr val="94A3B8"/>
                </a:solidFill>
                <a:latin typeface="Segoe UI"/>
              </a:defRPr>
            </a:pPr>
            <a:r>
              <a:t>Ghép ảnh 2D từ video UAV: Tự nhận biết rủi ro, phân luồng tài nguyên và khống chế trôi dạt</a:t>
            </a:r>
          </a:p>
        </p:txBody>
      </p:sp>
      <p:sp>
        <p:nvSpPr>
          <p:cNvPr id="5" name="Rectangle 4"/>
          <p:cNvSpPr/>
          <p:nvPr/>
        </p:nvSpPr>
        <p:spPr>
          <a:xfrm>
            <a:off x="731520" y="2788920"/>
            <a:ext cx="7680960" cy="12700"/>
          </a:xfrm>
          <a:prstGeom prst="rect">
            <a:avLst/>
          </a:prstGeom>
          <a:solidFill>
            <a:srgbClr val="27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200000"/>
              </a:lnSpc>
            </a:pPr>
            <a:endParaRPr/>
          </a:p>
        </p:txBody>
      </p:sp>
      <p:sp>
        <p:nvSpPr>
          <p:cNvPr id="6" name="TextBox 5"/>
          <p:cNvSpPr txBox="1"/>
          <p:nvPr/>
        </p:nvSpPr>
        <p:spPr>
          <a:xfrm>
            <a:off x="731520" y="3017520"/>
            <a:ext cx="3474720" cy="725840"/>
          </a:xfrm>
          <a:prstGeom prst="rect">
            <a:avLst/>
          </a:prstGeom>
          <a:noFill/>
        </p:spPr>
        <p:txBody>
          <a:bodyPr wrap="square" lIns="0" tIns="0" rIns="0" bIns="0">
            <a:spAutoFit/>
          </a:bodyPr>
          <a:lstStyle/>
          <a:p>
            <a:pPr>
              <a:lnSpc>
                <a:spcPct val="200000"/>
              </a:lnSpc>
              <a:spcAft>
                <a:spcPts val="400"/>
              </a:spcAft>
              <a:defRPr sz="850" b="1">
                <a:solidFill>
                  <a:srgbClr val="64748B"/>
                </a:solidFill>
                <a:latin typeface="Segoe UI"/>
              </a:defRPr>
            </a:pPr>
            <a:r>
              <a:rPr dirty="0"/>
              <a:t>GIẢNG VIÊN </a:t>
            </a:r>
            <a:r>
              <a:rPr lang="en-US" dirty="0"/>
              <a:t>BỘ MÔN</a:t>
            </a:r>
            <a:endParaRPr dirty="0"/>
          </a:p>
          <a:p>
            <a:pPr>
              <a:lnSpc>
                <a:spcPct val="200000"/>
              </a:lnSpc>
              <a:spcAft>
                <a:spcPts val="400"/>
              </a:spcAft>
              <a:defRPr sz="1300" b="1">
                <a:solidFill>
                  <a:srgbClr val="FFFFFF"/>
                </a:solidFill>
                <a:latin typeface="Segoe UI"/>
              </a:defRPr>
            </a:pPr>
            <a:r>
              <a:rPr dirty="0"/>
              <a:t>Nguyễn Hồng Hải (HaiNH51)</a:t>
            </a:r>
          </a:p>
          <a:p>
            <a:pPr>
              <a:lnSpc>
                <a:spcPct val="200000"/>
              </a:lnSpc>
              <a:defRPr sz="950">
                <a:solidFill>
                  <a:srgbClr val="94A3B8"/>
                </a:solidFill>
                <a:latin typeface="Segoe UI"/>
              </a:defRPr>
            </a:pPr>
            <a:r>
              <a:rPr dirty="0" err="1"/>
              <a:t>Bộ</a:t>
            </a:r>
            <a:r>
              <a:rPr dirty="0"/>
              <a:t> </a:t>
            </a:r>
            <a:r>
              <a:rPr dirty="0" err="1"/>
              <a:t>môn</a:t>
            </a:r>
            <a:r>
              <a:rPr dirty="0"/>
              <a:t> Trí </a:t>
            </a:r>
            <a:r>
              <a:rPr dirty="0" err="1"/>
              <a:t>tuệ</a:t>
            </a:r>
            <a:r>
              <a:rPr dirty="0"/>
              <a:t> </a:t>
            </a:r>
            <a:r>
              <a:rPr dirty="0" err="1"/>
              <a:t>nhân</a:t>
            </a:r>
            <a:r>
              <a:rPr dirty="0"/>
              <a:t> </a:t>
            </a:r>
            <a:r>
              <a:rPr dirty="0" err="1"/>
              <a:t>tạo</a:t>
            </a:r>
            <a:r>
              <a:rPr dirty="0"/>
              <a:t> (AI)  ·  FPT University</a:t>
            </a:r>
            <a:br>
              <a:rPr dirty="0"/>
            </a:br>
            <a:r>
              <a:rPr dirty="0"/>
              <a:t>Khoa Công </a:t>
            </a:r>
            <a:r>
              <a:rPr dirty="0" err="1"/>
              <a:t>nghệ</a:t>
            </a:r>
            <a:r>
              <a:rPr dirty="0"/>
              <a:t> </a:t>
            </a:r>
            <a:r>
              <a:rPr dirty="0" err="1"/>
              <a:t>thông</a:t>
            </a:r>
            <a:r>
              <a:rPr dirty="0"/>
              <a:t> tin</a:t>
            </a:r>
          </a:p>
        </p:txBody>
      </p:sp>
      <p:sp>
        <p:nvSpPr>
          <p:cNvPr id="7" name="Rectangle 6"/>
          <p:cNvSpPr/>
          <p:nvPr/>
        </p:nvSpPr>
        <p:spPr>
          <a:xfrm>
            <a:off x="4297680" y="3063240"/>
            <a:ext cx="9144" cy="1016000"/>
          </a:xfrm>
          <a:prstGeom prst="rect">
            <a:avLst/>
          </a:prstGeom>
          <a:solidFill>
            <a:srgbClr val="27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200000"/>
              </a:lnSpc>
            </a:pPr>
            <a:endParaRPr/>
          </a:p>
        </p:txBody>
      </p:sp>
      <p:sp>
        <p:nvSpPr>
          <p:cNvPr id="8" name="TextBox 7"/>
          <p:cNvSpPr txBox="1"/>
          <p:nvPr/>
        </p:nvSpPr>
        <p:spPr>
          <a:xfrm>
            <a:off x="4572000" y="3017520"/>
            <a:ext cx="3840480" cy="274320"/>
          </a:xfrm>
          <a:prstGeom prst="rect">
            <a:avLst/>
          </a:prstGeom>
          <a:noFill/>
        </p:spPr>
        <p:txBody>
          <a:bodyPr wrap="none" lIns="0" tIns="0" rIns="0" bIns="0">
            <a:spAutoFit/>
          </a:bodyPr>
          <a:lstStyle/>
          <a:p>
            <a:pPr>
              <a:lnSpc>
                <a:spcPct val="200000"/>
              </a:lnSpc>
              <a:defRPr sz="850" b="1">
                <a:solidFill>
                  <a:srgbClr val="34D399"/>
                </a:solidFill>
                <a:latin typeface="Segoe UI"/>
              </a:defRPr>
            </a:pPr>
            <a:r>
              <a:t>NHÓM SINH VIÊN THỰC HIỆN  ·  NHÓM 09</a:t>
            </a:r>
          </a:p>
        </p:txBody>
      </p:sp>
      <p:sp>
        <p:nvSpPr>
          <p:cNvPr id="9" name="TextBox 8"/>
          <p:cNvSpPr txBox="1"/>
          <p:nvPr/>
        </p:nvSpPr>
        <p:spPr>
          <a:xfrm>
            <a:off x="4572000" y="3364992"/>
            <a:ext cx="1828800" cy="1280160"/>
          </a:xfrm>
          <a:prstGeom prst="rect">
            <a:avLst/>
          </a:prstGeom>
          <a:noFill/>
        </p:spPr>
        <p:txBody>
          <a:bodyPr wrap="square" lIns="0" tIns="0" rIns="0" bIns="0">
            <a:spAutoFit/>
          </a:bodyPr>
          <a:lstStyle/>
          <a:p>
            <a:pPr>
              <a:lnSpc>
                <a:spcPct val="200000"/>
              </a:lnSpc>
              <a:spcAft>
                <a:spcPts val="800"/>
              </a:spcAft>
            </a:pPr>
            <a:r>
              <a:rPr sz="1000" b="1">
                <a:solidFill>
                  <a:srgbClr val="FFFFFF"/>
                </a:solidFill>
                <a:latin typeface="Segoe UI"/>
              </a:rPr>
              <a:t>Diệp Quang Sáng
</a:t>
            </a:r>
            <a:r>
              <a:rPr sz="850">
                <a:solidFill>
                  <a:srgbClr val="94A3B8"/>
                </a:solidFill>
                <a:latin typeface="Segoe UI"/>
              </a:rPr>
              <a:t>SE200655</a:t>
            </a:r>
          </a:p>
          <a:p>
            <a:pPr>
              <a:lnSpc>
                <a:spcPct val="200000"/>
              </a:lnSpc>
            </a:pPr>
            <a:r>
              <a:rPr sz="1000" b="1">
                <a:solidFill>
                  <a:srgbClr val="FFFFFF"/>
                </a:solidFill>
                <a:latin typeface="Segoe UI"/>
              </a:rPr>
              <a:t>Đào Đặng Nguyên Khôi
</a:t>
            </a:r>
            <a:r>
              <a:rPr sz="850">
                <a:solidFill>
                  <a:srgbClr val="94A3B8"/>
                </a:solidFill>
                <a:latin typeface="Segoe UI"/>
              </a:rPr>
              <a:t>SE200450</a:t>
            </a:r>
          </a:p>
        </p:txBody>
      </p:sp>
      <p:sp>
        <p:nvSpPr>
          <p:cNvPr id="10" name="TextBox 9"/>
          <p:cNvSpPr txBox="1"/>
          <p:nvPr/>
        </p:nvSpPr>
        <p:spPr>
          <a:xfrm>
            <a:off x="6583680" y="3364992"/>
            <a:ext cx="1828800" cy="1280160"/>
          </a:xfrm>
          <a:prstGeom prst="rect">
            <a:avLst/>
          </a:prstGeom>
          <a:noFill/>
        </p:spPr>
        <p:txBody>
          <a:bodyPr wrap="square" lIns="0" tIns="0" rIns="0" bIns="0">
            <a:spAutoFit/>
          </a:bodyPr>
          <a:lstStyle/>
          <a:p>
            <a:pPr>
              <a:lnSpc>
                <a:spcPct val="200000"/>
              </a:lnSpc>
              <a:spcAft>
                <a:spcPts val="800"/>
              </a:spcAft>
            </a:pPr>
            <a:r>
              <a:rPr sz="1000" b="1">
                <a:solidFill>
                  <a:srgbClr val="FFFFFF"/>
                </a:solidFill>
                <a:latin typeface="Segoe UI"/>
              </a:rPr>
              <a:t>Nguyễn Đức Nam
</a:t>
            </a:r>
            <a:r>
              <a:rPr sz="850">
                <a:solidFill>
                  <a:srgbClr val="94A3B8"/>
                </a:solidFill>
                <a:latin typeface="Segoe UI"/>
              </a:rPr>
              <a:t>SE200991</a:t>
            </a:r>
          </a:p>
          <a:p>
            <a:pPr>
              <a:lnSpc>
                <a:spcPct val="200000"/>
              </a:lnSpc>
            </a:pPr>
            <a:r>
              <a:rPr sz="1000" b="1">
                <a:solidFill>
                  <a:srgbClr val="FFFFFF"/>
                </a:solidFill>
                <a:latin typeface="Segoe UI"/>
              </a:rPr>
              <a:t>Trương Quang Đăng Khoa
</a:t>
            </a:r>
            <a:r>
              <a:rPr sz="850">
                <a:solidFill>
                  <a:srgbClr val="94A3B8"/>
                </a:solidFill>
                <a:latin typeface="Segoe UI"/>
              </a:rPr>
              <a:t>SE201463</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A0A0A"/>
        </a:solidFill>
        <a:effectLst/>
      </p:bgPr>
    </p:bg>
    <p:spTree>
      <p:nvGrpSpPr>
        <p:cNvPr id="1" name=""/>
        <p:cNvGrpSpPr/>
        <p:nvPr/>
      </p:nvGrpSpPr>
      <p:grpSpPr>
        <a:xfrm>
          <a:off x="0" y="0"/>
          <a:ext cx="0" cy="0"/>
          <a:chOff x="0" y="0"/>
          <a:chExt cx="0" cy="0"/>
        </a:xfrm>
      </p:grpSpPr>
      <p:sp>
        <p:nvSpPr>
          <p:cNvPr id="2" name="TextBox 1"/>
          <p:cNvSpPr txBox="1"/>
          <p:nvPr/>
        </p:nvSpPr>
        <p:spPr>
          <a:xfrm>
            <a:off x="731520" y="384048"/>
            <a:ext cx="7680960" cy="658368"/>
          </a:xfrm>
          <a:prstGeom prst="rect">
            <a:avLst/>
          </a:prstGeom>
          <a:noFill/>
        </p:spPr>
        <p:txBody>
          <a:bodyPr wrap="square" lIns="0" tIns="0" rIns="0" bIns="0">
            <a:spAutoFit/>
          </a:bodyPr>
          <a:lstStyle/>
          <a:p>
            <a:pPr algn="l">
              <a:lnSpc>
                <a:spcPct val="200000"/>
              </a:lnSpc>
              <a:spcAft>
                <a:spcPts val="400"/>
              </a:spcAft>
              <a:defRPr sz="850" b="1">
                <a:solidFill>
                  <a:srgbClr val="38BDF8"/>
                </a:solidFill>
                <a:latin typeface="Segoe UI"/>
              </a:defRPr>
            </a:pPr>
            <a:r>
              <a:t>01 / BỐI CẢNH THỰC TẾ &amp; BÀI TOÁN NGHIÊN CỨU</a:t>
            </a:r>
          </a:p>
          <a:p>
            <a:pPr algn="l">
              <a:lnSpc>
                <a:spcPct val="200000"/>
              </a:lnSpc>
              <a:defRPr sz="1750" b="1">
                <a:solidFill>
                  <a:srgbClr val="FFFFFF"/>
                </a:solidFill>
                <a:latin typeface="Segoe UI"/>
              </a:defRPr>
            </a:pPr>
            <a:r>
              <a:t>Nghịch lý xử lý ảnh UAV: Nhu cầu thực địa vs Rào cản công nghệ</a:t>
            </a:r>
          </a:p>
        </p:txBody>
      </p:sp>
      <p:sp>
        <p:nvSpPr>
          <p:cNvPr id="3" name="Rectangle 2"/>
          <p:cNvSpPr/>
          <p:nvPr/>
        </p:nvSpPr>
        <p:spPr>
          <a:xfrm>
            <a:off x="731520" y="1115568"/>
            <a:ext cx="7680960" cy="12700"/>
          </a:xfrm>
          <a:prstGeom prst="rect">
            <a:avLst/>
          </a:prstGeom>
          <a:solidFill>
            <a:srgbClr val="27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200000"/>
              </a:lnSpc>
            </a:pPr>
            <a:endParaRPr/>
          </a:p>
        </p:txBody>
      </p:sp>
      <p:sp>
        <p:nvSpPr>
          <p:cNvPr id="4" name="TextBox 3"/>
          <p:cNvSpPr txBox="1"/>
          <p:nvPr/>
        </p:nvSpPr>
        <p:spPr>
          <a:xfrm>
            <a:off x="731520" y="1325880"/>
            <a:ext cx="3657600" cy="411480"/>
          </a:xfrm>
          <a:prstGeom prst="rect">
            <a:avLst/>
          </a:prstGeom>
          <a:noFill/>
        </p:spPr>
        <p:txBody>
          <a:bodyPr wrap="none" lIns="0" tIns="0" rIns="0" bIns="0">
            <a:spAutoFit/>
          </a:bodyPr>
          <a:lstStyle/>
          <a:p>
            <a:pPr>
              <a:lnSpc>
                <a:spcPct val="200000"/>
              </a:lnSpc>
              <a:defRPr sz="900" b="1">
                <a:solidFill>
                  <a:srgbClr val="38BDF8"/>
                </a:solidFill>
                <a:latin typeface="Segoe UI"/>
              </a:defRPr>
            </a:pPr>
            <a:r>
              <a:t>ĐIỂM NGHẼN CÔNG NGHỆ HIỆN NAY</a:t>
            </a:r>
          </a:p>
          <a:p>
            <a:pPr>
              <a:lnSpc>
                <a:spcPct val="200000"/>
              </a:lnSpc>
              <a:defRPr sz="1200" b="1">
                <a:solidFill>
                  <a:srgbClr val="FFFFFF"/>
                </a:solidFill>
                <a:latin typeface="Segoe UI"/>
              </a:defRPr>
            </a:pPr>
            <a:r>
              <a:t>Xử lý ảnh UAV truyền thống bộc lộ nhiều hạn chế</a:t>
            </a:r>
          </a:p>
        </p:txBody>
      </p:sp>
      <p:sp>
        <p:nvSpPr>
          <p:cNvPr id="5" name="Rectangle 4"/>
          <p:cNvSpPr/>
          <p:nvPr/>
        </p:nvSpPr>
        <p:spPr>
          <a:xfrm>
            <a:off x="731520" y="1874519"/>
            <a:ext cx="3566160" cy="12700"/>
          </a:xfrm>
          <a:prstGeom prst="rect">
            <a:avLst/>
          </a:prstGeom>
          <a:solidFill>
            <a:srgbClr val="27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200000"/>
              </a:lnSpc>
            </a:pPr>
            <a:endParaRPr/>
          </a:p>
        </p:txBody>
      </p:sp>
      <p:sp>
        <p:nvSpPr>
          <p:cNvPr id="6" name="TextBox 5"/>
          <p:cNvSpPr txBox="1"/>
          <p:nvPr/>
        </p:nvSpPr>
        <p:spPr>
          <a:xfrm>
            <a:off x="731520" y="2011680"/>
            <a:ext cx="3566160" cy="2743200"/>
          </a:xfrm>
          <a:prstGeom prst="rect">
            <a:avLst/>
          </a:prstGeom>
          <a:noFill/>
        </p:spPr>
        <p:txBody>
          <a:bodyPr wrap="square" lIns="0" tIns="0" rIns="0" bIns="0">
            <a:spAutoFit/>
          </a:bodyPr>
          <a:lstStyle/>
          <a:p>
            <a:pPr>
              <a:lnSpc>
                <a:spcPct val="200000"/>
              </a:lnSpc>
              <a:spcAft>
                <a:spcPts val="200"/>
              </a:spcAft>
              <a:defRPr sz="1050" b="1">
                <a:solidFill>
                  <a:srgbClr val="FFFFFF"/>
                </a:solidFill>
                <a:latin typeface="Segoe UI"/>
              </a:defRPr>
            </a:pPr>
            <a:r>
              <a:t>01  Phần mềm 3D/SfM (Pix4D, Metashape)</a:t>
            </a:r>
          </a:p>
          <a:p>
            <a:pPr>
              <a:lnSpc>
                <a:spcPct val="200000"/>
              </a:lnSpc>
              <a:spcAft>
                <a:spcPts val="1200"/>
              </a:spcAft>
              <a:defRPr sz="850">
                <a:solidFill>
                  <a:srgbClr val="94A3B8"/>
                </a:solidFill>
                <a:latin typeface="Segoe UI"/>
              </a:defRPr>
            </a:pPr>
            <a:r>
              <a:t>Mất nhiều giờ xử lý; đòi hỏi máy trạm đắt tiền và bắt buộc GPS RTK chính xác. Không đáp ứng cứu nạn khẩn cấp.</a:t>
            </a:r>
          </a:p>
          <a:p>
            <a:pPr>
              <a:lnSpc>
                <a:spcPct val="200000"/>
              </a:lnSpc>
              <a:spcAft>
                <a:spcPts val="200"/>
              </a:spcAft>
              <a:defRPr sz="1050" b="1">
                <a:solidFill>
                  <a:srgbClr val="FFFFFF"/>
                </a:solidFill>
                <a:latin typeface="Segoe UI"/>
              </a:defRPr>
            </a:pPr>
            <a:r>
              <a:t>02  Thuật toán 2D cổ điển (SIFT / ORB)</a:t>
            </a:r>
          </a:p>
          <a:p>
            <a:pPr>
              <a:lnSpc>
                <a:spcPct val="200000"/>
              </a:lnSpc>
              <a:spcAft>
                <a:spcPts val="1200"/>
              </a:spcAft>
              <a:defRPr sz="850">
                <a:solidFill>
                  <a:srgbClr val="94A3B8"/>
                </a:solidFill>
                <a:latin typeface="Segoe UI"/>
              </a:defRPr>
            </a:pPr>
            <a:r>
              <a:t>Chạy nhẹ trên CPU nhưng rất mong manh; dễ mất dấu (tracking failure) khi camera rung lắc hoặc đổi góc bay.</a:t>
            </a:r>
          </a:p>
          <a:p>
            <a:pPr>
              <a:lnSpc>
                <a:spcPct val="200000"/>
              </a:lnSpc>
              <a:spcAft>
                <a:spcPts val="200"/>
              </a:spcAft>
              <a:defRPr sz="1050" b="1">
                <a:solidFill>
                  <a:srgbClr val="FFFFFF"/>
                </a:solidFill>
                <a:latin typeface="Segoe UI"/>
              </a:defRPr>
            </a:pPr>
            <a:r>
              <a:t>03  Sai số trôi dạt tích lũy (Cumulative Drift)</a:t>
            </a:r>
          </a:p>
          <a:p>
            <a:pPr>
              <a:lnSpc>
                <a:spcPct val="200000"/>
              </a:lnSpc>
              <a:spcAft>
                <a:spcPts val="1200"/>
              </a:spcAft>
              <a:defRPr sz="850">
                <a:solidFill>
                  <a:srgbClr val="94A3B8"/>
                </a:solidFill>
                <a:latin typeface="Segoe UI"/>
              </a:defRPr>
            </a:pPr>
            <a:r>
              <a:t>Sai số đăng ký tích tụ dần theo hành trình bay, làm méo mó và biến dạng toàn bộ bản đồ ảnh ghép.</a:t>
            </a:r>
          </a:p>
        </p:txBody>
      </p:sp>
      <p:sp>
        <p:nvSpPr>
          <p:cNvPr id="7" name="Rectangle 6"/>
          <p:cNvSpPr/>
          <p:nvPr/>
        </p:nvSpPr>
        <p:spPr>
          <a:xfrm>
            <a:off x="4526280" y="1325880"/>
            <a:ext cx="9144" cy="3302000"/>
          </a:xfrm>
          <a:prstGeom prst="rect">
            <a:avLst/>
          </a:prstGeom>
          <a:solidFill>
            <a:srgbClr val="27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200000"/>
              </a:lnSpc>
            </a:pPr>
            <a:endParaRPr/>
          </a:p>
        </p:txBody>
      </p:sp>
      <p:sp>
        <p:nvSpPr>
          <p:cNvPr id="8" name="TextBox 7"/>
          <p:cNvSpPr txBox="1"/>
          <p:nvPr/>
        </p:nvSpPr>
        <p:spPr>
          <a:xfrm>
            <a:off x="4754880" y="1325880"/>
            <a:ext cx="3657600" cy="411480"/>
          </a:xfrm>
          <a:prstGeom prst="rect">
            <a:avLst/>
          </a:prstGeom>
          <a:noFill/>
        </p:spPr>
        <p:txBody>
          <a:bodyPr wrap="none" lIns="0" tIns="0" rIns="0" bIns="0">
            <a:spAutoFit/>
          </a:bodyPr>
          <a:lstStyle/>
          <a:p>
            <a:pPr>
              <a:lnSpc>
                <a:spcPct val="200000"/>
              </a:lnSpc>
              <a:defRPr sz="900" b="1">
                <a:solidFill>
                  <a:srgbClr val="34D399"/>
                </a:solidFill>
                <a:latin typeface="Segoe UI"/>
              </a:defRPr>
            </a:pPr>
            <a:r>
              <a:t>ĐỘT PHÁ CỦA ĐỀ CƯƠNG ĐỀ XUẤT</a:t>
            </a:r>
          </a:p>
          <a:p>
            <a:pPr>
              <a:lnSpc>
                <a:spcPct val="200000"/>
              </a:lnSpc>
              <a:defRPr sz="1200" b="1">
                <a:solidFill>
                  <a:srgbClr val="FFFFFF"/>
                </a:solidFill>
                <a:latin typeface="Segoe UI"/>
              </a:defRPr>
            </a:pPr>
            <a:r>
              <a:t>Bản đồ 2D thời gian thực, tự thích ứng rủi ro</a:t>
            </a:r>
          </a:p>
        </p:txBody>
      </p:sp>
      <p:sp>
        <p:nvSpPr>
          <p:cNvPr id="9" name="Rectangle 8"/>
          <p:cNvSpPr/>
          <p:nvPr/>
        </p:nvSpPr>
        <p:spPr>
          <a:xfrm>
            <a:off x="4754880" y="1874519"/>
            <a:ext cx="3657600" cy="12700"/>
          </a:xfrm>
          <a:prstGeom prst="rect">
            <a:avLst/>
          </a:prstGeom>
          <a:solidFill>
            <a:srgbClr val="27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200000"/>
              </a:lnSpc>
            </a:pPr>
            <a:endParaRPr/>
          </a:p>
        </p:txBody>
      </p:sp>
      <p:sp>
        <p:nvSpPr>
          <p:cNvPr id="10" name="TextBox 9"/>
          <p:cNvSpPr txBox="1"/>
          <p:nvPr/>
        </p:nvSpPr>
        <p:spPr>
          <a:xfrm>
            <a:off x="4754880" y="2011680"/>
            <a:ext cx="3657600" cy="1654299"/>
          </a:xfrm>
          <a:prstGeom prst="rect">
            <a:avLst/>
          </a:prstGeom>
          <a:noFill/>
        </p:spPr>
        <p:txBody>
          <a:bodyPr wrap="square" lIns="0" tIns="0" rIns="0" bIns="0">
            <a:spAutoFit/>
          </a:bodyPr>
          <a:lstStyle/>
          <a:p>
            <a:pPr>
              <a:lnSpc>
                <a:spcPct val="200000"/>
              </a:lnSpc>
              <a:spcAft>
                <a:spcPts val="200"/>
              </a:spcAft>
              <a:defRPr sz="1050" b="1">
                <a:solidFill>
                  <a:srgbClr val="34D399"/>
                </a:solidFill>
                <a:latin typeface="Segoe UI"/>
              </a:defRPr>
            </a:pPr>
            <a:r>
              <a:rPr dirty="0" err="1"/>
              <a:t>Vận</a:t>
            </a:r>
            <a:r>
              <a:rPr dirty="0"/>
              <a:t> </a:t>
            </a:r>
            <a:r>
              <a:rPr dirty="0" err="1"/>
              <a:t>hành</a:t>
            </a:r>
            <a:r>
              <a:rPr dirty="0"/>
              <a:t> </a:t>
            </a:r>
            <a:r>
              <a:rPr dirty="0" err="1"/>
              <a:t>trực</a:t>
            </a:r>
            <a:r>
              <a:rPr dirty="0"/>
              <a:t> </a:t>
            </a:r>
            <a:r>
              <a:rPr dirty="0" err="1"/>
              <a:t>tiếp</a:t>
            </a:r>
            <a:r>
              <a:rPr dirty="0"/>
              <a:t> </a:t>
            </a:r>
            <a:r>
              <a:rPr dirty="0" err="1"/>
              <a:t>trên</a:t>
            </a:r>
            <a:r>
              <a:rPr dirty="0"/>
              <a:t> laptop </a:t>
            </a:r>
            <a:r>
              <a:rPr dirty="0" err="1"/>
              <a:t>thông</a:t>
            </a:r>
            <a:r>
              <a:rPr dirty="0"/>
              <a:t> </a:t>
            </a:r>
            <a:r>
              <a:rPr dirty="0" err="1"/>
              <a:t>thường</a:t>
            </a:r>
            <a:endParaRPr dirty="0"/>
          </a:p>
          <a:p>
            <a:pPr>
              <a:lnSpc>
                <a:spcPct val="200000"/>
              </a:lnSpc>
              <a:spcAft>
                <a:spcPts val="1200"/>
              </a:spcAft>
              <a:defRPr sz="850">
                <a:solidFill>
                  <a:srgbClr val="94A3B8"/>
                </a:solidFill>
                <a:latin typeface="Segoe UI"/>
              </a:defRPr>
            </a:pPr>
            <a:r>
              <a:rPr dirty="0" err="1"/>
              <a:t>Đáp</a:t>
            </a:r>
            <a:r>
              <a:rPr dirty="0"/>
              <a:t> </a:t>
            </a:r>
            <a:r>
              <a:rPr dirty="0" err="1"/>
              <a:t>ứng</a:t>
            </a:r>
            <a:r>
              <a:rPr dirty="0"/>
              <a:t> </a:t>
            </a:r>
            <a:r>
              <a:rPr dirty="0" err="1"/>
              <a:t>nhu</a:t>
            </a:r>
            <a:r>
              <a:rPr dirty="0"/>
              <a:t> </a:t>
            </a:r>
            <a:r>
              <a:rPr dirty="0" err="1"/>
              <a:t>cầu</a:t>
            </a:r>
            <a:r>
              <a:rPr dirty="0"/>
              <a:t> </a:t>
            </a:r>
            <a:r>
              <a:rPr dirty="0" err="1"/>
              <a:t>khẩn</a:t>
            </a:r>
            <a:r>
              <a:rPr dirty="0"/>
              <a:t> </a:t>
            </a:r>
            <a:r>
              <a:rPr dirty="0" err="1"/>
              <a:t>cấp</a:t>
            </a:r>
            <a:r>
              <a:rPr dirty="0"/>
              <a:t> </a:t>
            </a:r>
            <a:r>
              <a:rPr dirty="0" err="1"/>
              <a:t>trong</a:t>
            </a:r>
            <a:r>
              <a:rPr dirty="0"/>
              <a:t> </a:t>
            </a:r>
            <a:r>
              <a:rPr dirty="0" err="1"/>
              <a:t>cứu</a:t>
            </a:r>
            <a:r>
              <a:rPr dirty="0"/>
              <a:t> </a:t>
            </a:r>
            <a:r>
              <a:rPr dirty="0" err="1"/>
              <a:t>hộ</a:t>
            </a:r>
            <a:r>
              <a:rPr dirty="0"/>
              <a:t> </a:t>
            </a:r>
            <a:r>
              <a:rPr dirty="0" err="1"/>
              <a:t>bão</a:t>
            </a:r>
            <a:r>
              <a:rPr dirty="0"/>
              <a:t> </a:t>
            </a:r>
            <a:r>
              <a:rPr dirty="0" err="1"/>
              <a:t>lũ</a:t>
            </a:r>
            <a:r>
              <a:rPr dirty="0"/>
              <a:t>, </a:t>
            </a:r>
            <a:r>
              <a:rPr dirty="0" err="1"/>
              <a:t>sạt</a:t>
            </a:r>
            <a:r>
              <a:rPr dirty="0"/>
              <a:t> </a:t>
            </a:r>
            <a:r>
              <a:rPr dirty="0" err="1"/>
              <a:t>lở</a:t>
            </a:r>
            <a:r>
              <a:rPr dirty="0"/>
              <a:t> </a:t>
            </a:r>
            <a:r>
              <a:rPr dirty="0" err="1"/>
              <a:t>đất</a:t>
            </a:r>
            <a:r>
              <a:rPr dirty="0"/>
              <a:t> </a:t>
            </a:r>
            <a:r>
              <a:rPr dirty="0" err="1"/>
              <a:t>ngay</a:t>
            </a:r>
            <a:r>
              <a:rPr dirty="0"/>
              <a:t> </a:t>
            </a:r>
            <a:r>
              <a:rPr dirty="0" err="1"/>
              <a:t>tại</a:t>
            </a:r>
            <a:r>
              <a:rPr dirty="0"/>
              <a:t> </a:t>
            </a:r>
            <a:r>
              <a:rPr dirty="0" err="1"/>
              <a:t>thực</a:t>
            </a:r>
            <a:r>
              <a:rPr dirty="0"/>
              <a:t> </a:t>
            </a:r>
            <a:r>
              <a:rPr dirty="0" err="1"/>
              <a:t>địa</a:t>
            </a:r>
            <a:r>
              <a:rPr dirty="0"/>
              <a:t> </a:t>
            </a:r>
            <a:r>
              <a:rPr dirty="0" err="1"/>
              <a:t>mà</a:t>
            </a:r>
            <a:r>
              <a:rPr dirty="0"/>
              <a:t> </a:t>
            </a:r>
            <a:r>
              <a:rPr dirty="0" err="1"/>
              <a:t>không</a:t>
            </a:r>
            <a:r>
              <a:rPr dirty="0"/>
              <a:t> </a:t>
            </a:r>
            <a:r>
              <a:rPr dirty="0" err="1"/>
              <a:t>cần</a:t>
            </a:r>
            <a:r>
              <a:rPr dirty="0"/>
              <a:t> </a:t>
            </a:r>
            <a:r>
              <a:rPr dirty="0" err="1"/>
              <a:t>máy</a:t>
            </a:r>
            <a:r>
              <a:rPr dirty="0"/>
              <a:t> </a:t>
            </a:r>
            <a:r>
              <a:rPr dirty="0" err="1"/>
              <a:t>chủ</a:t>
            </a:r>
            <a:r>
              <a:rPr dirty="0"/>
              <a:t> </a:t>
            </a:r>
            <a:r>
              <a:rPr dirty="0" err="1"/>
              <a:t>chuyên</a:t>
            </a:r>
            <a:r>
              <a:rPr dirty="0"/>
              <a:t> </a:t>
            </a:r>
            <a:r>
              <a:rPr dirty="0" err="1"/>
              <a:t>dụng</a:t>
            </a:r>
            <a:r>
              <a:rPr dirty="0"/>
              <a:t>.</a:t>
            </a:r>
          </a:p>
          <a:p>
            <a:pPr>
              <a:lnSpc>
                <a:spcPct val="200000"/>
              </a:lnSpc>
              <a:spcAft>
                <a:spcPts val="200"/>
              </a:spcAft>
              <a:defRPr sz="1050" b="1">
                <a:solidFill>
                  <a:srgbClr val="34D399"/>
                </a:solidFill>
                <a:latin typeface="Segoe UI"/>
              </a:defRPr>
            </a:pPr>
            <a:r>
              <a:rPr dirty="0" err="1"/>
              <a:t>Không</a:t>
            </a:r>
            <a:r>
              <a:rPr dirty="0"/>
              <a:t> </a:t>
            </a:r>
            <a:r>
              <a:rPr dirty="0" err="1"/>
              <a:t>phụ</a:t>
            </a:r>
            <a:r>
              <a:rPr dirty="0"/>
              <a:t> </a:t>
            </a:r>
            <a:r>
              <a:rPr dirty="0" err="1"/>
              <a:t>thuộc</a:t>
            </a:r>
            <a:r>
              <a:rPr dirty="0"/>
              <a:t> </a:t>
            </a:r>
            <a:r>
              <a:rPr dirty="0" err="1"/>
              <a:t>hệ</a:t>
            </a:r>
            <a:r>
              <a:rPr dirty="0"/>
              <a:t> </a:t>
            </a:r>
            <a:r>
              <a:rPr dirty="0" err="1"/>
              <a:t>thống</a:t>
            </a:r>
            <a:r>
              <a:rPr dirty="0"/>
              <a:t> GPS RTK</a:t>
            </a:r>
          </a:p>
          <a:p>
            <a:pPr>
              <a:lnSpc>
                <a:spcPct val="200000"/>
              </a:lnSpc>
              <a:spcAft>
                <a:spcPts val="1200"/>
              </a:spcAft>
              <a:defRPr sz="850">
                <a:solidFill>
                  <a:srgbClr val="94A3B8"/>
                </a:solidFill>
                <a:latin typeface="Segoe UI"/>
              </a:defRPr>
            </a:pPr>
            <a:r>
              <a:rPr dirty="0"/>
              <a:t>Tái </a:t>
            </a:r>
            <a:r>
              <a:rPr dirty="0" err="1"/>
              <a:t>tạo</a:t>
            </a:r>
            <a:r>
              <a:rPr dirty="0"/>
              <a:t> </a:t>
            </a:r>
            <a:r>
              <a:rPr dirty="0" err="1"/>
              <a:t>bản</a:t>
            </a:r>
            <a:r>
              <a:rPr dirty="0"/>
              <a:t> </a:t>
            </a:r>
            <a:r>
              <a:rPr dirty="0" err="1"/>
              <a:t>đồ</a:t>
            </a:r>
            <a:r>
              <a:rPr dirty="0"/>
              <a:t> </a:t>
            </a:r>
            <a:r>
              <a:rPr dirty="0" err="1"/>
              <a:t>hiện</a:t>
            </a:r>
            <a:r>
              <a:rPr dirty="0"/>
              <a:t> </a:t>
            </a:r>
            <a:r>
              <a:rPr dirty="0" err="1"/>
              <a:t>trạng</a:t>
            </a:r>
            <a:r>
              <a:rPr dirty="0"/>
              <a:t> 2D </a:t>
            </a:r>
            <a:r>
              <a:rPr dirty="0" err="1"/>
              <a:t>cục</a:t>
            </a:r>
            <a:r>
              <a:rPr dirty="0"/>
              <a:t> </a:t>
            </a:r>
            <a:r>
              <a:rPr dirty="0" err="1"/>
              <a:t>bộ</a:t>
            </a:r>
            <a:r>
              <a:rPr dirty="0"/>
              <a:t> </a:t>
            </a:r>
            <a:r>
              <a:rPr dirty="0" err="1"/>
              <a:t>dựa</a:t>
            </a:r>
            <a:r>
              <a:rPr dirty="0"/>
              <a:t> </a:t>
            </a:r>
            <a:r>
              <a:rPr dirty="0" err="1"/>
              <a:t>trên</a:t>
            </a:r>
            <a:r>
              <a:rPr dirty="0"/>
              <a:t> </a:t>
            </a:r>
            <a:r>
              <a:rPr dirty="0" err="1"/>
              <a:t>chuỗi</a:t>
            </a:r>
            <a:r>
              <a:rPr dirty="0"/>
              <a:t> ma </a:t>
            </a:r>
            <a:r>
              <a:rPr dirty="0" err="1"/>
              <a:t>trận</a:t>
            </a:r>
            <a:r>
              <a:rPr dirty="0"/>
              <a:t> </a:t>
            </a:r>
            <a:r>
              <a:rPr dirty="0" err="1"/>
              <a:t>biến</a:t>
            </a:r>
            <a:r>
              <a:rPr dirty="0"/>
              <a:t> </a:t>
            </a:r>
            <a:r>
              <a:rPr dirty="0" err="1"/>
              <a:t>đổi</a:t>
            </a:r>
            <a:r>
              <a:rPr dirty="0"/>
              <a:t> </a:t>
            </a:r>
            <a:r>
              <a:rPr dirty="0" err="1"/>
              <a:t>đồng</a:t>
            </a:r>
            <a:r>
              <a:rPr dirty="0"/>
              <a:t> </a:t>
            </a:r>
            <a:r>
              <a:rPr dirty="0" err="1"/>
              <a:t>dạng</a:t>
            </a:r>
            <a:r>
              <a:rPr dirty="0"/>
              <a:t> (</a:t>
            </a:r>
            <a:r>
              <a:rPr dirty="0" err="1"/>
              <a:t>Homography</a:t>
            </a:r>
            <a:r>
              <a:rPr dirty="0"/>
              <a:t>) </a:t>
            </a:r>
            <a:r>
              <a:rPr dirty="0" err="1"/>
              <a:t>tích</a:t>
            </a:r>
            <a:r>
              <a:rPr dirty="0"/>
              <a:t> </a:t>
            </a:r>
            <a:r>
              <a:rPr dirty="0" err="1"/>
              <a:t>lũy</a:t>
            </a:r>
            <a:r>
              <a:rPr dirty="0"/>
              <a:t>.</a:t>
            </a:r>
          </a:p>
          <a:p>
            <a:pPr>
              <a:lnSpc>
                <a:spcPct val="200000"/>
              </a:lnSpc>
              <a:spcAft>
                <a:spcPts val="200"/>
              </a:spcAft>
              <a:defRPr sz="1050" b="1">
                <a:solidFill>
                  <a:srgbClr val="34D399"/>
                </a:solidFill>
                <a:latin typeface="Segoe UI"/>
              </a:defRPr>
            </a:pPr>
            <a:r>
              <a:rPr dirty="0" err="1"/>
              <a:t>Tự</a:t>
            </a:r>
            <a:r>
              <a:rPr dirty="0"/>
              <a:t> </a:t>
            </a:r>
            <a:r>
              <a:rPr dirty="0" err="1"/>
              <a:t>thích</a:t>
            </a:r>
            <a:r>
              <a:rPr dirty="0"/>
              <a:t> </a:t>
            </a:r>
            <a:r>
              <a:rPr dirty="0" err="1"/>
              <a:t>ứng</a:t>
            </a:r>
            <a:r>
              <a:rPr dirty="0"/>
              <a:t> </a:t>
            </a:r>
            <a:r>
              <a:rPr dirty="0" err="1"/>
              <a:t>tài</a:t>
            </a:r>
            <a:r>
              <a:rPr dirty="0"/>
              <a:t> </a:t>
            </a:r>
            <a:r>
              <a:rPr dirty="0" err="1"/>
              <a:t>nguyên</a:t>
            </a:r>
            <a:r>
              <a:rPr dirty="0"/>
              <a:t> &amp; </a:t>
            </a:r>
            <a:r>
              <a:rPr dirty="0" err="1"/>
              <a:t>Khống</a:t>
            </a:r>
            <a:r>
              <a:rPr dirty="0"/>
              <a:t> </a:t>
            </a:r>
            <a:r>
              <a:rPr dirty="0" err="1"/>
              <a:t>chế</a:t>
            </a:r>
            <a:r>
              <a:rPr dirty="0"/>
              <a:t> drift</a:t>
            </a:r>
          </a:p>
          <a:p>
            <a:pPr>
              <a:lnSpc>
                <a:spcPct val="200000"/>
              </a:lnSpc>
              <a:spcAft>
                <a:spcPts val="1200"/>
              </a:spcAft>
              <a:defRPr sz="850">
                <a:solidFill>
                  <a:srgbClr val="94A3B8"/>
                </a:solidFill>
                <a:latin typeface="Segoe UI"/>
              </a:defRPr>
            </a:pPr>
            <a:r>
              <a:rPr dirty="0" err="1"/>
              <a:t>Mặc</a:t>
            </a:r>
            <a:r>
              <a:rPr dirty="0"/>
              <a:t> </a:t>
            </a:r>
            <a:r>
              <a:rPr dirty="0" err="1"/>
              <a:t>định</a:t>
            </a:r>
            <a:r>
              <a:rPr dirty="0"/>
              <a:t> </a:t>
            </a:r>
            <a:r>
              <a:rPr dirty="0" err="1"/>
              <a:t>chạy</a:t>
            </a:r>
            <a:r>
              <a:rPr dirty="0"/>
              <a:t> </a:t>
            </a:r>
            <a:r>
              <a:rPr dirty="0" err="1"/>
              <a:t>nhẹ</a:t>
            </a:r>
            <a:r>
              <a:rPr dirty="0"/>
              <a:t>; </a:t>
            </a:r>
            <a:r>
              <a:rPr dirty="0" err="1"/>
              <a:t>chỉ</a:t>
            </a:r>
            <a:r>
              <a:rPr dirty="0"/>
              <a:t> </a:t>
            </a:r>
            <a:r>
              <a:rPr dirty="0" err="1"/>
              <a:t>gọi</a:t>
            </a:r>
            <a:r>
              <a:rPr dirty="0"/>
              <a:t> </a:t>
            </a:r>
            <a:r>
              <a:rPr dirty="0" err="1"/>
              <a:t>học</a:t>
            </a:r>
            <a:r>
              <a:rPr dirty="0"/>
              <a:t> </a:t>
            </a:r>
            <a:r>
              <a:rPr dirty="0" err="1"/>
              <a:t>sâu</a:t>
            </a:r>
            <a:r>
              <a:rPr dirty="0"/>
              <a:t> </a:t>
            </a:r>
            <a:r>
              <a:rPr dirty="0" err="1"/>
              <a:t>khi</a:t>
            </a:r>
            <a:r>
              <a:rPr dirty="0"/>
              <a:t> </a:t>
            </a:r>
            <a:r>
              <a:rPr dirty="0" err="1"/>
              <a:t>có</a:t>
            </a:r>
            <a:r>
              <a:rPr dirty="0"/>
              <a:t> </a:t>
            </a:r>
            <a:r>
              <a:rPr dirty="0" err="1"/>
              <a:t>nguy</a:t>
            </a:r>
            <a:r>
              <a:rPr dirty="0"/>
              <a:t> </a:t>
            </a:r>
            <a:r>
              <a:rPr dirty="0" err="1"/>
              <a:t>cơ</a:t>
            </a:r>
            <a:r>
              <a:rPr dirty="0"/>
              <a:t> </a:t>
            </a:r>
            <a:r>
              <a:rPr dirty="0" err="1"/>
              <a:t>lỗi</a:t>
            </a:r>
            <a:r>
              <a:rPr dirty="0"/>
              <a:t>; </a:t>
            </a:r>
            <a:r>
              <a:rPr dirty="0" err="1"/>
              <a:t>kích</a:t>
            </a:r>
            <a:r>
              <a:rPr dirty="0"/>
              <a:t> </a:t>
            </a:r>
            <a:r>
              <a:rPr dirty="0" err="1"/>
              <a:t>hoạt</a:t>
            </a:r>
            <a:r>
              <a:rPr dirty="0"/>
              <a:t> </a:t>
            </a:r>
            <a:r>
              <a:rPr dirty="0" err="1"/>
              <a:t>bộ</a:t>
            </a:r>
            <a:r>
              <a:rPr dirty="0"/>
              <a:t> </a:t>
            </a:r>
            <a:r>
              <a:rPr dirty="0" err="1"/>
              <a:t>phục</a:t>
            </a:r>
            <a:r>
              <a:rPr dirty="0"/>
              <a:t> </a:t>
            </a:r>
            <a:r>
              <a:rPr dirty="0" err="1"/>
              <a:t>hồi</a:t>
            </a:r>
            <a:r>
              <a:rPr dirty="0"/>
              <a:t> 3 </a:t>
            </a:r>
            <a:r>
              <a:rPr dirty="0" err="1"/>
              <a:t>mức</a:t>
            </a:r>
            <a:r>
              <a:rPr dirty="0"/>
              <a:t> </a:t>
            </a:r>
            <a:r>
              <a:rPr dirty="0" err="1"/>
              <a:t>khi</a:t>
            </a:r>
            <a:r>
              <a:rPr dirty="0"/>
              <a:t> </a:t>
            </a:r>
            <a:r>
              <a:rPr dirty="0" err="1"/>
              <a:t>mất</a:t>
            </a:r>
            <a:r>
              <a:rPr dirty="0"/>
              <a:t> </a:t>
            </a:r>
            <a:r>
              <a:rPr dirty="0" err="1"/>
              <a:t>dấu</a:t>
            </a:r>
            <a:r>
              <a:rPr dirty="0"/>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A0A0A"/>
        </a:solidFill>
        <a:effectLst/>
      </p:bgPr>
    </p:bg>
    <p:spTree>
      <p:nvGrpSpPr>
        <p:cNvPr id="1" name=""/>
        <p:cNvGrpSpPr/>
        <p:nvPr/>
      </p:nvGrpSpPr>
      <p:grpSpPr>
        <a:xfrm>
          <a:off x="0" y="0"/>
          <a:ext cx="0" cy="0"/>
          <a:chOff x="0" y="0"/>
          <a:chExt cx="0" cy="0"/>
        </a:xfrm>
      </p:grpSpPr>
      <p:sp>
        <p:nvSpPr>
          <p:cNvPr id="2" name="TextBox 1"/>
          <p:cNvSpPr txBox="1"/>
          <p:nvPr/>
        </p:nvSpPr>
        <p:spPr>
          <a:xfrm>
            <a:off x="731520" y="384048"/>
            <a:ext cx="7680960" cy="658368"/>
          </a:xfrm>
          <a:prstGeom prst="rect">
            <a:avLst/>
          </a:prstGeom>
          <a:noFill/>
        </p:spPr>
        <p:txBody>
          <a:bodyPr wrap="square" lIns="0" tIns="0" rIns="0" bIns="0">
            <a:spAutoFit/>
          </a:bodyPr>
          <a:lstStyle/>
          <a:p>
            <a:pPr algn="l">
              <a:lnSpc>
                <a:spcPct val="200000"/>
              </a:lnSpc>
              <a:spcAft>
                <a:spcPts val="400"/>
              </a:spcAft>
              <a:defRPr sz="850" b="1">
                <a:solidFill>
                  <a:srgbClr val="38BDF8"/>
                </a:solidFill>
                <a:latin typeface="Segoe UI"/>
              </a:defRPr>
            </a:pPr>
            <a:r>
              <a:t>02 / INPUT &amp; OUTPUT SPECIFICATION</a:t>
            </a:r>
          </a:p>
          <a:p>
            <a:pPr algn="l">
              <a:lnSpc>
                <a:spcPct val="200000"/>
              </a:lnSpc>
              <a:defRPr sz="1750" b="1">
                <a:solidFill>
                  <a:srgbClr val="FFFFFF"/>
                </a:solidFill>
                <a:latin typeface="Segoe UI"/>
              </a:defRPr>
            </a:pPr>
            <a:r>
              <a:t>Đặc tả dữ liệu đầu vào &amp; Kết quả đầu ra của hệ thống</a:t>
            </a:r>
          </a:p>
        </p:txBody>
      </p:sp>
      <p:sp>
        <p:nvSpPr>
          <p:cNvPr id="3" name="Rectangle 2"/>
          <p:cNvSpPr/>
          <p:nvPr/>
        </p:nvSpPr>
        <p:spPr>
          <a:xfrm>
            <a:off x="731520" y="1115568"/>
            <a:ext cx="7680960" cy="12700"/>
          </a:xfrm>
          <a:prstGeom prst="rect">
            <a:avLst/>
          </a:prstGeom>
          <a:solidFill>
            <a:srgbClr val="27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200000"/>
              </a:lnSpc>
            </a:pPr>
            <a:endParaRPr/>
          </a:p>
        </p:txBody>
      </p:sp>
      <p:sp>
        <p:nvSpPr>
          <p:cNvPr id="4" name="TextBox 3"/>
          <p:cNvSpPr txBox="1"/>
          <p:nvPr/>
        </p:nvSpPr>
        <p:spPr>
          <a:xfrm>
            <a:off x="731520" y="1325880"/>
            <a:ext cx="3657600" cy="411480"/>
          </a:xfrm>
          <a:prstGeom prst="rect">
            <a:avLst/>
          </a:prstGeom>
          <a:noFill/>
        </p:spPr>
        <p:txBody>
          <a:bodyPr wrap="none" lIns="0" tIns="0" rIns="0" bIns="0">
            <a:spAutoFit/>
          </a:bodyPr>
          <a:lstStyle/>
          <a:p>
            <a:pPr>
              <a:lnSpc>
                <a:spcPct val="200000"/>
              </a:lnSpc>
              <a:defRPr sz="900" b="1">
                <a:solidFill>
                  <a:srgbClr val="38BDF8"/>
                </a:solidFill>
                <a:latin typeface="Segoe UI"/>
              </a:defRPr>
            </a:pPr>
            <a:r>
              <a:t>INPUT SPECIFICATION</a:t>
            </a:r>
          </a:p>
          <a:p>
            <a:pPr>
              <a:lnSpc>
                <a:spcPct val="200000"/>
              </a:lnSpc>
              <a:defRPr sz="1200" b="1">
                <a:solidFill>
                  <a:srgbClr val="FFFFFF"/>
                </a:solidFill>
                <a:latin typeface="Segoe UI"/>
              </a:defRPr>
            </a:pPr>
            <a:r>
              <a:t>Video UAV tuần tự ngoài thực địa</a:t>
            </a:r>
          </a:p>
        </p:txBody>
      </p:sp>
      <p:sp>
        <p:nvSpPr>
          <p:cNvPr id="5" name="Rectangle 4"/>
          <p:cNvSpPr/>
          <p:nvPr/>
        </p:nvSpPr>
        <p:spPr>
          <a:xfrm>
            <a:off x="731520" y="1874519"/>
            <a:ext cx="3566160" cy="12700"/>
          </a:xfrm>
          <a:prstGeom prst="rect">
            <a:avLst/>
          </a:prstGeom>
          <a:solidFill>
            <a:srgbClr val="27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200000"/>
              </a:lnSpc>
            </a:pPr>
            <a:endParaRPr/>
          </a:p>
        </p:txBody>
      </p:sp>
      <p:sp>
        <p:nvSpPr>
          <p:cNvPr id="6" name="TextBox 5"/>
          <p:cNvSpPr txBox="1"/>
          <p:nvPr/>
        </p:nvSpPr>
        <p:spPr>
          <a:xfrm>
            <a:off x="731520" y="2011680"/>
            <a:ext cx="3566160" cy="2743200"/>
          </a:xfrm>
          <a:prstGeom prst="rect">
            <a:avLst/>
          </a:prstGeom>
          <a:noFill/>
        </p:spPr>
        <p:txBody>
          <a:bodyPr wrap="square" lIns="0" tIns="0" rIns="0" bIns="0">
            <a:spAutoFit/>
          </a:bodyPr>
          <a:lstStyle/>
          <a:p>
            <a:pPr>
              <a:lnSpc>
                <a:spcPct val="200000"/>
              </a:lnSpc>
              <a:spcAft>
                <a:spcPts val="200"/>
              </a:spcAft>
              <a:defRPr sz="1000" b="1">
                <a:solidFill>
                  <a:srgbClr val="FFFFFF"/>
                </a:solidFill>
                <a:latin typeface="Segoe UI"/>
              </a:defRPr>
            </a:pPr>
            <a:r>
              <a:t>01  Video quang học RGB</a:t>
            </a:r>
          </a:p>
          <a:p>
            <a:pPr>
              <a:lnSpc>
                <a:spcPct val="200000"/>
              </a:lnSpc>
              <a:spcAft>
                <a:spcPts val="800"/>
              </a:spcAft>
              <a:defRPr sz="850">
                <a:solidFill>
                  <a:srgbClr val="94A3B8"/>
                </a:solidFill>
                <a:latin typeface="Segoe UI"/>
              </a:defRPr>
            </a:pPr>
            <a:r>
              <a:t>1080p / 4K, trích xuất chuỗi frame liên tiếp.</a:t>
            </a:r>
          </a:p>
          <a:p>
            <a:pPr>
              <a:lnSpc>
                <a:spcPct val="200000"/>
              </a:lnSpc>
              <a:spcAft>
                <a:spcPts val="200"/>
              </a:spcAft>
              <a:defRPr sz="1000" b="1">
                <a:solidFill>
                  <a:srgbClr val="FFFFFF"/>
                </a:solidFill>
                <a:latin typeface="Segoe UI"/>
              </a:defRPr>
            </a:pPr>
            <a:r>
              <a:t>02  Góc quay Near-Nadir</a:t>
            </a:r>
          </a:p>
          <a:p>
            <a:pPr>
              <a:lnSpc>
                <a:spcPct val="200000"/>
              </a:lnSpc>
              <a:spcAft>
                <a:spcPts val="800"/>
              </a:spcAft>
              <a:defRPr sz="850">
                <a:solidFill>
                  <a:srgbClr val="94A3B8"/>
                </a:solidFill>
                <a:latin typeface="Segoe UI"/>
              </a:defRPr>
            </a:pPr>
            <a:r>
              <a:t>Camera hướng thẳng đứng, hạn chế parallax ngoài mặt phẳng.</a:t>
            </a:r>
          </a:p>
          <a:p>
            <a:pPr>
              <a:lnSpc>
                <a:spcPct val="200000"/>
              </a:lnSpc>
              <a:spcAft>
                <a:spcPts val="200"/>
              </a:spcAft>
              <a:defRPr sz="1000" b="1">
                <a:solidFill>
                  <a:srgbClr val="FFFFFF"/>
                </a:solidFill>
                <a:latin typeface="Segoe UI"/>
              </a:defRPr>
            </a:pPr>
            <a:r>
              <a:t>03  Chuỗi 100 – 1000 frames</a:t>
            </a:r>
          </a:p>
          <a:p>
            <a:pPr>
              <a:lnSpc>
                <a:spcPct val="200000"/>
              </a:lnSpc>
              <a:spcAft>
                <a:spcPts val="800"/>
              </a:spcAft>
              <a:defRPr sz="850">
                <a:solidFill>
                  <a:srgbClr val="94A3B8"/>
                </a:solidFill>
                <a:latin typeface="Segoe UI"/>
              </a:defRPr>
            </a:pPr>
            <a:r>
              <a:t>Độ chồng lấn (overlap) giữa 2 frame liên tiếp ≥ 60%.</a:t>
            </a:r>
          </a:p>
          <a:p>
            <a:pPr>
              <a:lnSpc>
                <a:spcPct val="200000"/>
              </a:lnSpc>
              <a:spcAft>
                <a:spcPts val="200"/>
              </a:spcAft>
              <a:defRPr sz="1000" b="1">
                <a:solidFill>
                  <a:srgbClr val="FFFFFF"/>
                </a:solidFill>
                <a:latin typeface="Segoe UI"/>
              </a:defRPr>
            </a:pPr>
            <a:r>
              <a:t>04  Không bắt buộc GPS/IMU</a:t>
            </a:r>
          </a:p>
          <a:p>
            <a:pPr>
              <a:lnSpc>
                <a:spcPct val="200000"/>
              </a:lnSpc>
              <a:spcAft>
                <a:spcPts val="800"/>
              </a:spcAft>
              <a:defRPr sz="850">
                <a:solidFill>
                  <a:srgbClr val="94A3B8"/>
                </a:solidFill>
                <a:latin typeface="Segoe UI"/>
              </a:defRPr>
            </a:pPr>
            <a:r>
              <a:t>Vận hành linh hoạt trên camera drone dân dụng thông thường.</a:t>
            </a:r>
          </a:p>
        </p:txBody>
      </p:sp>
      <p:sp>
        <p:nvSpPr>
          <p:cNvPr id="7" name="Rectangle 6"/>
          <p:cNvSpPr/>
          <p:nvPr/>
        </p:nvSpPr>
        <p:spPr>
          <a:xfrm>
            <a:off x="4526280" y="1325880"/>
            <a:ext cx="9144" cy="3302000"/>
          </a:xfrm>
          <a:prstGeom prst="rect">
            <a:avLst/>
          </a:prstGeom>
          <a:solidFill>
            <a:srgbClr val="27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200000"/>
              </a:lnSpc>
            </a:pPr>
            <a:endParaRPr/>
          </a:p>
        </p:txBody>
      </p:sp>
      <p:sp>
        <p:nvSpPr>
          <p:cNvPr id="8" name="TextBox 7"/>
          <p:cNvSpPr txBox="1"/>
          <p:nvPr/>
        </p:nvSpPr>
        <p:spPr>
          <a:xfrm>
            <a:off x="4754880" y="1325880"/>
            <a:ext cx="3657600" cy="411480"/>
          </a:xfrm>
          <a:prstGeom prst="rect">
            <a:avLst/>
          </a:prstGeom>
          <a:noFill/>
        </p:spPr>
        <p:txBody>
          <a:bodyPr wrap="none" lIns="0" tIns="0" rIns="0" bIns="0">
            <a:spAutoFit/>
          </a:bodyPr>
          <a:lstStyle/>
          <a:p>
            <a:pPr>
              <a:lnSpc>
                <a:spcPct val="200000"/>
              </a:lnSpc>
              <a:defRPr sz="900" b="1">
                <a:solidFill>
                  <a:srgbClr val="34D399"/>
                </a:solidFill>
                <a:latin typeface="Segoe UI"/>
              </a:defRPr>
            </a:pPr>
            <a:r>
              <a:t>OUTPUT DELIVERABLES</a:t>
            </a:r>
          </a:p>
          <a:p>
            <a:pPr>
              <a:lnSpc>
                <a:spcPct val="200000"/>
              </a:lnSpc>
              <a:defRPr sz="1200" b="1">
                <a:solidFill>
                  <a:srgbClr val="FFFFFF"/>
                </a:solidFill>
                <a:latin typeface="Segoe UI"/>
              </a:defRPr>
            </a:pPr>
            <a:r>
              <a:t>Bản đồ hiện trạng 2D &amp; Metadata</a:t>
            </a:r>
          </a:p>
        </p:txBody>
      </p:sp>
      <p:sp>
        <p:nvSpPr>
          <p:cNvPr id="9" name="Rectangle 8"/>
          <p:cNvSpPr/>
          <p:nvPr/>
        </p:nvSpPr>
        <p:spPr>
          <a:xfrm>
            <a:off x="4754880" y="1874519"/>
            <a:ext cx="3657600" cy="12700"/>
          </a:xfrm>
          <a:prstGeom prst="rect">
            <a:avLst/>
          </a:prstGeom>
          <a:solidFill>
            <a:srgbClr val="27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200000"/>
              </a:lnSpc>
            </a:pPr>
            <a:endParaRPr/>
          </a:p>
        </p:txBody>
      </p:sp>
      <p:sp>
        <p:nvSpPr>
          <p:cNvPr id="10" name="TextBox 9"/>
          <p:cNvSpPr txBox="1"/>
          <p:nvPr/>
        </p:nvSpPr>
        <p:spPr>
          <a:xfrm>
            <a:off x="4754880" y="2011680"/>
            <a:ext cx="3657600" cy="1549142"/>
          </a:xfrm>
          <a:prstGeom prst="rect">
            <a:avLst/>
          </a:prstGeom>
          <a:noFill/>
        </p:spPr>
        <p:txBody>
          <a:bodyPr wrap="square" lIns="0" tIns="0" rIns="0" bIns="0">
            <a:spAutoFit/>
          </a:bodyPr>
          <a:lstStyle/>
          <a:p>
            <a:pPr>
              <a:lnSpc>
                <a:spcPct val="200000"/>
              </a:lnSpc>
              <a:spcAft>
                <a:spcPts val="200"/>
              </a:spcAft>
              <a:defRPr sz="1000" b="1">
                <a:solidFill>
                  <a:srgbClr val="34D399"/>
                </a:solidFill>
                <a:latin typeface="Segoe UI"/>
              </a:defRPr>
            </a:pPr>
            <a:r>
              <a:rPr dirty="0" err="1"/>
              <a:t>Bản</a:t>
            </a:r>
            <a:r>
              <a:rPr dirty="0"/>
              <a:t> </a:t>
            </a:r>
            <a:r>
              <a:rPr dirty="0" err="1"/>
              <a:t>đồ</a:t>
            </a:r>
            <a:r>
              <a:rPr dirty="0"/>
              <a:t> </a:t>
            </a:r>
            <a:r>
              <a:rPr dirty="0" err="1"/>
              <a:t>toàn</a:t>
            </a:r>
            <a:r>
              <a:rPr dirty="0"/>
              <a:t> </a:t>
            </a:r>
            <a:r>
              <a:rPr dirty="0" err="1"/>
              <a:t>cảnh</a:t>
            </a:r>
            <a:r>
              <a:rPr dirty="0"/>
              <a:t> Mosaic 2D</a:t>
            </a:r>
          </a:p>
          <a:p>
            <a:pPr>
              <a:lnSpc>
                <a:spcPct val="200000"/>
              </a:lnSpc>
              <a:spcAft>
                <a:spcPts val="800"/>
              </a:spcAft>
              <a:defRPr sz="850">
                <a:solidFill>
                  <a:srgbClr val="94A3B8"/>
                </a:solidFill>
                <a:latin typeface="Segoe UI"/>
              </a:defRPr>
            </a:pPr>
            <a:r>
              <a:rPr dirty="0" err="1"/>
              <a:t>Ảnh</a:t>
            </a:r>
            <a:r>
              <a:rPr dirty="0"/>
              <a:t> </a:t>
            </a:r>
            <a:r>
              <a:rPr dirty="0" err="1"/>
              <a:t>trực</a:t>
            </a:r>
            <a:r>
              <a:rPr dirty="0"/>
              <a:t> </a:t>
            </a:r>
            <a:r>
              <a:rPr dirty="0" err="1"/>
              <a:t>quan</a:t>
            </a:r>
            <a:r>
              <a:rPr dirty="0"/>
              <a:t> </a:t>
            </a:r>
            <a:r>
              <a:rPr dirty="0" err="1"/>
              <a:t>hiện</a:t>
            </a:r>
            <a:r>
              <a:rPr dirty="0"/>
              <a:t> </a:t>
            </a:r>
            <a:r>
              <a:rPr dirty="0" err="1"/>
              <a:t>trạng</a:t>
            </a:r>
            <a:r>
              <a:rPr dirty="0"/>
              <a:t> </a:t>
            </a:r>
            <a:r>
              <a:rPr dirty="0" err="1"/>
              <a:t>mặt</a:t>
            </a:r>
            <a:r>
              <a:rPr dirty="0"/>
              <a:t> </a:t>
            </a:r>
            <a:r>
              <a:rPr dirty="0" err="1"/>
              <a:t>đất</a:t>
            </a:r>
            <a:r>
              <a:rPr dirty="0"/>
              <a:t> </a:t>
            </a:r>
            <a:r>
              <a:rPr dirty="0" err="1"/>
              <a:t>tại</a:t>
            </a:r>
            <a:r>
              <a:rPr dirty="0"/>
              <a:t> </a:t>
            </a:r>
            <a:r>
              <a:rPr dirty="0" err="1"/>
              <a:t>thời</a:t>
            </a:r>
            <a:r>
              <a:rPr dirty="0"/>
              <a:t> </a:t>
            </a:r>
            <a:r>
              <a:rPr dirty="0" err="1"/>
              <a:t>điểm</a:t>
            </a:r>
            <a:r>
              <a:rPr dirty="0"/>
              <a:t> bay, </a:t>
            </a:r>
            <a:r>
              <a:rPr dirty="0" err="1"/>
              <a:t>ghép</a:t>
            </a:r>
            <a:r>
              <a:rPr dirty="0"/>
              <a:t> </a:t>
            </a:r>
            <a:r>
              <a:rPr dirty="0" err="1"/>
              <a:t>liền</a:t>
            </a:r>
            <a:r>
              <a:rPr dirty="0"/>
              <a:t> </a:t>
            </a:r>
            <a:r>
              <a:rPr dirty="0" err="1"/>
              <a:t>mạch</a:t>
            </a:r>
            <a:r>
              <a:rPr dirty="0"/>
              <a:t>.</a:t>
            </a:r>
          </a:p>
          <a:p>
            <a:pPr>
              <a:lnSpc>
                <a:spcPct val="200000"/>
              </a:lnSpc>
              <a:spcAft>
                <a:spcPts val="200"/>
              </a:spcAft>
              <a:defRPr sz="1000" b="1">
                <a:solidFill>
                  <a:srgbClr val="34D399"/>
                </a:solidFill>
                <a:latin typeface="Segoe UI"/>
              </a:defRPr>
            </a:pPr>
            <a:r>
              <a:rPr dirty="0"/>
              <a:t>Ma </a:t>
            </a:r>
            <a:r>
              <a:rPr dirty="0" err="1"/>
              <a:t>trận</a:t>
            </a:r>
            <a:r>
              <a:rPr dirty="0"/>
              <a:t> </a:t>
            </a:r>
            <a:r>
              <a:rPr dirty="0" err="1"/>
              <a:t>Homography</a:t>
            </a:r>
            <a:r>
              <a:rPr dirty="0"/>
              <a:t> </a:t>
            </a:r>
            <a:r>
              <a:rPr dirty="0" err="1"/>
              <a:t>tích</a:t>
            </a:r>
            <a:r>
              <a:rPr dirty="0"/>
              <a:t> </a:t>
            </a:r>
            <a:r>
              <a:rPr dirty="0" err="1"/>
              <a:t>lũy</a:t>
            </a:r>
            <a:endParaRPr dirty="0"/>
          </a:p>
          <a:p>
            <a:pPr>
              <a:lnSpc>
                <a:spcPct val="200000"/>
              </a:lnSpc>
              <a:spcAft>
                <a:spcPts val="800"/>
              </a:spcAft>
              <a:defRPr sz="850">
                <a:solidFill>
                  <a:srgbClr val="94A3B8"/>
                </a:solidFill>
                <a:latin typeface="Segoe UI"/>
              </a:defRPr>
            </a:pPr>
            <a:r>
              <a:rPr dirty="0"/>
              <a:t>Lưu </a:t>
            </a:r>
            <a:r>
              <a:rPr dirty="0" err="1"/>
              <a:t>vết</a:t>
            </a:r>
            <a:r>
              <a:rPr dirty="0"/>
              <a:t> ma </a:t>
            </a:r>
            <a:r>
              <a:rPr dirty="0" err="1"/>
              <a:t>trận</a:t>
            </a:r>
            <a:r>
              <a:rPr dirty="0"/>
              <a:t> H </a:t>
            </a:r>
            <a:r>
              <a:rPr dirty="0" err="1"/>
              <a:t>tích</a:t>
            </a:r>
            <a:r>
              <a:rPr dirty="0"/>
              <a:t> </a:t>
            </a:r>
            <a:r>
              <a:rPr dirty="0" err="1"/>
              <a:t>lũy</a:t>
            </a:r>
            <a:r>
              <a:rPr dirty="0"/>
              <a:t> </a:t>
            </a:r>
            <a:r>
              <a:rPr dirty="0" err="1"/>
              <a:t>từng</a:t>
            </a:r>
            <a:r>
              <a:rPr dirty="0"/>
              <a:t> frame </a:t>
            </a:r>
            <a:r>
              <a:rPr dirty="0" err="1"/>
              <a:t>phục</a:t>
            </a:r>
            <a:r>
              <a:rPr dirty="0"/>
              <a:t> </a:t>
            </a:r>
            <a:r>
              <a:rPr dirty="0" err="1"/>
              <a:t>vụ</a:t>
            </a:r>
            <a:r>
              <a:rPr dirty="0"/>
              <a:t> </a:t>
            </a:r>
            <a:r>
              <a:rPr dirty="0" err="1"/>
              <a:t>định</a:t>
            </a:r>
            <a:r>
              <a:rPr dirty="0"/>
              <a:t> </a:t>
            </a:r>
            <a:r>
              <a:rPr dirty="0" err="1"/>
              <a:t>vị</a:t>
            </a:r>
            <a:r>
              <a:rPr dirty="0"/>
              <a:t> </a:t>
            </a:r>
            <a:r>
              <a:rPr dirty="0" err="1"/>
              <a:t>và</a:t>
            </a:r>
            <a:r>
              <a:rPr dirty="0"/>
              <a:t> </a:t>
            </a:r>
            <a:r>
              <a:rPr dirty="0" err="1"/>
              <a:t>mở</a:t>
            </a:r>
            <a:r>
              <a:rPr dirty="0"/>
              <a:t> </a:t>
            </a:r>
            <a:r>
              <a:rPr dirty="0" err="1"/>
              <a:t>rộng</a:t>
            </a:r>
            <a:r>
              <a:rPr dirty="0"/>
              <a:t>.</a:t>
            </a:r>
          </a:p>
          <a:p>
            <a:pPr>
              <a:lnSpc>
                <a:spcPct val="200000"/>
              </a:lnSpc>
              <a:spcAft>
                <a:spcPts val="200"/>
              </a:spcAft>
              <a:defRPr sz="1000" b="1">
                <a:solidFill>
                  <a:srgbClr val="34D399"/>
                </a:solidFill>
                <a:latin typeface="Segoe UI"/>
              </a:defRPr>
            </a:pPr>
            <a:r>
              <a:rPr dirty="0"/>
              <a:t>Nhật </a:t>
            </a:r>
            <a:r>
              <a:rPr dirty="0" err="1"/>
              <a:t>ký</a:t>
            </a:r>
            <a:r>
              <a:rPr dirty="0"/>
              <a:t> </a:t>
            </a:r>
            <a:r>
              <a:rPr dirty="0" err="1"/>
              <a:t>chất</a:t>
            </a:r>
            <a:r>
              <a:rPr dirty="0"/>
              <a:t> </a:t>
            </a:r>
            <a:r>
              <a:rPr dirty="0" err="1"/>
              <a:t>lượng</a:t>
            </a:r>
            <a:r>
              <a:rPr dirty="0"/>
              <a:t> (Quality Log)</a:t>
            </a:r>
          </a:p>
          <a:p>
            <a:pPr>
              <a:lnSpc>
                <a:spcPct val="200000"/>
              </a:lnSpc>
              <a:spcAft>
                <a:spcPts val="800"/>
              </a:spcAft>
              <a:defRPr sz="850">
                <a:solidFill>
                  <a:srgbClr val="94A3B8"/>
                </a:solidFill>
                <a:latin typeface="Segoe UI"/>
              </a:defRPr>
            </a:pPr>
            <a:r>
              <a:rPr dirty="0"/>
              <a:t>File CSV/JSON </a:t>
            </a:r>
            <a:r>
              <a:rPr dirty="0" err="1"/>
              <a:t>ghi</a:t>
            </a:r>
            <a:r>
              <a:rPr dirty="0"/>
              <a:t> </a:t>
            </a:r>
            <a:r>
              <a:rPr dirty="0" err="1"/>
              <a:t>nhận</a:t>
            </a:r>
            <a:r>
              <a:rPr dirty="0"/>
              <a:t> </a:t>
            </a:r>
            <a:r>
              <a:rPr dirty="0" err="1"/>
              <a:t>tỷ</a:t>
            </a:r>
            <a:r>
              <a:rPr dirty="0"/>
              <a:t> </a:t>
            </a:r>
            <a:r>
              <a:rPr dirty="0" err="1"/>
              <a:t>lệ</a:t>
            </a:r>
            <a:r>
              <a:rPr dirty="0"/>
              <a:t> </a:t>
            </a:r>
            <a:r>
              <a:rPr dirty="0" err="1"/>
              <a:t>phủ</a:t>
            </a:r>
            <a:r>
              <a:rPr dirty="0"/>
              <a:t>, </a:t>
            </a:r>
            <a:r>
              <a:rPr dirty="0" err="1"/>
              <a:t>số</a:t>
            </a:r>
            <a:r>
              <a:rPr dirty="0"/>
              <a:t> inlier, </a:t>
            </a:r>
            <a:r>
              <a:rPr dirty="0" err="1"/>
              <a:t>sai</a:t>
            </a:r>
            <a:r>
              <a:rPr dirty="0"/>
              <a:t> </a:t>
            </a:r>
            <a:r>
              <a:rPr dirty="0" err="1"/>
              <a:t>số</a:t>
            </a:r>
            <a:r>
              <a:rPr dirty="0"/>
              <a:t> </a:t>
            </a:r>
            <a:r>
              <a:rPr dirty="0" err="1"/>
              <a:t>chiếu</a:t>
            </a:r>
            <a:r>
              <a:rPr dirty="0"/>
              <a:t> </a:t>
            </a:r>
            <a:r>
              <a:rPr dirty="0" err="1"/>
              <a:t>lại</a:t>
            </a:r>
            <a:r>
              <a:rPr dirty="0"/>
              <a:t>.</a:t>
            </a:r>
          </a:p>
          <a:p>
            <a:pPr>
              <a:lnSpc>
                <a:spcPct val="200000"/>
              </a:lnSpc>
              <a:spcAft>
                <a:spcPts val="200"/>
              </a:spcAft>
              <a:defRPr sz="1000" b="1">
                <a:solidFill>
                  <a:srgbClr val="34D399"/>
                </a:solidFill>
                <a:latin typeface="Segoe UI"/>
              </a:defRPr>
            </a:pPr>
            <a:r>
              <a:rPr dirty="0" err="1"/>
              <a:t>Cụm</a:t>
            </a:r>
            <a:r>
              <a:rPr dirty="0"/>
              <a:t> </a:t>
            </a:r>
            <a:r>
              <a:rPr dirty="0" err="1"/>
              <a:t>Submosaics</a:t>
            </a:r>
            <a:r>
              <a:rPr dirty="0"/>
              <a:t> </a:t>
            </a:r>
            <a:r>
              <a:rPr dirty="0" err="1"/>
              <a:t>độc</a:t>
            </a:r>
            <a:r>
              <a:rPr dirty="0"/>
              <a:t> </a:t>
            </a:r>
            <a:r>
              <a:rPr dirty="0" err="1"/>
              <a:t>lập</a:t>
            </a:r>
            <a:endParaRPr dirty="0"/>
          </a:p>
          <a:p>
            <a:pPr>
              <a:lnSpc>
                <a:spcPct val="200000"/>
              </a:lnSpc>
              <a:spcAft>
                <a:spcPts val="800"/>
              </a:spcAft>
              <a:defRPr sz="850">
                <a:solidFill>
                  <a:srgbClr val="94A3B8"/>
                </a:solidFill>
                <a:latin typeface="Segoe UI"/>
              </a:defRPr>
            </a:pPr>
            <a:r>
              <a:rPr dirty="0" err="1"/>
              <a:t>Tự</a:t>
            </a:r>
            <a:r>
              <a:rPr dirty="0"/>
              <a:t> </a:t>
            </a:r>
            <a:r>
              <a:rPr dirty="0" err="1"/>
              <a:t>động</a:t>
            </a:r>
            <a:r>
              <a:rPr dirty="0"/>
              <a:t> </a:t>
            </a:r>
            <a:r>
              <a:rPr dirty="0" err="1"/>
              <a:t>đóng</a:t>
            </a:r>
            <a:r>
              <a:rPr dirty="0"/>
              <a:t> </a:t>
            </a:r>
            <a:r>
              <a:rPr dirty="0" err="1"/>
              <a:t>gói</a:t>
            </a:r>
            <a:r>
              <a:rPr dirty="0"/>
              <a:t> </a:t>
            </a:r>
            <a:r>
              <a:rPr dirty="0" err="1"/>
              <a:t>cụm</a:t>
            </a:r>
            <a:r>
              <a:rPr dirty="0"/>
              <a:t> </a:t>
            </a:r>
            <a:r>
              <a:rPr dirty="0" err="1"/>
              <a:t>ảnh</a:t>
            </a:r>
            <a:r>
              <a:rPr dirty="0"/>
              <a:t> con </a:t>
            </a:r>
            <a:r>
              <a:rPr dirty="0" err="1"/>
              <a:t>khi</a:t>
            </a:r>
            <a:r>
              <a:rPr dirty="0"/>
              <a:t> </a:t>
            </a:r>
            <a:r>
              <a:rPr dirty="0" err="1"/>
              <a:t>gặp</a:t>
            </a:r>
            <a:r>
              <a:rPr dirty="0"/>
              <a:t> </a:t>
            </a:r>
            <a:r>
              <a:rPr dirty="0" err="1"/>
              <a:t>đứt</a:t>
            </a:r>
            <a:r>
              <a:rPr dirty="0"/>
              <a:t> </a:t>
            </a:r>
            <a:r>
              <a:rPr dirty="0" err="1"/>
              <a:t>gãy</a:t>
            </a:r>
            <a:r>
              <a:rPr dirty="0"/>
              <a:t> </a:t>
            </a:r>
            <a:r>
              <a:rPr dirty="0" err="1"/>
              <a:t>không</a:t>
            </a:r>
            <a:r>
              <a:rPr dirty="0"/>
              <a:t> </a:t>
            </a:r>
            <a:r>
              <a:rPr dirty="0" err="1"/>
              <a:t>thể</a:t>
            </a:r>
            <a:r>
              <a:rPr dirty="0"/>
              <a:t> </a:t>
            </a:r>
            <a:r>
              <a:rPr dirty="0" err="1"/>
              <a:t>khôi</a:t>
            </a:r>
            <a:r>
              <a:rPr dirty="0"/>
              <a:t> </a:t>
            </a:r>
            <a:r>
              <a:rPr dirty="0" err="1"/>
              <a:t>phục</a:t>
            </a:r>
            <a:r>
              <a:rPr dirty="0"/>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A0A0A"/>
        </a:solidFill>
        <a:effectLst/>
      </p:bgPr>
    </p:bg>
    <p:spTree>
      <p:nvGrpSpPr>
        <p:cNvPr id="1" name=""/>
        <p:cNvGrpSpPr/>
        <p:nvPr/>
      </p:nvGrpSpPr>
      <p:grpSpPr>
        <a:xfrm>
          <a:off x="0" y="0"/>
          <a:ext cx="0" cy="0"/>
          <a:chOff x="0" y="0"/>
          <a:chExt cx="0" cy="0"/>
        </a:xfrm>
      </p:grpSpPr>
      <p:sp>
        <p:nvSpPr>
          <p:cNvPr id="2" name="TextBox 1"/>
          <p:cNvSpPr txBox="1"/>
          <p:nvPr/>
        </p:nvSpPr>
        <p:spPr>
          <a:xfrm>
            <a:off x="731520" y="384048"/>
            <a:ext cx="7680960" cy="658368"/>
          </a:xfrm>
          <a:prstGeom prst="rect">
            <a:avLst/>
          </a:prstGeom>
          <a:noFill/>
        </p:spPr>
        <p:txBody>
          <a:bodyPr wrap="square" lIns="0" tIns="0" rIns="0" bIns="0">
            <a:spAutoFit/>
          </a:bodyPr>
          <a:lstStyle/>
          <a:p>
            <a:pPr algn="l">
              <a:lnSpc>
                <a:spcPct val="200000"/>
              </a:lnSpc>
              <a:spcAft>
                <a:spcPts val="400"/>
              </a:spcAft>
              <a:defRPr sz="850" b="1">
                <a:solidFill>
                  <a:srgbClr val="38BDF8"/>
                </a:solidFill>
                <a:latin typeface="Segoe UI"/>
              </a:defRPr>
            </a:pPr>
            <a:r>
              <a:t>03 / DỮ LIỆU THỰC NGHIỆM</a:t>
            </a:r>
          </a:p>
          <a:p>
            <a:pPr algn="l">
              <a:lnSpc>
                <a:spcPct val="200000"/>
              </a:lnSpc>
              <a:defRPr sz="1750" b="1">
                <a:solidFill>
                  <a:srgbClr val="FFFFFF"/>
                </a:solidFill>
                <a:latin typeface="Segoe UI"/>
              </a:defRPr>
            </a:pPr>
            <a:r>
              <a:t>Dữ liệu thực nghiệm từ drone thật: NPU Drone-Map &amp; DroneZaic</a:t>
            </a:r>
          </a:p>
        </p:txBody>
      </p:sp>
      <p:sp>
        <p:nvSpPr>
          <p:cNvPr id="3" name="Rectangle 2"/>
          <p:cNvSpPr/>
          <p:nvPr/>
        </p:nvSpPr>
        <p:spPr>
          <a:xfrm>
            <a:off x="731520" y="1115568"/>
            <a:ext cx="7680960" cy="12700"/>
          </a:xfrm>
          <a:prstGeom prst="rect">
            <a:avLst/>
          </a:prstGeom>
          <a:solidFill>
            <a:srgbClr val="27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200000"/>
              </a:lnSpc>
            </a:pPr>
            <a:endParaRPr/>
          </a:p>
        </p:txBody>
      </p:sp>
      <p:sp>
        <p:nvSpPr>
          <p:cNvPr id="4" name="TextBox 3"/>
          <p:cNvSpPr txBox="1"/>
          <p:nvPr/>
        </p:nvSpPr>
        <p:spPr>
          <a:xfrm>
            <a:off x="731520" y="1234440"/>
            <a:ext cx="3657600" cy="365760"/>
          </a:xfrm>
          <a:prstGeom prst="rect">
            <a:avLst/>
          </a:prstGeom>
          <a:noFill/>
        </p:spPr>
        <p:txBody>
          <a:bodyPr wrap="none" lIns="0" tIns="0" rIns="0" bIns="0">
            <a:spAutoFit/>
          </a:bodyPr>
          <a:lstStyle/>
          <a:p>
            <a:pPr>
              <a:lnSpc>
                <a:spcPct val="200000"/>
              </a:lnSpc>
              <a:defRPr sz="850" b="1">
                <a:solidFill>
                  <a:srgbClr val="38BDF8"/>
                </a:solidFill>
                <a:latin typeface="Segoe UI"/>
              </a:defRPr>
            </a:pPr>
            <a:r>
              <a:t>DATASET CHÍNH  ·  RDR-0002 &amp; RDR-0003</a:t>
            </a:r>
          </a:p>
          <a:p>
            <a:pPr>
              <a:lnSpc>
                <a:spcPct val="200000"/>
              </a:lnSpc>
              <a:defRPr sz="1150" b="1">
                <a:solidFill>
                  <a:srgbClr val="FFFFFF"/>
                </a:solidFill>
                <a:latin typeface="Segoe UI"/>
              </a:defRPr>
            </a:pPr>
            <a:r>
              <a:t>NPU Drone-Map (ĐH Bách Khoa Tây Bắc)</a:t>
            </a:r>
          </a:p>
        </p:txBody>
      </p:sp>
      <p:pic>
        <p:nvPicPr>
          <p:cNvPr id="5" name="Picture 4" descr="card_npu_composite.png"/>
          <p:cNvPicPr>
            <a:picLocks noChangeAspect="1"/>
          </p:cNvPicPr>
          <p:nvPr/>
        </p:nvPicPr>
        <p:blipFill>
          <a:blip r:embed="rId2"/>
          <a:stretch>
            <a:fillRect/>
          </a:stretch>
        </p:blipFill>
        <p:spPr>
          <a:xfrm>
            <a:off x="731520" y="1783080"/>
            <a:ext cx="3657600" cy="1508760"/>
          </a:xfrm>
          <a:prstGeom prst="rect">
            <a:avLst/>
          </a:prstGeom>
        </p:spPr>
      </p:pic>
      <p:sp>
        <p:nvSpPr>
          <p:cNvPr id="6" name="TextBox 5"/>
          <p:cNvSpPr txBox="1"/>
          <p:nvPr/>
        </p:nvSpPr>
        <p:spPr>
          <a:xfrm>
            <a:off x="731520" y="3401568"/>
            <a:ext cx="3657600" cy="1463040"/>
          </a:xfrm>
          <a:prstGeom prst="rect">
            <a:avLst/>
          </a:prstGeom>
          <a:noFill/>
        </p:spPr>
        <p:txBody>
          <a:bodyPr wrap="square" lIns="0" tIns="0" rIns="0" bIns="0">
            <a:spAutoFit/>
          </a:bodyPr>
          <a:lstStyle/>
          <a:p>
            <a:pPr>
              <a:lnSpc>
                <a:spcPct val="200000"/>
              </a:lnSpc>
              <a:spcAft>
                <a:spcPts val="200"/>
              </a:spcAft>
            </a:pPr>
            <a:r>
              <a:rPr sz="850" b="1">
                <a:solidFill>
                  <a:srgbClr val="FFFFFF"/>
                </a:solidFill>
                <a:latin typeface="Segoe UI"/>
              </a:rPr>
              <a:t>• Drone thật &amp; quy mô: </a:t>
            </a:r>
            <a:r>
              <a:rPr sz="850">
                <a:solidFill>
                  <a:srgbClr val="94A3B8"/>
                </a:solidFill>
                <a:latin typeface="Segoe UI"/>
              </a:rPr>
              <a:t>Phantom 3, GoPro, Inspire; 100+ GB dữ liệu video, ảnh, trajectory.</a:t>
            </a:r>
          </a:p>
          <a:p>
            <a:pPr>
              <a:lnSpc>
                <a:spcPct val="200000"/>
              </a:lnSpc>
              <a:spcAft>
                <a:spcPts val="200"/>
              </a:spcAft>
            </a:pPr>
            <a:r>
              <a:rPr sz="850" b="1">
                <a:solidFill>
                  <a:srgbClr val="FFFFFF"/>
                </a:solidFill>
                <a:latin typeface="Segoe UI"/>
              </a:rPr>
              <a:t>• Ground Truth GCP: </a:t>
            </a:r>
            <a:r>
              <a:rPr sz="850">
                <a:solidFill>
                  <a:srgbClr val="94A3B8"/>
                </a:solidFill>
                <a:latin typeface="Segoe UI"/>
              </a:rPr>
              <a:t>Có tọa độ mốc kiểm soát mặt đất thực tế để đo sai số GCP RMSE.</a:t>
            </a:r>
          </a:p>
          <a:p>
            <a:pPr>
              <a:lnSpc>
                <a:spcPct val="200000"/>
              </a:lnSpc>
              <a:spcAft>
                <a:spcPts val="200"/>
              </a:spcAft>
            </a:pPr>
            <a:r>
              <a:rPr sz="850" b="1">
                <a:solidFill>
                  <a:srgbClr val="FFFFFF"/>
                </a:solidFill>
                <a:latin typeface="Segoe UI"/>
              </a:rPr>
              <a:t>• Mục tiêu kiểm chứng: </a:t>
            </a:r>
            <a:r>
              <a:rPr sz="850">
                <a:solidFill>
                  <a:srgbClr val="94A3B8"/>
                </a:solidFill>
                <a:latin typeface="Segoe UI"/>
              </a:rPr>
              <a:t>Tập thử nghiệm chính cho toàn bộ 3 câu hỏi nghiên cứu RQ1 – RQ3.</a:t>
            </a:r>
          </a:p>
        </p:txBody>
      </p:sp>
      <p:sp>
        <p:nvSpPr>
          <p:cNvPr id="7" name="Rectangle 6"/>
          <p:cNvSpPr/>
          <p:nvPr/>
        </p:nvSpPr>
        <p:spPr>
          <a:xfrm>
            <a:off x="4572000" y="1234440"/>
            <a:ext cx="9144" cy="3429000"/>
          </a:xfrm>
          <a:prstGeom prst="rect">
            <a:avLst/>
          </a:prstGeom>
          <a:solidFill>
            <a:srgbClr val="27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200000"/>
              </a:lnSpc>
            </a:pPr>
            <a:endParaRPr/>
          </a:p>
        </p:txBody>
      </p:sp>
      <p:sp>
        <p:nvSpPr>
          <p:cNvPr id="8" name="TextBox 7"/>
          <p:cNvSpPr txBox="1"/>
          <p:nvPr/>
        </p:nvSpPr>
        <p:spPr>
          <a:xfrm>
            <a:off x="4754880" y="1234440"/>
            <a:ext cx="3657600" cy="365760"/>
          </a:xfrm>
          <a:prstGeom prst="rect">
            <a:avLst/>
          </a:prstGeom>
          <a:noFill/>
        </p:spPr>
        <p:txBody>
          <a:bodyPr wrap="none" lIns="0" tIns="0" rIns="0" bIns="0">
            <a:spAutoFit/>
          </a:bodyPr>
          <a:lstStyle/>
          <a:p>
            <a:pPr>
              <a:lnSpc>
                <a:spcPct val="200000"/>
              </a:lnSpc>
              <a:defRPr sz="850" b="1">
                <a:solidFill>
                  <a:srgbClr val="34D399"/>
                </a:solidFill>
                <a:latin typeface="Segoe UI"/>
              </a:defRPr>
            </a:pPr>
            <a:r>
              <a:t>STRESS-TEST &amp; DỰ PHÒNG  ·  DRYAD OPEN</a:t>
            </a:r>
          </a:p>
          <a:p>
            <a:pPr>
              <a:lnSpc>
                <a:spcPct val="200000"/>
              </a:lnSpc>
              <a:defRPr sz="1150" b="1">
                <a:solidFill>
                  <a:srgbClr val="FFFFFF"/>
                </a:solidFill>
                <a:latin typeface="Segoe UI"/>
              </a:defRPr>
            </a:pPr>
            <a:r>
              <a:t>DroneZaic Dataset (PPJ 2025 / Dryad)</a:t>
            </a:r>
          </a:p>
        </p:txBody>
      </p:sp>
      <p:pic>
        <p:nvPicPr>
          <p:cNvPr id="9" name="Picture 8" descr="card_dronezaic_composite.png"/>
          <p:cNvPicPr>
            <a:picLocks noChangeAspect="1"/>
          </p:cNvPicPr>
          <p:nvPr/>
        </p:nvPicPr>
        <p:blipFill>
          <a:blip r:embed="rId3"/>
          <a:stretch>
            <a:fillRect/>
          </a:stretch>
        </p:blipFill>
        <p:spPr>
          <a:xfrm>
            <a:off x="4754880" y="1783080"/>
            <a:ext cx="3657600" cy="1508760"/>
          </a:xfrm>
          <a:prstGeom prst="rect">
            <a:avLst/>
          </a:prstGeom>
        </p:spPr>
      </p:pic>
      <p:sp>
        <p:nvSpPr>
          <p:cNvPr id="10" name="TextBox 9"/>
          <p:cNvSpPr txBox="1"/>
          <p:nvPr/>
        </p:nvSpPr>
        <p:spPr>
          <a:xfrm>
            <a:off x="4754880" y="3401568"/>
            <a:ext cx="3657600" cy="1463040"/>
          </a:xfrm>
          <a:prstGeom prst="rect">
            <a:avLst/>
          </a:prstGeom>
          <a:noFill/>
        </p:spPr>
        <p:txBody>
          <a:bodyPr wrap="square" lIns="0" tIns="0" rIns="0" bIns="0">
            <a:spAutoFit/>
          </a:bodyPr>
          <a:lstStyle/>
          <a:p>
            <a:pPr>
              <a:lnSpc>
                <a:spcPct val="200000"/>
              </a:lnSpc>
              <a:spcAft>
                <a:spcPts val="200"/>
              </a:spcAft>
            </a:pPr>
            <a:r>
              <a:rPr sz="850" b="1">
                <a:solidFill>
                  <a:srgbClr val="FFFFFF"/>
                </a:solidFill>
                <a:latin typeface="Segoe UI"/>
              </a:rPr>
              <a:t>• Đặc tính dữ liệu: </a:t>
            </a:r>
            <a:r>
              <a:rPr sz="850">
                <a:solidFill>
                  <a:srgbClr val="94A3B8"/>
                </a:solidFill>
                <a:latin typeface="Segoe UI"/>
              </a:rPr>
              <a:t>Video 4K drone bay tự do trên cánh đồng ngô, quy mô 70.4 GB.</a:t>
            </a:r>
          </a:p>
          <a:p>
            <a:pPr>
              <a:lnSpc>
                <a:spcPct val="200000"/>
              </a:lnSpc>
              <a:spcAft>
                <a:spcPts val="200"/>
              </a:spcAft>
            </a:pPr>
            <a:r>
              <a:rPr sz="850" b="1">
                <a:solidFill>
                  <a:srgbClr val="FFFFFF"/>
                </a:solidFill>
                <a:latin typeface="Segoe UI"/>
              </a:rPr>
              <a:t>• Thách thức lặp vân: </a:t>
            </a:r>
            <a:r>
              <a:rPr sz="850">
                <a:solidFill>
                  <a:srgbClr val="94A3B8"/>
                </a:solidFill>
                <a:latin typeface="Segoe UI"/>
              </a:rPr>
              <a:t>Địa hình nông nghiệp lặp vân cao (repetitive texture), nghèo góc nhọn.</a:t>
            </a:r>
          </a:p>
          <a:p>
            <a:pPr>
              <a:lnSpc>
                <a:spcPct val="200000"/>
              </a:lnSpc>
              <a:spcAft>
                <a:spcPts val="200"/>
              </a:spcAft>
            </a:pPr>
            <a:r>
              <a:rPr sz="850" b="1">
                <a:solidFill>
                  <a:srgbClr val="FFFFFF"/>
                </a:solidFill>
                <a:latin typeface="Segoe UI"/>
              </a:rPr>
              <a:t>• Mục tiêu kiểm chứng: </a:t>
            </a:r>
            <a:r>
              <a:rPr sz="850">
                <a:solidFill>
                  <a:srgbClr val="94A3B8"/>
                </a:solidFill>
                <a:latin typeface="Segoe UI"/>
              </a:rPr>
              <a:t>Thử thách cực hạn kích hoạt Matcher Router (RQ2) và Phục hồi (RQ3).</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A0A0A"/>
        </a:solidFill>
        <a:effectLst/>
      </p:bgPr>
    </p:bg>
    <p:spTree>
      <p:nvGrpSpPr>
        <p:cNvPr id="1" name=""/>
        <p:cNvGrpSpPr/>
        <p:nvPr/>
      </p:nvGrpSpPr>
      <p:grpSpPr>
        <a:xfrm>
          <a:off x="0" y="0"/>
          <a:ext cx="0" cy="0"/>
          <a:chOff x="0" y="0"/>
          <a:chExt cx="0" cy="0"/>
        </a:xfrm>
      </p:grpSpPr>
      <p:sp>
        <p:nvSpPr>
          <p:cNvPr id="2" name="TextBox 1"/>
          <p:cNvSpPr txBox="1"/>
          <p:nvPr/>
        </p:nvSpPr>
        <p:spPr>
          <a:xfrm>
            <a:off x="731520" y="384048"/>
            <a:ext cx="7680960" cy="658368"/>
          </a:xfrm>
          <a:prstGeom prst="rect">
            <a:avLst/>
          </a:prstGeom>
          <a:noFill/>
        </p:spPr>
        <p:txBody>
          <a:bodyPr wrap="square" lIns="0" tIns="0" rIns="0" bIns="0">
            <a:spAutoFit/>
          </a:bodyPr>
          <a:lstStyle/>
          <a:p>
            <a:pPr algn="l">
              <a:lnSpc>
                <a:spcPct val="200000"/>
              </a:lnSpc>
              <a:spcAft>
                <a:spcPts val="400"/>
              </a:spcAft>
              <a:defRPr sz="850" b="1">
                <a:solidFill>
                  <a:srgbClr val="38BDF8"/>
                </a:solidFill>
                <a:latin typeface="Segoe UI"/>
              </a:defRPr>
            </a:pPr>
            <a:r>
              <a:t>04 / PHƯƠNG PHÁP ĐÁNH GIÁ</a:t>
            </a:r>
          </a:p>
          <a:p>
            <a:pPr algn="l">
              <a:lnSpc>
                <a:spcPct val="200000"/>
              </a:lnSpc>
              <a:defRPr sz="1750" b="1">
                <a:solidFill>
                  <a:srgbClr val="FFFFFF"/>
                </a:solidFill>
                <a:latin typeface="Segoe UI"/>
              </a:defRPr>
            </a:pPr>
            <a:r>
              <a:t>Hệ thống chỉ số định lượng, Ground Truth &amp; Baseline đối chuẩn</a:t>
            </a:r>
          </a:p>
        </p:txBody>
      </p:sp>
      <p:sp>
        <p:nvSpPr>
          <p:cNvPr id="3" name="Rectangle 2"/>
          <p:cNvSpPr/>
          <p:nvPr/>
        </p:nvSpPr>
        <p:spPr>
          <a:xfrm>
            <a:off x="731520" y="1115568"/>
            <a:ext cx="7680960" cy="12700"/>
          </a:xfrm>
          <a:prstGeom prst="rect">
            <a:avLst/>
          </a:prstGeom>
          <a:solidFill>
            <a:srgbClr val="27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200000"/>
              </a:lnSpc>
            </a:pPr>
            <a:endParaRPr/>
          </a:p>
        </p:txBody>
      </p:sp>
      <p:sp>
        <p:nvSpPr>
          <p:cNvPr id="4" name="TextBox 3"/>
          <p:cNvSpPr txBox="1"/>
          <p:nvPr/>
        </p:nvSpPr>
        <p:spPr>
          <a:xfrm>
            <a:off x="731520" y="1280160"/>
            <a:ext cx="2423160" cy="1828800"/>
          </a:xfrm>
          <a:prstGeom prst="rect">
            <a:avLst/>
          </a:prstGeom>
          <a:noFill/>
        </p:spPr>
        <p:txBody>
          <a:bodyPr wrap="square" lIns="0" tIns="0" rIns="0" bIns="0">
            <a:spAutoFit/>
          </a:bodyPr>
          <a:lstStyle/>
          <a:p>
            <a:pPr>
              <a:lnSpc>
                <a:spcPct val="200000"/>
              </a:lnSpc>
              <a:spcAft>
                <a:spcPts val="600"/>
              </a:spcAft>
              <a:defRPr sz="850" b="1">
                <a:solidFill>
                  <a:srgbClr val="38BDF8"/>
                </a:solidFill>
                <a:latin typeface="Segoe UI"/>
              </a:defRPr>
            </a:pPr>
            <a:r>
              <a:t>01  SAI SỐ HÌNH HỌC</a:t>
            </a:r>
          </a:p>
          <a:p>
            <a:pPr>
              <a:lnSpc>
                <a:spcPct val="200000"/>
              </a:lnSpc>
              <a:defRPr sz="1350" b="1">
                <a:solidFill>
                  <a:srgbClr val="FFFFFF"/>
                </a:solidFill>
                <a:latin typeface="Segoe UI"/>
              </a:defRPr>
            </a:pPr>
            <a:r>
              <a:t>GCP RMSE</a:t>
            </a:r>
          </a:p>
          <a:p>
            <a:pPr>
              <a:lnSpc>
                <a:spcPct val="200000"/>
              </a:lnSpc>
              <a:spcAft>
                <a:spcPts val="600"/>
              </a:spcAft>
              <a:defRPr sz="850">
                <a:solidFill>
                  <a:srgbClr val="94A3B8"/>
                </a:solidFill>
                <a:latin typeface="Segoe UI"/>
              </a:defRPr>
            </a:pPr>
            <a:r>
              <a:t>Sai số mốc kiểm soát mặt đất thực tế</a:t>
            </a:r>
          </a:p>
          <a:p>
            <a:pPr>
              <a:lnSpc>
                <a:spcPct val="200000"/>
              </a:lnSpc>
              <a:defRPr sz="1350" b="1">
                <a:solidFill>
                  <a:srgbClr val="FFFFFF"/>
                </a:solidFill>
                <a:latin typeface="Segoe UI"/>
              </a:defRPr>
            </a:pPr>
            <a:r>
              <a:t>Loop Closure Drift</a:t>
            </a:r>
          </a:p>
          <a:p>
            <a:pPr>
              <a:lnSpc>
                <a:spcPct val="200000"/>
              </a:lnSpc>
              <a:spcAft>
                <a:spcPts val="600"/>
              </a:spcAft>
              <a:defRPr sz="850">
                <a:solidFill>
                  <a:srgbClr val="94A3B8"/>
                </a:solidFill>
                <a:latin typeface="Segoe UI"/>
              </a:defRPr>
            </a:pPr>
            <a:r>
              <a:t>Độ lệch tích lũy khi khép kín vòng bay</a:t>
            </a:r>
          </a:p>
        </p:txBody>
      </p:sp>
      <p:sp>
        <p:nvSpPr>
          <p:cNvPr id="5" name="TextBox 4"/>
          <p:cNvSpPr txBox="1"/>
          <p:nvPr/>
        </p:nvSpPr>
        <p:spPr>
          <a:xfrm>
            <a:off x="3355848" y="1280160"/>
            <a:ext cx="2423160" cy="1828800"/>
          </a:xfrm>
          <a:prstGeom prst="rect">
            <a:avLst/>
          </a:prstGeom>
          <a:noFill/>
        </p:spPr>
        <p:txBody>
          <a:bodyPr wrap="square" lIns="0" tIns="0" rIns="0" bIns="0">
            <a:spAutoFit/>
          </a:bodyPr>
          <a:lstStyle/>
          <a:p>
            <a:pPr>
              <a:lnSpc>
                <a:spcPct val="200000"/>
              </a:lnSpc>
              <a:spcAft>
                <a:spcPts val="600"/>
              </a:spcAft>
              <a:defRPr sz="850" b="1">
                <a:solidFill>
                  <a:srgbClr val="34D399"/>
                </a:solidFill>
                <a:latin typeface="Segoe UI"/>
              </a:defRPr>
            </a:pPr>
            <a:r>
              <a:t>02  ĐỘ BỀN VỮNG &amp; TIN CẬY</a:t>
            </a:r>
          </a:p>
          <a:p>
            <a:pPr>
              <a:lnSpc>
                <a:spcPct val="200000"/>
              </a:lnSpc>
              <a:defRPr sz="1350" b="1">
                <a:solidFill>
                  <a:srgbClr val="FFFFFF"/>
                </a:solidFill>
                <a:latin typeface="Segoe UI"/>
              </a:defRPr>
            </a:pPr>
            <a:r>
              <a:t>Tracking Rate (%)</a:t>
            </a:r>
          </a:p>
          <a:p>
            <a:pPr>
              <a:lnSpc>
                <a:spcPct val="200000"/>
              </a:lnSpc>
              <a:spcAft>
                <a:spcPts val="600"/>
              </a:spcAft>
              <a:defRPr sz="850">
                <a:solidFill>
                  <a:srgbClr val="94A3B8"/>
                </a:solidFill>
                <a:latin typeface="Segoe UI"/>
              </a:defRPr>
            </a:pPr>
            <a:r>
              <a:t>Tỷ lệ ghép thành công liên tục chuỗi video</a:t>
            </a:r>
          </a:p>
          <a:p>
            <a:pPr>
              <a:lnSpc>
                <a:spcPct val="200000"/>
              </a:lnSpc>
              <a:defRPr sz="1350" b="1">
                <a:solidFill>
                  <a:srgbClr val="FFFFFF"/>
                </a:solidFill>
                <a:latin typeface="Segoe UI"/>
              </a:defRPr>
            </a:pPr>
            <a:r>
              <a:t>Failure Count</a:t>
            </a:r>
          </a:p>
          <a:p>
            <a:pPr>
              <a:lnSpc>
                <a:spcPct val="200000"/>
              </a:lnSpc>
              <a:spcAft>
                <a:spcPts val="600"/>
              </a:spcAft>
              <a:defRPr sz="850">
                <a:solidFill>
                  <a:srgbClr val="94A3B8"/>
                </a:solidFill>
                <a:latin typeface="Segoe UI"/>
              </a:defRPr>
            </a:pPr>
            <a:r>
              <a:t>Số lần mất dấu dẫn đến đứt gãy chuỗi</a:t>
            </a:r>
          </a:p>
        </p:txBody>
      </p:sp>
      <p:sp>
        <p:nvSpPr>
          <p:cNvPr id="6" name="TextBox 5"/>
          <p:cNvSpPr txBox="1"/>
          <p:nvPr/>
        </p:nvSpPr>
        <p:spPr>
          <a:xfrm>
            <a:off x="5980176" y="1280160"/>
            <a:ext cx="2423160" cy="1828800"/>
          </a:xfrm>
          <a:prstGeom prst="rect">
            <a:avLst/>
          </a:prstGeom>
          <a:noFill/>
        </p:spPr>
        <p:txBody>
          <a:bodyPr wrap="square" lIns="0" tIns="0" rIns="0" bIns="0">
            <a:spAutoFit/>
          </a:bodyPr>
          <a:lstStyle/>
          <a:p>
            <a:pPr>
              <a:lnSpc>
                <a:spcPct val="200000"/>
              </a:lnSpc>
              <a:spcAft>
                <a:spcPts val="600"/>
              </a:spcAft>
              <a:defRPr sz="850" b="1">
                <a:solidFill>
                  <a:srgbClr val="38BDF8"/>
                </a:solidFill>
                <a:latin typeface="Segoe UI"/>
              </a:defRPr>
            </a:pPr>
            <a:r>
              <a:t>03  HIỆU NĂNG TÍNH TOÁN</a:t>
            </a:r>
          </a:p>
          <a:p>
            <a:pPr>
              <a:lnSpc>
                <a:spcPct val="200000"/>
              </a:lnSpc>
              <a:defRPr sz="1350" b="1">
                <a:solidFill>
                  <a:srgbClr val="FFFFFF"/>
                </a:solidFill>
                <a:latin typeface="Segoe UI"/>
              </a:defRPr>
            </a:pPr>
            <a:r>
              <a:t>P50 / P95 Latency</a:t>
            </a:r>
          </a:p>
          <a:p>
            <a:pPr>
              <a:lnSpc>
                <a:spcPct val="200000"/>
              </a:lnSpc>
              <a:spcAft>
                <a:spcPts val="600"/>
              </a:spcAft>
              <a:defRPr sz="850">
                <a:solidFill>
                  <a:srgbClr val="94A3B8"/>
                </a:solidFill>
                <a:latin typeface="Segoe UI"/>
              </a:defRPr>
            </a:pPr>
            <a:r>
              <a:t>Thời gian xử lý ms/frame trên laptop</a:t>
            </a:r>
          </a:p>
          <a:p>
            <a:pPr>
              <a:lnSpc>
                <a:spcPct val="200000"/>
              </a:lnSpc>
              <a:defRPr sz="1350" b="1">
                <a:solidFill>
                  <a:srgbClr val="FFFFFF"/>
                </a:solidFill>
                <a:latin typeface="Segoe UI"/>
              </a:defRPr>
            </a:pPr>
            <a:r>
              <a:t>Deep Activation (%)</a:t>
            </a:r>
          </a:p>
          <a:p>
            <a:pPr>
              <a:lnSpc>
                <a:spcPct val="200000"/>
              </a:lnSpc>
              <a:spcAft>
                <a:spcPts val="600"/>
              </a:spcAft>
              <a:defRPr sz="850">
                <a:solidFill>
                  <a:srgbClr val="94A3B8"/>
                </a:solidFill>
                <a:latin typeface="Segoe UI"/>
              </a:defRPr>
            </a:pPr>
            <a:r>
              <a:t>Tỷ lệ frame phải gọi SIFT + LightGlue</a:t>
            </a:r>
          </a:p>
        </p:txBody>
      </p:sp>
      <p:sp>
        <p:nvSpPr>
          <p:cNvPr id="7" name="Rectangle 6"/>
          <p:cNvSpPr/>
          <p:nvPr/>
        </p:nvSpPr>
        <p:spPr>
          <a:xfrm>
            <a:off x="731520" y="3291840"/>
            <a:ext cx="7680960" cy="12700"/>
          </a:xfrm>
          <a:prstGeom prst="rect">
            <a:avLst/>
          </a:prstGeom>
          <a:solidFill>
            <a:srgbClr val="27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200000"/>
              </a:lnSpc>
            </a:pPr>
            <a:endParaRPr/>
          </a:p>
        </p:txBody>
      </p:sp>
      <p:sp>
        <p:nvSpPr>
          <p:cNvPr id="8" name="TextBox 7"/>
          <p:cNvSpPr txBox="1"/>
          <p:nvPr/>
        </p:nvSpPr>
        <p:spPr>
          <a:xfrm>
            <a:off x="731520" y="3429000"/>
            <a:ext cx="7680960" cy="228600"/>
          </a:xfrm>
          <a:prstGeom prst="rect">
            <a:avLst/>
          </a:prstGeom>
          <a:noFill/>
        </p:spPr>
        <p:txBody>
          <a:bodyPr wrap="none" lIns="0" tIns="0" rIns="0" bIns="0">
            <a:spAutoFit/>
          </a:bodyPr>
          <a:lstStyle/>
          <a:p>
            <a:pPr>
              <a:lnSpc>
                <a:spcPct val="200000"/>
              </a:lnSpc>
              <a:defRPr sz="850" b="1">
                <a:solidFill>
                  <a:srgbClr val="64748B"/>
                </a:solidFill>
                <a:latin typeface="Segoe UI"/>
              </a:defRPr>
            </a:pPr>
            <a:r>
              <a:t>3 PHƯƠNG PHÁP ĐỐI CHỨNG (BASELINES ĐỐI BẢNG)</a:t>
            </a:r>
          </a:p>
        </p:txBody>
      </p:sp>
      <p:sp>
        <p:nvSpPr>
          <p:cNvPr id="9" name="TextBox 8"/>
          <p:cNvSpPr txBox="1"/>
          <p:nvPr/>
        </p:nvSpPr>
        <p:spPr>
          <a:xfrm>
            <a:off x="731520" y="3703320"/>
            <a:ext cx="2423160" cy="1188720"/>
          </a:xfrm>
          <a:prstGeom prst="rect">
            <a:avLst/>
          </a:prstGeom>
          <a:noFill/>
        </p:spPr>
        <p:txBody>
          <a:bodyPr wrap="square" lIns="0" tIns="0" rIns="0" bIns="0">
            <a:spAutoFit/>
          </a:bodyPr>
          <a:lstStyle/>
          <a:p>
            <a:pPr>
              <a:lnSpc>
                <a:spcPct val="200000"/>
              </a:lnSpc>
              <a:defRPr sz="950" b="1">
                <a:solidFill>
                  <a:srgbClr val="FFFFFF"/>
                </a:solidFill>
                <a:latin typeface="Segoe UI"/>
              </a:defRPr>
            </a:pPr>
            <a:r>
              <a:t>1. Always-Classical</a:t>
            </a:r>
          </a:p>
          <a:p>
            <a:pPr>
              <a:lnSpc>
                <a:spcPct val="200000"/>
              </a:lnSpc>
              <a:spcAft>
                <a:spcPts val="200"/>
              </a:spcAft>
              <a:defRPr sz="850" b="1">
                <a:solidFill>
                  <a:srgbClr val="38BDF8"/>
                </a:solidFill>
                <a:latin typeface="Segoe UI"/>
              </a:defRPr>
            </a:pPr>
            <a:r>
              <a:t>SIFT / ORB (Thuần CPU)</a:t>
            </a:r>
          </a:p>
          <a:p>
            <a:pPr>
              <a:lnSpc>
                <a:spcPct val="200000"/>
              </a:lnSpc>
              <a:defRPr sz="800">
                <a:solidFill>
                  <a:srgbClr val="94A3B8"/>
                </a:solidFill>
                <a:latin typeface="Segoe UI"/>
              </a:defRPr>
            </a:pPr>
            <a:r>
              <a:t>Chạy nhẹ, tốc độ cao nhưng rất mong manh ở cảnh UAV khó.</a:t>
            </a:r>
          </a:p>
        </p:txBody>
      </p:sp>
      <p:sp>
        <p:nvSpPr>
          <p:cNvPr id="10" name="TextBox 9"/>
          <p:cNvSpPr txBox="1"/>
          <p:nvPr/>
        </p:nvSpPr>
        <p:spPr>
          <a:xfrm>
            <a:off x="3355848" y="3703320"/>
            <a:ext cx="2423160" cy="1188720"/>
          </a:xfrm>
          <a:prstGeom prst="rect">
            <a:avLst/>
          </a:prstGeom>
          <a:noFill/>
        </p:spPr>
        <p:txBody>
          <a:bodyPr wrap="square" lIns="0" tIns="0" rIns="0" bIns="0">
            <a:spAutoFit/>
          </a:bodyPr>
          <a:lstStyle/>
          <a:p>
            <a:pPr>
              <a:lnSpc>
                <a:spcPct val="200000"/>
              </a:lnSpc>
              <a:defRPr sz="950" b="1">
                <a:solidFill>
                  <a:srgbClr val="FFFFFF"/>
                </a:solidFill>
                <a:latin typeface="Segoe UI"/>
              </a:defRPr>
            </a:pPr>
            <a:r>
              <a:t>2. Always-Learned</a:t>
            </a:r>
          </a:p>
          <a:p>
            <a:pPr>
              <a:lnSpc>
                <a:spcPct val="200000"/>
              </a:lnSpc>
              <a:spcAft>
                <a:spcPts val="200"/>
              </a:spcAft>
              <a:defRPr sz="850" b="1">
                <a:solidFill>
                  <a:srgbClr val="34D399"/>
                </a:solidFill>
                <a:latin typeface="Segoe UI"/>
              </a:defRPr>
            </a:pPr>
            <a:r>
              <a:t>SIFT + LightGlue (100% GPU)</a:t>
            </a:r>
          </a:p>
          <a:p>
            <a:pPr>
              <a:lnSpc>
                <a:spcPct val="200000"/>
              </a:lnSpc>
              <a:defRPr sz="800">
                <a:solidFill>
                  <a:srgbClr val="94A3B8"/>
                </a:solidFill>
                <a:latin typeface="Segoe UI"/>
              </a:defRPr>
            </a:pPr>
            <a:r>
              <a:t>Độ chính xác vượt trội nhưng quá tải tài nguyên laptop biên.</a:t>
            </a:r>
          </a:p>
        </p:txBody>
      </p:sp>
      <p:sp>
        <p:nvSpPr>
          <p:cNvPr id="11" name="TextBox 10"/>
          <p:cNvSpPr txBox="1"/>
          <p:nvPr/>
        </p:nvSpPr>
        <p:spPr>
          <a:xfrm>
            <a:off x="5980176" y="3703320"/>
            <a:ext cx="2423160" cy="1188720"/>
          </a:xfrm>
          <a:prstGeom prst="rect">
            <a:avLst/>
          </a:prstGeom>
          <a:noFill/>
        </p:spPr>
        <p:txBody>
          <a:bodyPr wrap="square" lIns="0" tIns="0" rIns="0" bIns="0">
            <a:spAutoFit/>
          </a:bodyPr>
          <a:lstStyle/>
          <a:p>
            <a:pPr>
              <a:lnSpc>
                <a:spcPct val="200000"/>
              </a:lnSpc>
              <a:defRPr sz="950" b="1">
                <a:solidFill>
                  <a:srgbClr val="FFFFFF"/>
                </a:solidFill>
                <a:latin typeface="Segoe UI"/>
              </a:defRPr>
            </a:pPr>
            <a:r>
              <a:t>3. Sequential Baseline</a:t>
            </a:r>
          </a:p>
          <a:p>
            <a:pPr>
              <a:lnSpc>
                <a:spcPct val="200000"/>
              </a:lnSpc>
              <a:spcAft>
                <a:spcPts val="200"/>
              </a:spcAft>
              <a:defRPr sz="850" b="1">
                <a:solidFill>
                  <a:srgbClr val="38BDF8"/>
                </a:solidFill>
                <a:latin typeface="Segoe UI"/>
              </a:defRPr>
            </a:pPr>
            <a:r>
              <a:t>Hwang et al. (2026)</a:t>
            </a:r>
          </a:p>
          <a:p>
            <a:pPr>
              <a:lnSpc>
                <a:spcPct val="200000"/>
              </a:lnSpc>
              <a:defRPr sz="800">
                <a:solidFill>
                  <a:srgbClr val="94A3B8"/>
                </a:solidFill>
                <a:latin typeface="Segoe UI"/>
              </a:defRPr>
            </a:pPr>
            <a:r>
              <a:t>Quy trình đối sánh tuần tự chuẩn gần nhất để so sánh độ lệch.</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A0A0A"/>
        </a:solidFill>
        <a:effectLst/>
      </p:bgPr>
    </p:bg>
    <p:spTree>
      <p:nvGrpSpPr>
        <p:cNvPr id="1" name=""/>
        <p:cNvGrpSpPr/>
        <p:nvPr/>
      </p:nvGrpSpPr>
      <p:grpSpPr>
        <a:xfrm>
          <a:off x="0" y="0"/>
          <a:ext cx="0" cy="0"/>
          <a:chOff x="0" y="0"/>
          <a:chExt cx="0" cy="0"/>
        </a:xfrm>
      </p:grpSpPr>
      <p:sp>
        <p:nvSpPr>
          <p:cNvPr id="2" name="TextBox 1"/>
          <p:cNvSpPr txBox="1"/>
          <p:nvPr/>
        </p:nvSpPr>
        <p:spPr>
          <a:xfrm>
            <a:off x="731520" y="384048"/>
            <a:ext cx="7680960" cy="658368"/>
          </a:xfrm>
          <a:prstGeom prst="rect">
            <a:avLst/>
          </a:prstGeom>
          <a:noFill/>
        </p:spPr>
        <p:txBody>
          <a:bodyPr wrap="square" lIns="0" tIns="0" rIns="0" bIns="0">
            <a:spAutoFit/>
          </a:bodyPr>
          <a:lstStyle/>
          <a:p>
            <a:pPr algn="l">
              <a:lnSpc>
                <a:spcPct val="200000"/>
              </a:lnSpc>
              <a:spcAft>
                <a:spcPts val="400"/>
              </a:spcAft>
              <a:defRPr sz="850" b="1">
                <a:solidFill>
                  <a:srgbClr val="38BDF8"/>
                </a:solidFill>
                <a:latin typeface="Segoe UI"/>
              </a:defRPr>
            </a:pPr>
            <a:r>
              <a:t>05 / ĐỀ XUẤT HƯỚNG GIẢI QUYẾT</a:t>
            </a:r>
          </a:p>
          <a:p>
            <a:pPr algn="l">
              <a:lnSpc>
                <a:spcPct val="200000"/>
              </a:lnSpc>
              <a:defRPr sz="1750" b="1">
                <a:solidFill>
                  <a:srgbClr val="FFFFFF"/>
                </a:solidFill>
                <a:latin typeface="Segoe UI"/>
              </a:defRPr>
            </a:pPr>
            <a:r>
              <a:t>Kiến trúc Pipeline 2 tầng: Tự thích ứng &amp; Cảnh báo rủi ro sớm</a:t>
            </a:r>
          </a:p>
        </p:txBody>
      </p:sp>
      <p:sp>
        <p:nvSpPr>
          <p:cNvPr id="3" name="Rectangle 2"/>
          <p:cNvSpPr/>
          <p:nvPr/>
        </p:nvSpPr>
        <p:spPr>
          <a:xfrm>
            <a:off x="731520" y="1115568"/>
            <a:ext cx="7680960" cy="12700"/>
          </a:xfrm>
          <a:prstGeom prst="rect">
            <a:avLst/>
          </a:prstGeom>
          <a:solidFill>
            <a:srgbClr val="27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200000"/>
              </a:lnSpc>
            </a:pPr>
            <a:endParaRPr/>
          </a:p>
        </p:txBody>
      </p:sp>
      <p:sp>
        <p:nvSpPr>
          <p:cNvPr id="4" name="Rectangle 3"/>
          <p:cNvSpPr/>
          <p:nvPr/>
        </p:nvSpPr>
        <p:spPr>
          <a:xfrm>
            <a:off x="731520" y="1325880"/>
            <a:ext cx="1371600" cy="1508760"/>
          </a:xfrm>
          <a:prstGeom prst="rect">
            <a:avLst/>
          </a:prstGeom>
          <a:solidFill>
            <a:srgbClr val="0F0F12"/>
          </a:solidFill>
          <a:ln w="9525">
            <a:solidFill>
              <a:srgbClr val="272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200000"/>
              </a:lnSpc>
            </a:pPr>
            <a:endParaRPr/>
          </a:p>
        </p:txBody>
      </p:sp>
      <p:sp>
        <p:nvSpPr>
          <p:cNvPr id="5" name="TextBox 4"/>
          <p:cNvSpPr txBox="1"/>
          <p:nvPr/>
        </p:nvSpPr>
        <p:spPr>
          <a:xfrm>
            <a:off x="841248" y="1417320"/>
            <a:ext cx="1152144" cy="1325880"/>
          </a:xfrm>
          <a:prstGeom prst="rect">
            <a:avLst/>
          </a:prstGeom>
          <a:noFill/>
        </p:spPr>
        <p:txBody>
          <a:bodyPr wrap="square" lIns="0" tIns="0" rIns="0" bIns="0">
            <a:spAutoFit/>
          </a:bodyPr>
          <a:lstStyle/>
          <a:p>
            <a:pPr>
              <a:lnSpc>
                <a:spcPct val="200000"/>
              </a:lnSpc>
              <a:spcAft>
                <a:spcPts val="200"/>
              </a:spcAft>
              <a:defRPr sz="750" b="1">
                <a:solidFill>
                  <a:srgbClr val="38BDF8"/>
                </a:solidFill>
                <a:latin typeface="Segoe UI"/>
              </a:defRPr>
            </a:pPr>
            <a:r>
              <a:t>ĐẦU VÀO</a:t>
            </a:r>
          </a:p>
          <a:p>
            <a:pPr>
              <a:lnSpc>
                <a:spcPct val="200000"/>
              </a:lnSpc>
              <a:spcAft>
                <a:spcPts val="400"/>
              </a:spcAft>
              <a:defRPr sz="950" b="1">
                <a:solidFill>
                  <a:srgbClr val="FFFFFF"/>
                </a:solidFill>
                <a:latin typeface="Segoe UI"/>
              </a:defRPr>
            </a:pPr>
            <a:r>
              <a:t>Cặp Frame (k-1, k)</a:t>
            </a:r>
          </a:p>
          <a:p>
            <a:pPr>
              <a:lnSpc>
                <a:spcPct val="200000"/>
              </a:lnSpc>
              <a:spcAft>
                <a:spcPts val="100"/>
              </a:spcAft>
              <a:defRPr sz="750">
                <a:solidFill>
                  <a:srgbClr val="94A3B8"/>
                </a:solidFill>
                <a:latin typeface="Segoe UI"/>
              </a:defRPr>
            </a:pPr>
            <a:r>
              <a:t>• Video UAV RGB</a:t>
            </a:r>
          </a:p>
          <a:p>
            <a:pPr>
              <a:lnSpc>
                <a:spcPct val="200000"/>
              </a:lnSpc>
              <a:spcAft>
                <a:spcPts val="100"/>
              </a:spcAft>
              <a:defRPr sz="750">
                <a:solidFill>
                  <a:srgbClr val="94A3B8"/>
                </a:solidFill>
                <a:latin typeface="Segoe UI"/>
              </a:defRPr>
            </a:pPr>
            <a:r>
              <a:t>• Khử méo quang học</a:t>
            </a:r>
          </a:p>
          <a:p>
            <a:pPr>
              <a:lnSpc>
                <a:spcPct val="200000"/>
              </a:lnSpc>
              <a:spcAft>
                <a:spcPts val="100"/>
              </a:spcAft>
              <a:defRPr sz="750">
                <a:solidFill>
                  <a:srgbClr val="94A3B8"/>
                </a:solidFill>
                <a:latin typeface="Segoe UI"/>
              </a:defRPr>
            </a:pPr>
            <a:r>
              <a:t>• Trích xuất tuần tự</a:t>
            </a:r>
          </a:p>
        </p:txBody>
      </p:sp>
      <p:sp>
        <p:nvSpPr>
          <p:cNvPr id="6" name="TextBox 5"/>
          <p:cNvSpPr txBox="1"/>
          <p:nvPr/>
        </p:nvSpPr>
        <p:spPr>
          <a:xfrm>
            <a:off x="2121408" y="1874519"/>
            <a:ext cx="365760" cy="365760"/>
          </a:xfrm>
          <a:prstGeom prst="rect">
            <a:avLst/>
          </a:prstGeom>
          <a:noFill/>
        </p:spPr>
        <p:txBody>
          <a:bodyPr wrap="none" lIns="0" tIns="0" rIns="0" bIns="0">
            <a:spAutoFit/>
          </a:bodyPr>
          <a:lstStyle/>
          <a:p>
            <a:pPr algn="ctr">
              <a:lnSpc>
                <a:spcPct val="200000"/>
              </a:lnSpc>
            </a:pPr>
            <a:r>
              <a:rPr sz="1300" b="1">
                <a:solidFill>
                  <a:srgbClr val="38BDF8"/>
                </a:solidFill>
                <a:latin typeface="Segoe UI"/>
              </a:rPr>
              <a:t>→</a:t>
            </a:r>
          </a:p>
        </p:txBody>
      </p:sp>
      <p:sp>
        <p:nvSpPr>
          <p:cNvPr id="7" name="Rectangle 6"/>
          <p:cNvSpPr/>
          <p:nvPr/>
        </p:nvSpPr>
        <p:spPr>
          <a:xfrm>
            <a:off x="2514600" y="1325880"/>
            <a:ext cx="1737360" cy="1508760"/>
          </a:xfrm>
          <a:prstGeom prst="rect">
            <a:avLst/>
          </a:prstGeom>
          <a:solidFill>
            <a:srgbClr val="0F0F12"/>
          </a:solidFill>
          <a:ln w="9525">
            <a:solidFill>
              <a:srgbClr val="272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200000"/>
              </a:lnSpc>
            </a:pPr>
            <a:endParaRPr/>
          </a:p>
        </p:txBody>
      </p:sp>
      <p:sp>
        <p:nvSpPr>
          <p:cNvPr id="8" name="TextBox 7"/>
          <p:cNvSpPr txBox="1"/>
          <p:nvPr/>
        </p:nvSpPr>
        <p:spPr>
          <a:xfrm>
            <a:off x="2624328" y="1417320"/>
            <a:ext cx="1517904" cy="1325880"/>
          </a:xfrm>
          <a:prstGeom prst="rect">
            <a:avLst/>
          </a:prstGeom>
          <a:noFill/>
        </p:spPr>
        <p:txBody>
          <a:bodyPr wrap="square" lIns="0" tIns="0" rIns="0" bIns="0">
            <a:spAutoFit/>
          </a:bodyPr>
          <a:lstStyle/>
          <a:p>
            <a:pPr>
              <a:lnSpc>
                <a:spcPct val="200000"/>
              </a:lnSpc>
              <a:spcAft>
                <a:spcPts val="200"/>
              </a:spcAft>
              <a:defRPr sz="750" b="1">
                <a:solidFill>
                  <a:srgbClr val="38BDF8"/>
                </a:solidFill>
                <a:latin typeface="Segoe UI"/>
              </a:defRPr>
            </a:pPr>
            <a:r>
              <a:t>TẦNG 1: MẶC ĐỊNH (CPU)</a:t>
            </a:r>
          </a:p>
          <a:p>
            <a:pPr>
              <a:lnSpc>
                <a:spcPct val="200000"/>
              </a:lnSpc>
              <a:spcAft>
                <a:spcPts val="400"/>
              </a:spcAft>
              <a:defRPr sz="950" b="1">
                <a:solidFill>
                  <a:srgbClr val="FFFFFF"/>
                </a:solidFill>
                <a:latin typeface="Segoe UI"/>
              </a:defRPr>
            </a:pPr>
            <a:r>
              <a:t>SIFT / ORB Matcher</a:t>
            </a:r>
          </a:p>
          <a:p>
            <a:pPr>
              <a:lnSpc>
                <a:spcPct val="200000"/>
              </a:lnSpc>
              <a:spcAft>
                <a:spcPts val="100"/>
              </a:spcAft>
              <a:defRPr sz="750">
                <a:solidFill>
                  <a:srgbClr val="94A3B8"/>
                </a:solidFill>
                <a:latin typeface="Segoe UI"/>
              </a:defRPr>
            </a:pPr>
            <a:r>
              <a:t>• Xử lý 85–90% frame</a:t>
            </a:r>
          </a:p>
          <a:p>
            <a:pPr>
              <a:lnSpc>
                <a:spcPct val="200000"/>
              </a:lnSpc>
              <a:spcAft>
                <a:spcPts val="100"/>
              </a:spcAft>
              <a:defRPr sz="750">
                <a:solidFill>
                  <a:srgbClr val="94A3B8"/>
                </a:solidFill>
                <a:latin typeface="Segoe UI"/>
              </a:defRPr>
            </a:pPr>
            <a:r>
              <a:t>• Trích xuất chỉ báo rẻ</a:t>
            </a:r>
          </a:p>
          <a:p>
            <a:pPr>
              <a:lnSpc>
                <a:spcPct val="200000"/>
              </a:lnSpc>
              <a:spcAft>
                <a:spcPts val="100"/>
              </a:spcAft>
              <a:defRPr sz="750">
                <a:solidFill>
                  <a:srgbClr val="94A3B8"/>
                </a:solidFill>
                <a:latin typeface="Segoe UI"/>
              </a:defRPr>
            </a:pPr>
            <a:r>
              <a:t>• Vận hành nhẹ CPU</a:t>
            </a:r>
          </a:p>
        </p:txBody>
      </p:sp>
      <p:sp>
        <p:nvSpPr>
          <p:cNvPr id="9" name="TextBox 8"/>
          <p:cNvSpPr txBox="1"/>
          <p:nvPr/>
        </p:nvSpPr>
        <p:spPr>
          <a:xfrm>
            <a:off x="4279392" y="1874519"/>
            <a:ext cx="320040" cy="365760"/>
          </a:xfrm>
          <a:prstGeom prst="rect">
            <a:avLst/>
          </a:prstGeom>
          <a:noFill/>
        </p:spPr>
        <p:txBody>
          <a:bodyPr wrap="none" lIns="0" tIns="0" rIns="0" bIns="0">
            <a:spAutoFit/>
          </a:bodyPr>
          <a:lstStyle/>
          <a:p>
            <a:pPr algn="ctr">
              <a:lnSpc>
                <a:spcPct val="200000"/>
              </a:lnSpc>
            </a:pPr>
            <a:r>
              <a:rPr sz="1300" b="1">
                <a:solidFill>
                  <a:srgbClr val="38BDF8"/>
                </a:solidFill>
                <a:latin typeface="Segoe UI"/>
              </a:rPr>
              <a:t>→</a:t>
            </a:r>
          </a:p>
        </p:txBody>
      </p:sp>
      <p:sp>
        <p:nvSpPr>
          <p:cNvPr id="10" name="Rectangle 9"/>
          <p:cNvSpPr/>
          <p:nvPr/>
        </p:nvSpPr>
        <p:spPr>
          <a:xfrm>
            <a:off x="4617720" y="1325880"/>
            <a:ext cx="1783080" cy="1508760"/>
          </a:xfrm>
          <a:prstGeom prst="rect">
            <a:avLst/>
          </a:prstGeom>
          <a:solidFill>
            <a:srgbClr val="0F0F12"/>
          </a:solidFill>
          <a:ln w="9525">
            <a:solidFill>
              <a:srgbClr val="272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200000"/>
              </a:lnSpc>
            </a:pPr>
            <a:endParaRPr/>
          </a:p>
        </p:txBody>
      </p:sp>
      <p:sp>
        <p:nvSpPr>
          <p:cNvPr id="11" name="TextBox 10"/>
          <p:cNvSpPr txBox="1"/>
          <p:nvPr/>
        </p:nvSpPr>
        <p:spPr>
          <a:xfrm>
            <a:off x="4727448" y="1417320"/>
            <a:ext cx="1563624" cy="1325880"/>
          </a:xfrm>
          <a:prstGeom prst="rect">
            <a:avLst/>
          </a:prstGeom>
          <a:noFill/>
        </p:spPr>
        <p:txBody>
          <a:bodyPr wrap="square" lIns="0" tIns="0" rIns="0" bIns="0">
            <a:spAutoFit/>
          </a:bodyPr>
          <a:lstStyle/>
          <a:p>
            <a:pPr>
              <a:lnSpc>
                <a:spcPct val="200000"/>
              </a:lnSpc>
              <a:spcAft>
                <a:spcPts val="200"/>
              </a:spcAft>
              <a:defRPr sz="750" b="1">
                <a:solidFill>
                  <a:srgbClr val="38BDF8"/>
                </a:solidFill>
                <a:latin typeface="Segoe UI"/>
              </a:defRPr>
            </a:pPr>
            <a:r>
              <a:t>CỔNG RỦI RO (RQ1)</a:t>
            </a:r>
          </a:p>
          <a:p>
            <a:pPr>
              <a:lnSpc>
                <a:spcPct val="200000"/>
              </a:lnSpc>
              <a:spcAft>
                <a:spcPts val="400"/>
              </a:spcAft>
              <a:defRPr sz="950" b="1">
                <a:solidFill>
                  <a:srgbClr val="FFFFFF"/>
                </a:solidFill>
                <a:latin typeface="Segoe UI"/>
              </a:defRPr>
            </a:pPr>
            <a:r>
              <a:t>Risk Gate (Định tuyến)</a:t>
            </a:r>
          </a:p>
          <a:p>
            <a:pPr>
              <a:lnSpc>
                <a:spcPct val="200000"/>
              </a:lnSpc>
              <a:spcAft>
                <a:spcPts val="100"/>
              </a:spcAft>
              <a:defRPr sz="750">
                <a:solidFill>
                  <a:srgbClr val="94A3B8"/>
                </a:solidFill>
                <a:latin typeface="Segoe UI"/>
              </a:defRPr>
            </a:pPr>
            <a:r>
              <a:t>• Inlier ratio • Lệch chiếu</a:t>
            </a:r>
          </a:p>
          <a:p>
            <a:pPr>
              <a:lnSpc>
                <a:spcPct val="200000"/>
              </a:lnSpc>
              <a:spcAft>
                <a:spcPts val="100"/>
              </a:spcAft>
              <a:defRPr sz="750">
                <a:solidFill>
                  <a:srgbClr val="94A3B8"/>
                </a:solidFill>
                <a:latin typeface="Segoe UI"/>
              </a:defRPr>
            </a:pPr>
            <a:r>
              <a:t>• Phân tán không gian</a:t>
            </a:r>
          </a:p>
          <a:p>
            <a:pPr>
              <a:lnSpc>
                <a:spcPct val="200000"/>
              </a:lnSpc>
              <a:spcAft>
                <a:spcPts val="100"/>
              </a:spcAft>
              <a:defRPr sz="750">
                <a:solidFill>
                  <a:srgbClr val="94A3B8"/>
                </a:solidFill>
                <a:latin typeface="Segoe UI"/>
              </a:defRPr>
            </a:pPr>
            <a:r>
              <a:t>• Định tuyến 2 nhánh</a:t>
            </a:r>
          </a:p>
        </p:txBody>
      </p:sp>
      <p:sp>
        <p:nvSpPr>
          <p:cNvPr id="12" name="TextBox 11"/>
          <p:cNvSpPr txBox="1"/>
          <p:nvPr/>
        </p:nvSpPr>
        <p:spPr>
          <a:xfrm>
            <a:off x="6419088" y="1783080"/>
            <a:ext cx="411480" cy="502920"/>
          </a:xfrm>
          <a:prstGeom prst="rect">
            <a:avLst/>
          </a:prstGeom>
          <a:noFill/>
        </p:spPr>
        <p:txBody>
          <a:bodyPr wrap="none" lIns="0" tIns="0" rIns="0" bIns="0">
            <a:spAutoFit/>
          </a:bodyPr>
          <a:lstStyle/>
          <a:p>
            <a:pPr algn="ctr">
              <a:lnSpc>
                <a:spcPct val="200000"/>
              </a:lnSpc>
            </a:pPr>
            <a:r>
              <a:rPr sz="1300" b="1">
                <a:solidFill>
                  <a:srgbClr val="34D399"/>
                </a:solidFill>
                <a:latin typeface="Segoe UI"/>
              </a:rPr>
              <a:t>→</a:t>
            </a:r>
          </a:p>
          <a:p>
            <a:pPr algn="ctr">
              <a:lnSpc>
                <a:spcPct val="200000"/>
              </a:lnSpc>
            </a:pPr>
            <a:r>
              <a:rPr sz="700" b="1">
                <a:solidFill>
                  <a:srgbClr val="34D399"/>
                </a:solidFill>
                <a:latin typeface="Segoe UI"/>
              </a:rPr>
              <a:t>An toàn</a:t>
            </a:r>
          </a:p>
        </p:txBody>
      </p:sp>
      <p:sp>
        <p:nvSpPr>
          <p:cNvPr id="13" name="Rectangle 12"/>
          <p:cNvSpPr/>
          <p:nvPr/>
        </p:nvSpPr>
        <p:spPr>
          <a:xfrm>
            <a:off x="6858000" y="1325880"/>
            <a:ext cx="1554480" cy="1508760"/>
          </a:xfrm>
          <a:prstGeom prst="rect">
            <a:avLst/>
          </a:prstGeom>
          <a:solidFill>
            <a:srgbClr val="0F0F12"/>
          </a:solidFill>
          <a:ln w="9525">
            <a:solidFill>
              <a:srgbClr val="272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200000"/>
              </a:lnSpc>
            </a:pPr>
            <a:endParaRPr/>
          </a:p>
        </p:txBody>
      </p:sp>
      <p:sp>
        <p:nvSpPr>
          <p:cNvPr id="14" name="TextBox 13"/>
          <p:cNvSpPr txBox="1"/>
          <p:nvPr/>
        </p:nvSpPr>
        <p:spPr>
          <a:xfrm>
            <a:off x="6967728" y="1417320"/>
            <a:ext cx="1335024" cy="1325880"/>
          </a:xfrm>
          <a:prstGeom prst="rect">
            <a:avLst/>
          </a:prstGeom>
          <a:noFill/>
        </p:spPr>
        <p:txBody>
          <a:bodyPr wrap="square" lIns="0" tIns="0" rIns="0" bIns="0">
            <a:spAutoFit/>
          </a:bodyPr>
          <a:lstStyle/>
          <a:p>
            <a:pPr>
              <a:lnSpc>
                <a:spcPct val="200000"/>
              </a:lnSpc>
              <a:spcAft>
                <a:spcPts val="200"/>
              </a:spcAft>
              <a:defRPr sz="750" b="1">
                <a:solidFill>
                  <a:srgbClr val="34D399"/>
                </a:solidFill>
                <a:latin typeface="Segoe UI"/>
              </a:defRPr>
            </a:pPr>
            <a:r>
              <a:t>KẾT QUẢ ĐẦU RA</a:t>
            </a:r>
          </a:p>
          <a:p>
            <a:pPr>
              <a:lnSpc>
                <a:spcPct val="200000"/>
              </a:lnSpc>
              <a:spcAft>
                <a:spcPts val="400"/>
              </a:spcAft>
              <a:defRPr sz="950" b="1">
                <a:solidFill>
                  <a:srgbClr val="FFFFFF"/>
                </a:solidFill>
                <a:latin typeface="Segoe UI"/>
              </a:defRPr>
            </a:pPr>
            <a:r>
              <a:t>Mosaic 2D Toàn Cảnh</a:t>
            </a:r>
          </a:p>
          <a:p>
            <a:pPr>
              <a:lnSpc>
                <a:spcPct val="200000"/>
              </a:lnSpc>
              <a:spcAft>
                <a:spcPts val="100"/>
              </a:spcAft>
              <a:defRPr sz="750">
                <a:solidFill>
                  <a:srgbClr val="94A3B8"/>
                </a:solidFill>
                <a:latin typeface="Segoe UI"/>
              </a:defRPr>
            </a:pPr>
            <a:r>
              <a:t>• Tích lũy ma trận H</a:t>
            </a:r>
          </a:p>
          <a:p>
            <a:pPr>
              <a:lnSpc>
                <a:spcPct val="200000"/>
              </a:lnSpc>
              <a:spcAft>
                <a:spcPts val="100"/>
              </a:spcAft>
              <a:defRPr sz="750">
                <a:solidFill>
                  <a:srgbClr val="94A3B8"/>
                </a:solidFill>
                <a:latin typeface="Segoe UI"/>
              </a:defRPr>
            </a:pPr>
            <a:r>
              <a:t>• Khống chế drift toàn cục</a:t>
            </a:r>
          </a:p>
          <a:p>
            <a:pPr>
              <a:lnSpc>
                <a:spcPct val="200000"/>
              </a:lnSpc>
              <a:spcAft>
                <a:spcPts val="100"/>
              </a:spcAft>
              <a:defRPr sz="750">
                <a:solidFill>
                  <a:srgbClr val="94A3B8"/>
                </a:solidFill>
                <a:latin typeface="Segoe UI"/>
              </a:defRPr>
            </a:pPr>
            <a:r>
              <a:t>• Ghi nhật ký CSV/JSON</a:t>
            </a:r>
          </a:p>
        </p:txBody>
      </p:sp>
      <p:sp>
        <p:nvSpPr>
          <p:cNvPr id="15" name="TextBox 14"/>
          <p:cNvSpPr txBox="1"/>
          <p:nvPr/>
        </p:nvSpPr>
        <p:spPr>
          <a:xfrm>
            <a:off x="4160520" y="2880360"/>
            <a:ext cx="822960" cy="384048"/>
          </a:xfrm>
          <a:prstGeom prst="rect">
            <a:avLst/>
          </a:prstGeom>
          <a:noFill/>
        </p:spPr>
        <p:txBody>
          <a:bodyPr wrap="none" lIns="0" tIns="0" rIns="0" bIns="0">
            <a:spAutoFit/>
          </a:bodyPr>
          <a:lstStyle/>
          <a:p>
            <a:pPr algn="ctr">
              <a:lnSpc>
                <a:spcPct val="200000"/>
              </a:lnSpc>
            </a:pPr>
            <a:r>
              <a:rPr sz="1300" b="1">
                <a:solidFill>
                  <a:srgbClr val="38BDF8"/>
                </a:solidFill>
                <a:latin typeface="Segoe UI"/>
              </a:rPr>
              <a:t>↓</a:t>
            </a:r>
          </a:p>
          <a:p>
            <a:pPr algn="ctr">
              <a:lnSpc>
                <a:spcPct val="200000"/>
              </a:lnSpc>
            </a:pPr>
            <a:r>
              <a:rPr sz="700" b="1">
                <a:solidFill>
                  <a:srgbClr val="38BDF8"/>
                </a:solidFill>
                <a:latin typeface="Segoe UI"/>
              </a:rPr>
              <a:t>Rủi ro (10%)</a:t>
            </a:r>
          </a:p>
        </p:txBody>
      </p:sp>
      <p:sp>
        <p:nvSpPr>
          <p:cNvPr id="16" name="Rectangle 15"/>
          <p:cNvSpPr/>
          <p:nvPr/>
        </p:nvSpPr>
        <p:spPr>
          <a:xfrm>
            <a:off x="2514600" y="3291840"/>
            <a:ext cx="2011680" cy="1508760"/>
          </a:xfrm>
          <a:prstGeom prst="rect">
            <a:avLst/>
          </a:prstGeom>
          <a:solidFill>
            <a:srgbClr val="0F0F12"/>
          </a:solidFill>
          <a:ln w="9525">
            <a:solidFill>
              <a:srgbClr val="272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200000"/>
              </a:lnSpc>
            </a:pPr>
            <a:endParaRPr/>
          </a:p>
        </p:txBody>
      </p:sp>
      <p:sp>
        <p:nvSpPr>
          <p:cNvPr id="17" name="TextBox 16"/>
          <p:cNvSpPr txBox="1"/>
          <p:nvPr/>
        </p:nvSpPr>
        <p:spPr>
          <a:xfrm>
            <a:off x="2624328" y="3383280"/>
            <a:ext cx="1792224" cy="1325880"/>
          </a:xfrm>
          <a:prstGeom prst="rect">
            <a:avLst/>
          </a:prstGeom>
          <a:noFill/>
        </p:spPr>
        <p:txBody>
          <a:bodyPr wrap="square" lIns="0" tIns="0" rIns="0" bIns="0">
            <a:spAutoFit/>
          </a:bodyPr>
          <a:lstStyle/>
          <a:p>
            <a:pPr>
              <a:lnSpc>
                <a:spcPct val="200000"/>
              </a:lnSpc>
              <a:spcAft>
                <a:spcPts val="200"/>
              </a:spcAft>
              <a:defRPr sz="750" b="1">
                <a:solidFill>
                  <a:srgbClr val="34D399"/>
                </a:solidFill>
                <a:latin typeface="Segoe UI"/>
              </a:defRPr>
            </a:pPr>
            <a:r>
              <a:t>TẦNG 2: HỌC SÂU (GPU) — RQ2</a:t>
            </a:r>
          </a:p>
          <a:p>
            <a:pPr>
              <a:lnSpc>
                <a:spcPct val="200000"/>
              </a:lnSpc>
              <a:spcAft>
                <a:spcPts val="400"/>
              </a:spcAft>
              <a:defRPr sz="950" b="1">
                <a:solidFill>
                  <a:srgbClr val="FFFFFF"/>
                </a:solidFill>
                <a:latin typeface="Segoe UI"/>
              </a:defRPr>
            </a:pPr>
            <a:r>
              <a:t>SIFT + LightGlue</a:t>
            </a:r>
          </a:p>
          <a:p>
            <a:pPr>
              <a:lnSpc>
                <a:spcPct val="200000"/>
              </a:lnSpc>
              <a:spcAft>
                <a:spcPts val="100"/>
              </a:spcAft>
              <a:defRPr sz="750">
                <a:solidFill>
                  <a:srgbClr val="94A3B8"/>
                </a:solidFill>
                <a:latin typeface="Segoe UI"/>
              </a:defRPr>
            </a:pPr>
            <a:r>
              <a:t>• Kích hoạt khi rủi ro đỏ</a:t>
            </a:r>
          </a:p>
          <a:p>
            <a:pPr>
              <a:lnSpc>
                <a:spcPct val="200000"/>
              </a:lnSpc>
              <a:spcAft>
                <a:spcPts val="100"/>
              </a:spcAft>
              <a:defRPr sz="750">
                <a:solidFill>
                  <a:srgbClr val="94A3B8"/>
                </a:solidFill>
                <a:latin typeface="Segoe UI"/>
              </a:defRPr>
            </a:pPr>
            <a:r>
              <a:t>• Giảm 85% tải so GPU full</a:t>
            </a:r>
          </a:p>
          <a:p>
            <a:pPr>
              <a:lnSpc>
                <a:spcPct val="200000"/>
              </a:lnSpc>
              <a:spcAft>
                <a:spcPts val="100"/>
              </a:spcAft>
              <a:defRPr sz="750">
                <a:solidFill>
                  <a:srgbClr val="94A3B8"/>
                </a:solidFill>
                <a:latin typeface="Segoe UI"/>
              </a:defRPr>
            </a:pPr>
            <a:r>
              <a:t>• Vượt trội góc xoay &amp; lặp vân</a:t>
            </a:r>
          </a:p>
        </p:txBody>
      </p:sp>
      <p:sp>
        <p:nvSpPr>
          <p:cNvPr id="18" name="TextBox 17"/>
          <p:cNvSpPr txBox="1"/>
          <p:nvPr/>
        </p:nvSpPr>
        <p:spPr>
          <a:xfrm>
            <a:off x="4553712" y="3840480"/>
            <a:ext cx="320040" cy="365760"/>
          </a:xfrm>
          <a:prstGeom prst="rect">
            <a:avLst/>
          </a:prstGeom>
          <a:noFill/>
        </p:spPr>
        <p:txBody>
          <a:bodyPr wrap="none" lIns="0" tIns="0" rIns="0" bIns="0">
            <a:spAutoFit/>
          </a:bodyPr>
          <a:lstStyle/>
          <a:p>
            <a:pPr algn="ctr">
              <a:lnSpc>
                <a:spcPct val="200000"/>
              </a:lnSpc>
            </a:pPr>
            <a:r>
              <a:rPr sz="1300" b="1">
                <a:solidFill>
                  <a:srgbClr val="34D399"/>
                </a:solidFill>
                <a:latin typeface="Segoe UI"/>
              </a:rPr>
              <a:t>→</a:t>
            </a:r>
          </a:p>
        </p:txBody>
      </p:sp>
      <p:sp>
        <p:nvSpPr>
          <p:cNvPr id="19" name="Rectangle 18"/>
          <p:cNvSpPr/>
          <p:nvPr/>
        </p:nvSpPr>
        <p:spPr>
          <a:xfrm>
            <a:off x="4892040" y="3291840"/>
            <a:ext cx="1828800" cy="1508760"/>
          </a:xfrm>
          <a:prstGeom prst="rect">
            <a:avLst/>
          </a:prstGeom>
          <a:solidFill>
            <a:srgbClr val="0F0F12"/>
          </a:solidFill>
          <a:ln w="9525">
            <a:solidFill>
              <a:srgbClr val="272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200000"/>
              </a:lnSpc>
            </a:pPr>
            <a:endParaRPr/>
          </a:p>
        </p:txBody>
      </p:sp>
      <p:sp>
        <p:nvSpPr>
          <p:cNvPr id="20" name="TextBox 19"/>
          <p:cNvSpPr txBox="1"/>
          <p:nvPr/>
        </p:nvSpPr>
        <p:spPr>
          <a:xfrm>
            <a:off x="5001768" y="3383280"/>
            <a:ext cx="1609344" cy="1325880"/>
          </a:xfrm>
          <a:prstGeom prst="rect">
            <a:avLst/>
          </a:prstGeom>
          <a:noFill/>
        </p:spPr>
        <p:txBody>
          <a:bodyPr wrap="square" lIns="0" tIns="0" rIns="0" bIns="0">
            <a:spAutoFit/>
          </a:bodyPr>
          <a:lstStyle/>
          <a:p>
            <a:pPr>
              <a:lnSpc>
                <a:spcPct val="200000"/>
              </a:lnSpc>
              <a:spcAft>
                <a:spcPts val="200"/>
              </a:spcAft>
              <a:defRPr sz="750" b="1">
                <a:solidFill>
                  <a:srgbClr val="34D399"/>
                </a:solidFill>
                <a:latin typeface="Segoe UI"/>
              </a:defRPr>
            </a:pPr>
            <a:r>
              <a:t>KHỐNG CHẾ DRIFT — RQ3</a:t>
            </a:r>
          </a:p>
          <a:p>
            <a:pPr>
              <a:lnSpc>
                <a:spcPct val="200000"/>
              </a:lnSpc>
              <a:spcAft>
                <a:spcPts val="400"/>
              </a:spcAft>
              <a:defRPr sz="950" b="1">
                <a:solidFill>
                  <a:srgbClr val="FFFFFF"/>
                </a:solidFill>
                <a:latin typeface="Segoe UI"/>
              </a:defRPr>
            </a:pPr>
            <a:r>
              <a:t>Bộ 3 Hành Vi Phục Hồi</a:t>
            </a:r>
          </a:p>
          <a:p>
            <a:pPr>
              <a:lnSpc>
                <a:spcPct val="200000"/>
              </a:lnSpc>
              <a:spcAft>
                <a:spcPts val="100"/>
              </a:spcAft>
              <a:defRPr sz="750">
                <a:solidFill>
                  <a:srgbClr val="94A3B8"/>
                </a:solidFill>
                <a:latin typeface="Segoe UI"/>
              </a:defRPr>
            </a:pPr>
            <a:r>
              <a:t>• M1: Bỏ qua rung lắc</a:t>
            </a:r>
          </a:p>
          <a:p>
            <a:pPr>
              <a:lnSpc>
                <a:spcPct val="200000"/>
              </a:lnSpc>
              <a:spcAft>
                <a:spcPts val="100"/>
              </a:spcAft>
              <a:defRPr sz="750">
                <a:solidFill>
                  <a:srgbClr val="94A3B8"/>
                </a:solidFill>
                <a:latin typeface="Segoe UI"/>
              </a:defRPr>
            </a:pPr>
            <a:r>
              <a:t>• M2: Tái đối sánh Keyframe</a:t>
            </a:r>
          </a:p>
          <a:p>
            <a:pPr>
              <a:lnSpc>
                <a:spcPct val="200000"/>
              </a:lnSpc>
              <a:spcAft>
                <a:spcPts val="100"/>
              </a:spcAft>
              <a:defRPr sz="750">
                <a:solidFill>
                  <a:srgbClr val="94A3B8"/>
                </a:solidFill>
                <a:latin typeface="Segoe UI"/>
              </a:defRPr>
            </a:pPr>
            <a:r>
              <a:t>• M3: Tách Submosaics</a:t>
            </a:r>
          </a:p>
        </p:txBody>
      </p:sp>
      <p:sp>
        <p:nvSpPr>
          <p:cNvPr id="21" name="TextBox 20"/>
          <p:cNvSpPr txBox="1"/>
          <p:nvPr/>
        </p:nvSpPr>
        <p:spPr>
          <a:xfrm>
            <a:off x="6748272" y="3566160"/>
            <a:ext cx="548640" cy="502920"/>
          </a:xfrm>
          <a:prstGeom prst="rect">
            <a:avLst/>
          </a:prstGeom>
          <a:noFill/>
        </p:spPr>
        <p:txBody>
          <a:bodyPr wrap="none" lIns="0" tIns="0" rIns="0" bIns="0">
            <a:spAutoFit/>
          </a:bodyPr>
          <a:lstStyle/>
          <a:p>
            <a:pPr algn="ctr">
              <a:lnSpc>
                <a:spcPct val="200000"/>
              </a:lnSpc>
            </a:pPr>
            <a:r>
              <a:rPr sz="1300" b="1">
                <a:solidFill>
                  <a:srgbClr val="34D399"/>
                </a:solidFill>
                <a:latin typeface="Segoe UI"/>
              </a:rPr>
              <a:t>↗</a:t>
            </a:r>
          </a:p>
          <a:p>
            <a:pPr algn="ctr">
              <a:lnSpc>
                <a:spcPct val="200000"/>
              </a:lnSpc>
            </a:pPr>
            <a:r>
              <a:rPr sz="700" b="1">
                <a:solidFill>
                  <a:srgbClr val="34D399"/>
                </a:solidFill>
                <a:latin typeface="Segoe UI"/>
              </a:rPr>
              <a:t>Hợp nhất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A0A0A"/>
        </a:solidFill>
        <a:effectLst/>
      </p:bgPr>
    </p:bg>
    <p:spTree>
      <p:nvGrpSpPr>
        <p:cNvPr id="1" name=""/>
        <p:cNvGrpSpPr/>
        <p:nvPr/>
      </p:nvGrpSpPr>
      <p:grpSpPr>
        <a:xfrm>
          <a:off x="0" y="0"/>
          <a:ext cx="0" cy="0"/>
          <a:chOff x="0" y="0"/>
          <a:chExt cx="0" cy="0"/>
        </a:xfrm>
      </p:grpSpPr>
      <p:sp>
        <p:nvSpPr>
          <p:cNvPr id="2" name="TextBox 1"/>
          <p:cNvSpPr txBox="1"/>
          <p:nvPr/>
        </p:nvSpPr>
        <p:spPr>
          <a:xfrm>
            <a:off x="731520" y="384048"/>
            <a:ext cx="7680960" cy="658368"/>
          </a:xfrm>
          <a:prstGeom prst="rect">
            <a:avLst/>
          </a:prstGeom>
          <a:noFill/>
        </p:spPr>
        <p:txBody>
          <a:bodyPr wrap="square" lIns="0" tIns="0" rIns="0" bIns="0">
            <a:spAutoFit/>
          </a:bodyPr>
          <a:lstStyle/>
          <a:p>
            <a:pPr algn="l">
              <a:lnSpc>
                <a:spcPct val="200000"/>
              </a:lnSpc>
              <a:spcAft>
                <a:spcPts val="400"/>
              </a:spcAft>
              <a:defRPr sz="850" b="1">
                <a:solidFill>
                  <a:srgbClr val="38BDF8"/>
                </a:solidFill>
                <a:latin typeface="Segoe UI"/>
              </a:defRPr>
            </a:pPr>
            <a:r>
              <a:t>06 / ĐỀ XUẤT ĐÓNG GÓP CỦA NHÓM</a:t>
            </a:r>
          </a:p>
          <a:p>
            <a:pPr algn="l">
              <a:lnSpc>
                <a:spcPct val="200000"/>
              </a:lnSpc>
              <a:defRPr sz="1750" b="1">
                <a:solidFill>
                  <a:srgbClr val="FFFFFF"/>
                </a:solidFill>
                <a:latin typeface="Segoe UI"/>
              </a:defRPr>
            </a:pPr>
            <a:r>
              <a:t>3 Đóng góp cốt lõi cho bài toán &amp; Lộ trình thực hiện 6 tuần</a:t>
            </a:r>
          </a:p>
        </p:txBody>
      </p:sp>
      <p:sp>
        <p:nvSpPr>
          <p:cNvPr id="3" name="Rectangle 2"/>
          <p:cNvSpPr/>
          <p:nvPr/>
        </p:nvSpPr>
        <p:spPr>
          <a:xfrm>
            <a:off x="731520" y="1115568"/>
            <a:ext cx="7680960" cy="12700"/>
          </a:xfrm>
          <a:prstGeom prst="rect">
            <a:avLst/>
          </a:prstGeom>
          <a:solidFill>
            <a:srgbClr val="27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200000"/>
              </a:lnSpc>
            </a:pPr>
            <a:endParaRPr/>
          </a:p>
        </p:txBody>
      </p:sp>
      <p:sp>
        <p:nvSpPr>
          <p:cNvPr id="4" name="TextBox 3"/>
          <p:cNvSpPr txBox="1"/>
          <p:nvPr/>
        </p:nvSpPr>
        <p:spPr>
          <a:xfrm>
            <a:off x="731520" y="1325880"/>
            <a:ext cx="3657600" cy="411480"/>
          </a:xfrm>
          <a:prstGeom prst="rect">
            <a:avLst/>
          </a:prstGeom>
          <a:noFill/>
        </p:spPr>
        <p:txBody>
          <a:bodyPr wrap="none" lIns="0" tIns="0" rIns="0" bIns="0">
            <a:spAutoFit/>
          </a:bodyPr>
          <a:lstStyle/>
          <a:p>
            <a:pPr>
              <a:lnSpc>
                <a:spcPct val="200000"/>
              </a:lnSpc>
              <a:defRPr sz="900" b="1">
                <a:solidFill>
                  <a:srgbClr val="38BDF8"/>
                </a:solidFill>
                <a:latin typeface="Segoe UI"/>
              </a:defRPr>
            </a:pPr>
            <a:r>
              <a:t>GIÁ TRỊ MANG LẠI CHO BÀI TOÁN</a:t>
            </a:r>
          </a:p>
          <a:p>
            <a:pPr>
              <a:lnSpc>
                <a:spcPct val="200000"/>
              </a:lnSpc>
              <a:defRPr sz="1200" b="1">
                <a:solidFill>
                  <a:srgbClr val="FFFFFF"/>
                </a:solidFill>
                <a:latin typeface="Segoe UI"/>
              </a:defRPr>
            </a:pPr>
            <a:r>
              <a:t>3 Đóng góp khoa học &amp; ứng dụng</a:t>
            </a:r>
          </a:p>
        </p:txBody>
      </p:sp>
      <p:sp>
        <p:nvSpPr>
          <p:cNvPr id="5" name="Rectangle 4"/>
          <p:cNvSpPr/>
          <p:nvPr/>
        </p:nvSpPr>
        <p:spPr>
          <a:xfrm>
            <a:off x="731520" y="1874519"/>
            <a:ext cx="3566160" cy="12700"/>
          </a:xfrm>
          <a:prstGeom prst="rect">
            <a:avLst/>
          </a:prstGeom>
          <a:solidFill>
            <a:srgbClr val="27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200000"/>
              </a:lnSpc>
            </a:pPr>
            <a:endParaRPr/>
          </a:p>
        </p:txBody>
      </p:sp>
      <p:sp>
        <p:nvSpPr>
          <p:cNvPr id="6" name="TextBox 5"/>
          <p:cNvSpPr txBox="1"/>
          <p:nvPr/>
        </p:nvSpPr>
        <p:spPr>
          <a:xfrm>
            <a:off x="731520" y="2011680"/>
            <a:ext cx="3566160" cy="2743200"/>
          </a:xfrm>
          <a:prstGeom prst="rect">
            <a:avLst/>
          </a:prstGeom>
          <a:noFill/>
        </p:spPr>
        <p:txBody>
          <a:bodyPr wrap="square" lIns="0" tIns="0" rIns="0" bIns="0">
            <a:spAutoFit/>
          </a:bodyPr>
          <a:lstStyle/>
          <a:p>
            <a:pPr>
              <a:lnSpc>
                <a:spcPct val="200000"/>
              </a:lnSpc>
              <a:spcAft>
                <a:spcPts val="200"/>
              </a:spcAft>
              <a:defRPr sz="1050" b="1">
                <a:solidFill>
                  <a:srgbClr val="FFFFFF"/>
                </a:solidFill>
                <a:latin typeface="Segoe UI"/>
              </a:defRPr>
            </a:pPr>
            <a:r>
              <a:t>01  Phân luồng thích ứng 2 tầng (RQ2)</a:t>
            </a:r>
          </a:p>
          <a:p>
            <a:pPr>
              <a:lnSpc>
                <a:spcPct val="200000"/>
              </a:lnSpc>
              <a:spcAft>
                <a:spcPts val="1200"/>
              </a:spcAft>
              <a:defRPr sz="850">
                <a:solidFill>
                  <a:srgbClr val="94A3B8"/>
                </a:solidFill>
                <a:latin typeface="Segoe UI"/>
              </a:defRPr>
            </a:pPr>
            <a:r>
              <a:t>Dung hòa triệt để bài toán đánh đổi giữa tài nguyên biên và độ bền vững trước cảnh UAV khó.</a:t>
            </a:r>
          </a:p>
          <a:p>
            <a:pPr>
              <a:lnSpc>
                <a:spcPct val="200000"/>
              </a:lnSpc>
              <a:spcAft>
                <a:spcPts val="200"/>
              </a:spcAft>
              <a:defRPr sz="1050" b="1">
                <a:solidFill>
                  <a:srgbClr val="FFFFFF"/>
                </a:solidFill>
                <a:latin typeface="Segoe UI"/>
              </a:defRPr>
            </a:pPr>
            <a:r>
              <a:t>02  Khung đối chuẩn rủi ro &amp; phục hồi (RQ1, RQ3)</a:t>
            </a:r>
          </a:p>
          <a:p>
            <a:pPr>
              <a:lnSpc>
                <a:spcPct val="200000"/>
              </a:lnSpc>
              <a:spcAft>
                <a:spcPts val="1200"/>
              </a:spcAft>
              <a:defRPr sz="850">
                <a:solidFill>
                  <a:srgbClr val="94A3B8"/>
                </a:solidFill>
                <a:latin typeface="Segoe UI"/>
              </a:defRPr>
            </a:pPr>
            <a:r>
              <a:t>Mô hình hóa định lượng tương quan giữa sai số tức thời và drift; quy chuẩn hóa 3 cơ chế phục hồi.</a:t>
            </a:r>
          </a:p>
          <a:p>
            <a:pPr>
              <a:lnSpc>
                <a:spcPct val="200000"/>
              </a:lnSpc>
              <a:spcAft>
                <a:spcPts val="200"/>
              </a:spcAft>
              <a:defRPr sz="1050" b="1">
                <a:solidFill>
                  <a:srgbClr val="FFFFFF"/>
                </a:solidFill>
                <a:latin typeface="Segoe UI"/>
              </a:defRPr>
            </a:pPr>
            <a:r>
              <a:t>03  Bộ công cụ mã nguồn mở hoàn chỉnh</a:t>
            </a:r>
          </a:p>
          <a:p>
            <a:pPr>
              <a:lnSpc>
                <a:spcPct val="200000"/>
              </a:lnSpc>
              <a:spcAft>
                <a:spcPts val="1200"/>
              </a:spcAft>
              <a:defRPr sz="850">
                <a:solidFill>
                  <a:srgbClr val="94A3B8"/>
                </a:solidFill>
                <a:latin typeface="Segoe UI"/>
              </a:defRPr>
            </a:pPr>
            <a:r>
              <a:t>Đóng gói toàn bộ pipeline 2D kèm bộ công cụ đo kiểm tự động (Evaluation Harness) trên dữ liệu thực tế.</a:t>
            </a:r>
          </a:p>
        </p:txBody>
      </p:sp>
      <p:sp>
        <p:nvSpPr>
          <p:cNvPr id="7" name="Rectangle 6"/>
          <p:cNvSpPr/>
          <p:nvPr/>
        </p:nvSpPr>
        <p:spPr>
          <a:xfrm>
            <a:off x="4526280" y="1325880"/>
            <a:ext cx="9144" cy="3302000"/>
          </a:xfrm>
          <a:prstGeom prst="rect">
            <a:avLst/>
          </a:prstGeom>
          <a:solidFill>
            <a:srgbClr val="27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200000"/>
              </a:lnSpc>
            </a:pPr>
            <a:endParaRPr/>
          </a:p>
        </p:txBody>
      </p:sp>
      <p:sp>
        <p:nvSpPr>
          <p:cNvPr id="8" name="TextBox 7"/>
          <p:cNvSpPr txBox="1"/>
          <p:nvPr/>
        </p:nvSpPr>
        <p:spPr>
          <a:xfrm>
            <a:off x="4754880" y="1325880"/>
            <a:ext cx="3657600" cy="411480"/>
          </a:xfrm>
          <a:prstGeom prst="rect">
            <a:avLst/>
          </a:prstGeom>
          <a:noFill/>
        </p:spPr>
        <p:txBody>
          <a:bodyPr wrap="none" lIns="0" tIns="0" rIns="0" bIns="0">
            <a:spAutoFit/>
          </a:bodyPr>
          <a:lstStyle/>
          <a:p>
            <a:pPr>
              <a:lnSpc>
                <a:spcPct val="200000"/>
              </a:lnSpc>
              <a:defRPr sz="900" b="1">
                <a:solidFill>
                  <a:srgbClr val="34D399"/>
                </a:solidFill>
                <a:latin typeface="Segoe UI"/>
              </a:defRPr>
            </a:pPr>
            <a:r>
              <a:t>LỘ TRÌNH THỰC HIỆN 6 TUẦN</a:t>
            </a:r>
          </a:p>
          <a:p>
            <a:pPr>
              <a:lnSpc>
                <a:spcPct val="200000"/>
              </a:lnSpc>
              <a:defRPr sz="1200" b="1">
                <a:solidFill>
                  <a:srgbClr val="FFFFFF"/>
                </a:solidFill>
                <a:latin typeface="Segoe UI"/>
              </a:defRPr>
            </a:pPr>
            <a:r>
              <a:t>Tiến độ 21/09/2026 – 31/10/2026</a:t>
            </a:r>
          </a:p>
        </p:txBody>
      </p:sp>
      <p:sp>
        <p:nvSpPr>
          <p:cNvPr id="9" name="Rectangle 8"/>
          <p:cNvSpPr/>
          <p:nvPr/>
        </p:nvSpPr>
        <p:spPr>
          <a:xfrm>
            <a:off x="4754880" y="1874519"/>
            <a:ext cx="3657600" cy="12700"/>
          </a:xfrm>
          <a:prstGeom prst="rect">
            <a:avLst/>
          </a:prstGeom>
          <a:solidFill>
            <a:srgbClr val="27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200000"/>
              </a:lnSpc>
            </a:pPr>
            <a:endParaRPr/>
          </a:p>
        </p:txBody>
      </p:sp>
      <p:sp>
        <p:nvSpPr>
          <p:cNvPr id="10" name="TextBox 9"/>
          <p:cNvSpPr txBox="1"/>
          <p:nvPr/>
        </p:nvSpPr>
        <p:spPr>
          <a:xfrm>
            <a:off x="4754880" y="2011680"/>
            <a:ext cx="3657600" cy="2743200"/>
          </a:xfrm>
          <a:prstGeom prst="rect">
            <a:avLst/>
          </a:prstGeom>
          <a:noFill/>
        </p:spPr>
        <p:txBody>
          <a:bodyPr wrap="square" lIns="0" tIns="0" rIns="0" bIns="0">
            <a:spAutoFit/>
          </a:bodyPr>
          <a:lstStyle/>
          <a:p>
            <a:pPr>
              <a:lnSpc>
                <a:spcPct val="200000"/>
              </a:lnSpc>
              <a:spcAft>
                <a:spcPts val="200"/>
              </a:spcAft>
            </a:pPr>
            <a:r>
              <a:rPr sz="950" b="1">
                <a:solidFill>
                  <a:srgbClr val="34D399"/>
                </a:solidFill>
                <a:latin typeface="Segoe UI"/>
              </a:rPr>
              <a:t>W1 (21/9 – 27/9)  ·  </a:t>
            </a:r>
            <a:r>
              <a:rPr sz="950" b="1">
                <a:solidFill>
                  <a:srgbClr val="FFFFFF"/>
                </a:solidFill>
                <a:latin typeface="Segoe UI"/>
              </a:rPr>
              <a:t>[Đức Nam]</a:t>
            </a:r>
          </a:p>
          <a:p>
            <a:pPr>
              <a:lnSpc>
                <a:spcPct val="200000"/>
              </a:lnSpc>
              <a:spcAft>
                <a:spcPts val="600"/>
              </a:spcAft>
              <a:defRPr sz="850">
                <a:solidFill>
                  <a:srgbClr val="94A3B8"/>
                </a:solidFill>
                <a:latin typeface="Segoe UI"/>
              </a:defRPr>
            </a:pPr>
            <a:r>
              <a:t>Chuẩn hóa NPU/DroneZaic &amp; Dựng Evaluation Harness</a:t>
            </a:r>
          </a:p>
          <a:p>
            <a:pPr>
              <a:lnSpc>
                <a:spcPct val="200000"/>
              </a:lnSpc>
              <a:spcAft>
                <a:spcPts val="200"/>
              </a:spcAft>
            </a:pPr>
            <a:r>
              <a:rPr sz="950" b="1">
                <a:solidFill>
                  <a:srgbClr val="34D399"/>
                </a:solidFill>
                <a:latin typeface="Segoe UI"/>
              </a:rPr>
              <a:t>W2 (28/9 – 04/10)  ·  </a:t>
            </a:r>
            <a:r>
              <a:rPr sz="950" b="1">
                <a:solidFill>
                  <a:srgbClr val="FFFFFF"/>
                </a:solidFill>
                <a:latin typeface="Segoe UI"/>
              </a:rPr>
              <a:t>[Quang Sáng]</a:t>
            </a:r>
          </a:p>
          <a:p>
            <a:pPr>
              <a:lnSpc>
                <a:spcPct val="200000"/>
              </a:lnSpc>
              <a:spcAft>
                <a:spcPts val="600"/>
              </a:spcAft>
              <a:defRPr sz="850">
                <a:solidFill>
                  <a:srgbClr val="94A3B8"/>
                </a:solidFill>
                <a:latin typeface="Segoe UI"/>
              </a:defRPr>
            </a:pPr>
            <a:r>
              <a:t>Xây dựng pipeline cơ sở ghép tuần tự Homography 2D</a:t>
            </a:r>
          </a:p>
          <a:p>
            <a:pPr>
              <a:lnSpc>
                <a:spcPct val="200000"/>
              </a:lnSpc>
              <a:spcAft>
                <a:spcPts val="200"/>
              </a:spcAft>
            </a:pPr>
            <a:r>
              <a:rPr sz="950" b="1">
                <a:solidFill>
                  <a:srgbClr val="34D399"/>
                </a:solidFill>
                <a:latin typeface="Segoe UI"/>
              </a:rPr>
              <a:t>W3 (05/10 – 11/10)  ·  </a:t>
            </a:r>
            <a:r>
              <a:rPr sz="950" b="1">
                <a:solidFill>
                  <a:srgbClr val="FFFFFF"/>
                </a:solidFill>
                <a:latin typeface="Segoe UI"/>
              </a:rPr>
              <a:t>[Nguyên Khôi]</a:t>
            </a:r>
          </a:p>
          <a:p>
            <a:pPr>
              <a:lnSpc>
                <a:spcPct val="200000"/>
              </a:lnSpc>
              <a:spcAft>
                <a:spcPts val="600"/>
              </a:spcAft>
              <a:defRPr sz="850">
                <a:solidFill>
                  <a:srgbClr val="94A3B8"/>
                </a:solidFill>
                <a:latin typeface="Segoe UI"/>
              </a:defRPr>
            </a:pPr>
            <a:r>
              <a:t>Mô hình hóa chỉ báo rủi ro RQ1 &amp; Matcher Router RQ2</a:t>
            </a:r>
          </a:p>
          <a:p>
            <a:pPr>
              <a:lnSpc>
                <a:spcPct val="200000"/>
              </a:lnSpc>
              <a:spcAft>
                <a:spcPts val="200"/>
              </a:spcAft>
            </a:pPr>
            <a:r>
              <a:rPr sz="950" b="1">
                <a:solidFill>
                  <a:srgbClr val="34D399"/>
                </a:solidFill>
                <a:latin typeface="Segoe UI"/>
              </a:rPr>
              <a:t>W4 (12/10 – 18/10)  ·  </a:t>
            </a:r>
            <a:r>
              <a:rPr sz="950" b="1">
                <a:solidFill>
                  <a:srgbClr val="FFFFFF"/>
                </a:solidFill>
                <a:latin typeface="Segoe UI"/>
              </a:rPr>
              <a:t>[Đăng Khoa]</a:t>
            </a:r>
          </a:p>
          <a:p>
            <a:pPr>
              <a:lnSpc>
                <a:spcPct val="200000"/>
              </a:lnSpc>
              <a:spcAft>
                <a:spcPts val="600"/>
              </a:spcAft>
              <a:defRPr sz="850">
                <a:solidFill>
                  <a:srgbClr val="94A3B8"/>
                </a:solidFill>
                <a:latin typeface="Segoe UI"/>
              </a:defRPr>
            </a:pPr>
            <a:r>
              <a:t>Module phục hồi có kiểm soát RQ3 &amp; Tích hợp hệ thống</a:t>
            </a:r>
          </a:p>
          <a:p>
            <a:pPr>
              <a:lnSpc>
                <a:spcPct val="200000"/>
              </a:lnSpc>
              <a:spcAft>
                <a:spcPts val="200"/>
              </a:spcAft>
            </a:pPr>
            <a:r>
              <a:rPr sz="950" b="1">
                <a:solidFill>
                  <a:srgbClr val="34D399"/>
                </a:solidFill>
                <a:latin typeface="Segoe UI"/>
              </a:rPr>
              <a:t>W5-6 (19/10 – 31/10)  ·  </a:t>
            </a:r>
            <a:r>
              <a:rPr sz="950" b="1">
                <a:solidFill>
                  <a:srgbClr val="FFFFFF"/>
                </a:solidFill>
                <a:latin typeface="Segoe UI"/>
              </a:rPr>
              <a:t>[Cả nhóm]</a:t>
            </a:r>
          </a:p>
          <a:p>
            <a:pPr>
              <a:lnSpc>
                <a:spcPct val="200000"/>
              </a:lnSpc>
              <a:spcAft>
                <a:spcPts val="600"/>
              </a:spcAft>
              <a:defRPr sz="850">
                <a:solidFill>
                  <a:srgbClr val="94A3B8"/>
                </a:solidFill>
                <a:latin typeface="Segoe UI"/>
              </a:defRPr>
            </a:pPr>
            <a:r>
              <a:t>Benchmark diện rộng, phân tích số liệu &amp; Hoàn thiện báo cáo</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A0A0A"/>
        </a:solidFill>
        <a:effectLst/>
      </p:bgPr>
    </p:bg>
    <p:spTree>
      <p:nvGrpSpPr>
        <p:cNvPr id="1" name=""/>
        <p:cNvGrpSpPr/>
        <p:nvPr/>
      </p:nvGrpSpPr>
      <p:grpSpPr>
        <a:xfrm>
          <a:off x="0" y="0"/>
          <a:ext cx="0" cy="0"/>
          <a:chOff x="0" y="0"/>
          <a:chExt cx="0" cy="0"/>
        </a:xfrm>
      </p:grpSpPr>
      <p:sp>
        <p:nvSpPr>
          <p:cNvPr id="2" name="TextBox 1"/>
          <p:cNvSpPr txBox="1"/>
          <p:nvPr/>
        </p:nvSpPr>
        <p:spPr>
          <a:xfrm>
            <a:off x="731520" y="384048"/>
            <a:ext cx="7680960" cy="658368"/>
          </a:xfrm>
          <a:prstGeom prst="rect">
            <a:avLst/>
          </a:prstGeom>
          <a:noFill/>
        </p:spPr>
        <p:txBody>
          <a:bodyPr wrap="square" lIns="0" tIns="0" rIns="0" bIns="0">
            <a:spAutoFit/>
          </a:bodyPr>
          <a:lstStyle/>
          <a:p>
            <a:pPr algn="l">
              <a:lnSpc>
                <a:spcPct val="200000"/>
              </a:lnSpc>
              <a:spcAft>
                <a:spcPts val="400"/>
              </a:spcAft>
              <a:defRPr sz="850" b="1">
                <a:solidFill>
                  <a:srgbClr val="38BDF8"/>
                </a:solidFill>
                <a:latin typeface="Segoe UI"/>
              </a:defRPr>
            </a:pPr>
            <a:r>
              <a:t>07 / TỔNG KẾT ĐỀ CƯƠNG NGHIÊN CỨU</a:t>
            </a:r>
          </a:p>
          <a:p>
            <a:pPr algn="l">
              <a:lnSpc>
                <a:spcPct val="200000"/>
              </a:lnSpc>
              <a:defRPr sz="1750" b="1">
                <a:solidFill>
                  <a:srgbClr val="FFFFFF"/>
                </a:solidFill>
                <a:latin typeface="Segoe UI"/>
              </a:defRPr>
            </a:pPr>
            <a:r>
              <a:t>Failure-Aware 2D Aerial Mosaicking for UAV Video</a:t>
            </a:r>
          </a:p>
        </p:txBody>
      </p:sp>
      <p:sp>
        <p:nvSpPr>
          <p:cNvPr id="3" name="Rectangle 2"/>
          <p:cNvSpPr/>
          <p:nvPr/>
        </p:nvSpPr>
        <p:spPr>
          <a:xfrm>
            <a:off x="731520" y="1115568"/>
            <a:ext cx="7680960" cy="12700"/>
          </a:xfrm>
          <a:prstGeom prst="rect">
            <a:avLst/>
          </a:prstGeom>
          <a:solidFill>
            <a:srgbClr val="27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200000"/>
              </a:lnSpc>
            </a:pPr>
            <a:endParaRPr/>
          </a:p>
        </p:txBody>
      </p:sp>
      <p:sp>
        <p:nvSpPr>
          <p:cNvPr id="4" name="TextBox 3"/>
          <p:cNvSpPr txBox="1"/>
          <p:nvPr/>
        </p:nvSpPr>
        <p:spPr>
          <a:xfrm>
            <a:off x="731520" y="1371600"/>
            <a:ext cx="7680960" cy="2377440"/>
          </a:xfrm>
          <a:prstGeom prst="rect">
            <a:avLst/>
          </a:prstGeom>
          <a:noFill/>
        </p:spPr>
        <p:txBody>
          <a:bodyPr wrap="square" lIns="0" tIns="0" rIns="0" bIns="0">
            <a:spAutoFit/>
          </a:bodyPr>
          <a:lstStyle/>
          <a:p>
            <a:pPr>
              <a:lnSpc>
                <a:spcPct val="200000"/>
              </a:lnSpc>
              <a:spcAft>
                <a:spcPts val="200"/>
              </a:spcAft>
              <a:defRPr sz="1100" b="1">
                <a:solidFill>
                  <a:srgbClr val="FFFFFF"/>
                </a:solidFill>
                <a:latin typeface="Segoe UI"/>
              </a:defRPr>
            </a:pPr>
            <a:r>
              <a:t>01  Tính thời sự &amp; thực tiễn cao</a:t>
            </a:r>
          </a:p>
          <a:p>
            <a:pPr>
              <a:lnSpc>
                <a:spcPct val="200000"/>
              </a:lnSpc>
              <a:spcAft>
                <a:spcPts val="1000"/>
              </a:spcAft>
              <a:defRPr sz="850">
                <a:solidFill>
                  <a:srgbClr val="94A3B8"/>
                </a:solidFill>
                <a:latin typeface="Segoe UI"/>
              </a:defRPr>
            </a:pPr>
            <a:r>
              <a:t>Tạo bản đồ ảnh 2D hiện trường nhanh phục vụ cứu hộ thiên tai, bão lũ và nông nghiệp; khắc phục triệt để mất dấu và trôi dạt tích lũy mà không ép buộc GPS RTK đắt tiền.</a:t>
            </a:r>
          </a:p>
          <a:p>
            <a:pPr>
              <a:lnSpc>
                <a:spcPct val="200000"/>
              </a:lnSpc>
              <a:spcAft>
                <a:spcPts val="200"/>
              </a:spcAft>
              <a:defRPr sz="1100" b="1">
                <a:solidFill>
                  <a:srgbClr val="FFFFFF"/>
                </a:solidFill>
                <a:latin typeface="Segoe UI"/>
              </a:defRPr>
            </a:pPr>
            <a:r>
              <a:t>02  Đột phá phương pháp tiếp cận</a:t>
            </a:r>
          </a:p>
          <a:p>
            <a:pPr>
              <a:lnSpc>
                <a:spcPct val="200000"/>
              </a:lnSpc>
              <a:spcAft>
                <a:spcPts val="1000"/>
              </a:spcAft>
              <a:defRPr sz="850">
                <a:solidFill>
                  <a:srgbClr val="94A3B8"/>
                </a:solidFill>
                <a:latin typeface="Segoe UI"/>
              </a:defRPr>
            </a:pPr>
            <a:r>
              <a:t>Khung làm việc 2 tầng kết hợp cảnh báo rủi ro sớm (Risk Gate) và phân luồng thích ứng (Matcher Router) giúp hệ thống vận hành trơn tru ngay trên laptop cá nhân thông thường.</a:t>
            </a:r>
          </a:p>
          <a:p>
            <a:pPr>
              <a:lnSpc>
                <a:spcPct val="200000"/>
              </a:lnSpc>
              <a:spcAft>
                <a:spcPts val="200"/>
              </a:spcAft>
              <a:defRPr sz="1100" b="1">
                <a:solidFill>
                  <a:srgbClr val="FFFFFF"/>
                </a:solidFill>
                <a:latin typeface="Segoe UI"/>
              </a:defRPr>
            </a:pPr>
            <a:r>
              <a:t>03  Kế hoạch khả thi &amp; sẵn sàng</a:t>
            </a:r>
          </a:p>
          <a:p>
            <a:pPr>
              <a:lnSpc>
                <a:spcPct val="200000"/>
              </a:lnSpc>
              <a:spcAft>
                <a:spcPts val="1000"/>
              </a:spcAft>
              <a:defRPr sz="850">
                <a:solidFill>
                  <a:srgbClr val="94A3B8"/>
                </a:solidFill>
                <a:latin typeface="Segoe UI"/>
              </a:defRPr>
            </a:pPr>
            <a:r>
              <a:t>Dữ liệu UAV thật từ NPU Drone-Map và DroneZaic đã sẵn sàng, 4 thành viên phân công trách nhiệm rõ ràng theo lộ trình 6 tuần cụ thể, cam kết hoàn thành đúng hạn.</a:t>
            </a:r>
          </a:p>
        </p:txBody>
      </p:sp>
      <p:sp>
        <p:nvSpPr>
          <p:cNvPr id="5" name="Rectangle 4"/>
          <p:cNvSpPr/>
          <p:nvPr/>
        </p:nvSpPr>
        <p:spPr>
          <a:xfrm>
            <a:off x="731520" y="3931920"/>
            <a:ext cx="7680960" cy="12700"/>
          </a:xfrm>
          <a:prstGeom prst="rect">
            <a:avLst/>
          </a:prstGeom>
          <a:solidFill>
            <a:srgbClr val="27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200000"/>
              </a:lnSpc>
            </a:pPr>
            <a:endParaRPr/>
          </a:p>
        </p:txBody>
      </p:sp>
      <p:sp>
        <p:nvSpPr>
          <p:cNvPr id="6" name="TextBox 5"/>
          <p:cNvSpPr txBox="1"/>
          <p:nvPr/>
        </p:nvSpPr>
        <p:spPr>
          <a:xfrm>
            <a:off x="731520" y="4069080"/>
            <a:ext cx="7680960" cy="215444"/>
          </a:xfrm>
          <a:prstGeom prst="rect">
            <a:avLst/>
          </a:prstGeom>
          <a:noFill/>
        </p:spPr>
        <p:txBody>
          <a:bodyPr wrap="square" lIns="0" tIns="0" rIns="0" bIns="0">
            <a:spAutoFit/>
          </a:bodyPr>
          <a:lstStyle/>
          <a:p>
            <a:pPr>
              <a:lnSpc>
                <a:spcPct val="200000"/>
              </a:lnSpc>
              <a:spcAft>
                <a:spcPts val="300"/>
              </a:spcAft>
              <a:defRPr sz="1400" b="1">
                <a:solidFill>
                  <a:srgbClr val="FFFFFF"/>
                </a:solidFill>
                <a:latin typeface="Segoe UI"/>
              </a:defRPr>
            </a:pPr>
            <a:r>
              <a:rPr dirty="0" err="1"/>
              <a:t>Nhóm</a:t>
            </a:r>
            <a:r>
              <a:rPr dirty="0"/>
              <a:t> 09 </a:t>
            </a:r>
            <a:r>
              <a:rPr dirty="0" err="1"/>
              <a:t>xin</a:t>
            </a:r>
            <a:r>
              <a:rPr dirty="0"/>
              <a:t> </a:t>
            </a:r>
            <a:r>
              <a:rPr dirty="0" err="1"/>
              <a:t>chân</a:t>
            </a:r>
            <a:r>
              <a:rPr dirty="0"/>
              <a:t> </a:t>
            </a:r>
            <a:r>
              <a:rPr dirty="0" err="1"/>
              <a:t>thành</a:t>
            </a:r>
            <a:r>
              <a:rPr dirty="0"/>
              <a:t> </a:t>
            </a:r>
            <a:r>
              <a:rPr dirty="0" err="1"/>
              <a:t>cảm</a:t>
            </a:r>
            <a:r>
              <a:rPr dirty="0"/>
              <a:t> </a:t>
            </a:r>
            <a:r>
              <a:rPr dirty="0" err="1"/>
              <a:t>ơn</a:t>
            </a:r>
            <a:r>
              <a:rPr dirty="0"/>
              <a:t> </a:t>
            </a:r>
            <a:r>
              <a:rPr lang="en-US" dirty="0" err="1"/>
              <a:t>Thầy</a:t>
            </a:r>
            <a:r>
              <a:rPr lang="en-US" dirty="0"/>
              <a:t> </a:t>
            </a:r>
            <a:r>
              <a:rPr lang="en-US" dirty="0" err="1"/>
              <a:t>và</a:t>
            </a:r>
            <a:r>
              <a:rPr lang="en-US" dirty="0"/>
              <a:t> </a:t>
            </a:r>
            <a:r>
              <a:rPr lang="en-US" dirty="0" err="1"/>
              <a:t>các</a:t>
            </a:r>
            <a:r>
              <a:rPr lang="en-US" dirty="0"/>
              <a:t> </a:t>
            </a:r>
            <a:r>
              <a:rPr lang="en-US" dirty="0" err="1"/>
              <a:t>bạn</a:t>
            </a:r>
            <a:r>
              <a:rPr lang="en-US" dirty="0"/>
              <a:t> </a:t>
            </a:r>
            <a:r>
              <a:rPr lang="en-US" dirty="0" err="1"/>
              <a:t>đã</a:t>
            </a:r>
            <a:r>
              <a:rPr lang="en-US" dirty="0"/>
              <a:t> </a:t>
            </a:r>
            <a:r>
              <a:rPr lang="en-US" dirty="0" err="1"/>
              <a:t>nghe</a:t>
            </a:r>
            <a:r>
              <a:rPr dirty="0"/>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1589</Words>
  <Application>Microsoft Office PowerPoint</Application>
  <PresentationFormat>On-screen Show (16:9)</PresentationFormat>
  <Paragraphs>163</Paragraphs>
  <Slides>8</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Aptos</vt:lpstr>
      <vt:lpstr>Arial</vt:lpstr>
      <vt:lpstr>Calibri</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diep sang</cp:lastModifiedBy>
  <cp:revision>3</cp:revision>
  <dcterms:created xsi:type="dcterms:W3CDTF">2013-01-27T09:14:16Z</dcterms:created>
  <dcterms:modified xsi:type="dcterms:W3CDTF">2026-09-19T08:28:42Z</dcterms:modified>
  <cp:category/>
</cp:coreProperties>
</file>