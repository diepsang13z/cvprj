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chào Thầy và Hội đồng. Nhóm 09 xin trình bày đề cương nghiên cứu: Ghép bản đồ ảnh 2D từ video UAV với cơ chế cảnh báo lỗi và tự thích ứng tài nguyên.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tóm tắt 3 trụ cột giải pháp: Dự báo lỗi sớm, phân luồng tài nguyên hai tầng, và phục hồi có kiểm soát để giải quyết trọn vẹn bài toán trôi dạt.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sự khác biệt: Đề tài không cạnh tranh với phần mềm trắc địa 3D nặng, mà tập trung giải quyết nhu cầu tạo bản đồ 2D nhanh tức thời tại thực địa.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tích 3 khoảng trống nghiên cứu chính để làm cơ sở cho 3 câu hỏi nghiên cứu RQ1, RQ2, RQ3 của đề tài.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RQ này được quy định chính thức trong RDR-0003, tạo thành một khung đánh giá logic, khép kín.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Đảm bảo đề tài có tính thực thi cao: dữ liệu drone thật đã có sẵn, công nghệ tiêu chuẩn, hạ tầng máy tính cá nhân hoàn toàn đáp 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Sơ đồ mô tả quy trình khép kín: Classical xử lý phần lớn frame, Risk Gate định tuyến frame khó sang LightGlue, và Recovery xử lý triệt để các ca mất dấu.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đối chuẩn chặt chẽ giữa 3 baseline và 3 nhóm chỉ số (độ chính xác hình học, độ ổn định, hiệu năng thời gian thực).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 hoạch 6 tuần bám sát tiến độ nghiên cứu, mỗi thành viên chịu trách nhiệm chính một phân hệ cốt lõi.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Khẳng định 3 kết quả cụ thể: mã nguồn chạy được, bộ số liệu thực nghiệm khoa học, và bài báo tổng kết.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lược thông điệp cốt lõi và mời Thầy cùng Hội đồng đóng góp ý kiến phản biện.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731520" y="640080"/>
            <a:ext cx="4389120" cy="320040"/>
          </a:xfrm>
          <a:prstGeom prst="roundRect">
            <a:avLst>
              <a:gd name="adj" fmla="val 22857"/>
            </a:avLst>
          </a:prstGeom>
          <a:solidFill>
            <a:srgbClr val="1E293B"/>
          </a:solidFill>
          <a:ln w="12700">
            <a:solidFill>
              <a:srgbClr val="334155"/>
            </a:solidFill>
            <a:prstDash val="solid"/>
          </a:ln>
        </p:spPr>
      </p:sp>
      <p:sp>
        <p:nvSpPr>
          <p:cNvPr id="3" name="Text 1"/>
          <p:cNvSpPr/>
          <p:nvPr/>
        </p:nvSpPr>
        <p:spPr>
          <a:xfrm>
            <a:off x="822960" y="667512"/>
            <a:ext cx="4206240" cy="256032"/>
          </a:xfrm>
          <a:prstGeom prst="rect">
            <a:avLst/>
          </a:prstGeom>
          <a:noFill/>
          <a:ln/>
        </p:spPr>
        <p:txBody>
          <a:bodyPr wrap="square" lIns="0" tIns="0" rIns="0" bIns="0" rtlCol="0" anchor="ctr"/>
          <a:lstStyle/>
          <a:p>
            <a:pPr indent="0" marL="0">
              <a:buNone/>
            </a:pPr>
            <a:r>
              <a:rPr lang="en-US" sz="950" b="1" dirty="0">
                <a:solidFill>
                  <a:srgbClr val="0EA5E9"/>
                </a:solidFill>
                <a:latin typeface="Calibri" pitchFamily="34" charset="0"/>
                <a:ea typeface="Calibri" pitchFamily="34" charset="-122"/>
                <a:cs typeface="Calibri" pitchFamily="34" charset="-120"/>
              </a:rPr>
              <a:t>AI2002 • RESEARCH PROPOSAL DEFENSE</a:t>
            </a:r>
            <a:endParaRPr lang="en-US" sz="950" dirty="0"/>
          </a:p>
        </p:txBody>
      </p:sp>
      <p:sp>
        <p:nvSpPr>
          <p:cNvPr id="4" name="Text 2"/>
          <p:cNvSpPr/>
          <p:nvPr/>
        </p:nvSpPr>
        <p:spPr>
          <a:xfrm>
            <a:off x="731520" y="1143000"/>
            <a:ext cx="7680960" cy="1280160"/>
          </a:xfrm>
          <a:prstGeom prst="rect">
            <a:avLst/>
          </a:prstGeom>
          <a:noFill/>
          <a:ln/>
        </p:spPr>
        <p:txBody>
          <a:bodyPr wrap="square" lIns="0" tIns="0" rIns="0" bIns="0" rtlCol="0" anchor="ctr"/>
          <a:lstStyle/>
          <a:p>
            <a:pPr indent="0" marL="0">
              <a:lnSpc>
                <a:spcPct val="115000"/>
              </a:lnSpc>
              <a:buNone/>
            </a:pPr>
            <a:r>
              <a:rPr lang="en-US" sz="2600" b="1" dirty="0">
                <a:solidFill>
                  <a:srgbClr val="FFFFFF"/>
                </a:solidFill>
                <a:latin typeface="Calibri" pitchFamily="34" charset="0"/>
                <a:ea typeface="Calibri" pitchFamily="34" charset="-122"/>
                <a:cs typeface="Calibri" pitchFamily="34" charset="-120"/>
              </a:rPr>
              <a:t>Failure-Aware and Resource-Adaptive</a:t>
            </a:r>
            <a:endParaRPr lang="en-US" sz="2600" dirty="0"/>
          </a:p>
          <a:p>
            <a:pPr indent="0" marL="0">
              <a:lnSpc>
                <a:spcPct val="115000"/>
              </a:lnSpc>
              <a:buNone/>
            </a:pPr>
            <a:r>
              <a:rPr lang="en-US" sz="2600" b="1" dirty="0">
                <a:solidFill>
                  <a:srgbClr val="FFFFFF"/>
                </a:solidFill>
                <a:latin typeface="Calibri" pitchFamily="34" charset="0"/>
                <a:ea typeface="Calibri" pitchFamily="34" charset="-122"/>
                <a:cs typeface="Calibri" pitchFamily="34" charset="-120"/>
              </a:rPr>
              <a:t>2D Aerial Mosaicking for UAV Video</a:t>
            </a:r>
            <a:endParaRPr lang="en-US" sz="2600" dirty="0"/>
          </a:p>
        </p:txBody>
      </p:sp>
      <p:sp>
        <p:nvSpPr>
          <p:cNvPr id="5" name="Text 3"/>
          <p:cNvSpPr/>
          <p:nvPr/>
        </p:nvSpPr>
        <p:spPr>
          <a:xfrm>
            <a:off x="731520" y="2514600"/>
            <a:ext cx="7680960" cy="457200"/>
          </a:xfrm>
          <a:prstGeom prst="rect">
            <a:avLst/>
          </a:prstGeom>
          <a:noFill/>
          <a:ln/>
        </p:spPr>
        <p:txBody>
          <a:bodyPr wrap="square" lIns="0" tIns="0" rIns="0" bIns="0" rtlCol="0" anchor="ctr"/>
          <a:lstStyle/>
          <a:p>
            <a:pPr indent="0" marL="0">
              <a:buNone/>
            </a:pPr>
            <a:r>
              <a:rPr lang="en-US" sz="1300" i="1" dirty="0">
                <a:solidFill>
                  <a:srgbClr val="CADCFC"/>
                </a:solidFill>
                <a:latin typeface="Calibri" pitchFamily="34" charset="0"/>
                <a:ea typeface="Calibri" pitchFamily="34" charset="-122"/>
                <a:cs typeface="Calibri" pitchFamily="34" charset="-120"/>
              </a:rPr>
              <a:t>Xây dựng bản đồ ảnh 2D từ video UAV với cơ chế cảnh báo lỗi và tự thích ứng tài nguyên</a:t>
            </a:r>
            <a:endParaRPr lang="en-US" sz="1300" dirty="0"/>
          </a:p>
        </p:txBody>
      </p:sp>
      <p:sp>
        <p:nvSpPr>
          <p:cNvPr id="6" name="Shape 4"/>
          <p:cNvSpPr/>
          <p:nvPr/>
        </p:nvSpPr>
        <p:spPr>
          <a:xfrm>
            <a:off x="731520" y="3246120"/>
            <a:ext cx="7680960" cy="1325880"/>
          </a:xfrm>
          <a:prstGeom prst="roundRect">
            <a:avLst>
              <a:gd name="adj" fmla="val 6897"/>
            </a:avLst>
          </a:prstGeom>
          <a:solidFill>
            <a:srgbClr val="1E293B"/>
          </a:solidFill>
          <a:ln w="12700">
            <a:solidFill>
              <a:srgbClr val="334155"/>
            </a:solidFill>
            <a:prstDash val="solid"/>
          </a:ln>
        </p:spPr>
      </p:sp>
      <p:sp>
        <p:nvSpPr>
          <p:cNvPr id="7" name="Text 5"/>
          <p:cNvSpPr/>
          <p:nvPr/>
        </p:nvSpPr>
        <p:spPr>
          <a:xfrm>
            <a:off x="1005840" y="3429000"/>
            <a:ext cx="2926080" cy="228600"/>
          </a:xfrm>
          <a:prstGeom prst="rect">
            <a:avLst/>
          </a:prstGeom>
          <a:noFill/>
          <a:ln/>
        </p:spPr>
        <p:txBody>
          <a:bodyPr wrap="square" lIns="0" tIns="0" rIns="0" bIns="0" rtlCol="0" anchor="ctr"/>
          <a:lstStyle/>
          <a:p>
            <a:pPr indent="0" marL="0">
              <a:buNone/>
            </a:pPr>
            <a:r>
              <a:rPr lang="en-US" sz="900" b="1" dirty="0">
                <a:solidFill>
                  <a:srgbClr val="94A3B8"/>
                </a:solidFill>
                <a:latin typeface="Calibri" pitchFamily="34" charset="0"/>
                <a:ea typeface="Calibri" pitchFamily="34" charset="-122"/>
                <a:cs typeface="Calibri" pitchFamily="34" charset="-120"/>
              </a:rPr>
              <a:t>GIẢNG VIÊN HƯỚNG DẪN</a:t>
            </a:r>
            <a:endParaRPr lang="en-US" sz="900" dirty="0"/>
          </a:p>
        </p:txBody>
      </p:sp>
      <p:sp>
        <p:nvSpPr>
          <p:cNvPr id="8" name="Text 6"/>
          <p:cNvSpPr/>
          <p:nvPr/>
        </p:nvSpPr>
        <p:spPr>
          <a:xfrm>
            <a:off x="1005840" y="3703320"/>
            <a:ext cx="29260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Nguyễn Hồng Hải (HaiNH51)</a:t>
            </a:r>
            <a:endParaRPr lang="en-US" sz="1300" dirty="0"/>
          </a:p>
        </p:txBody>
      </p:sp>
      <p:sp>
        <p:nvSpPr>
          <p:cNvPr id="9" name="Text 7"/>
          <p:cNvSpPr/>
          <p:nvPr/>
        </p:nvSpPr>
        <p:spPr>
          <a:xfrm>
            <a:off x="1005840" y="4023360"/>
            <a:ext cx="292608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Bộ môn Trí tuệ nhân tạo (AI)</a:t>
            </a:r>
            <a:endParaRPr lang="en-US" sz="1100" dirty="0"/>
          </a:p>
        </p:txBody>
      </p:sp>
      <p:sp>
        <p:nvSpPr>
          <p:cNvPr id="10" name="Text 8"/>
          <p:cNvSpPr/>
          <p:nvPr/>
        </p:nvSpPr>
        <p:spPr>
          <a:xfrm>
            <a:off x="4023360" y="3429000"/>
            <a:ext cx="4114800" cy="228600"/>
          </a:xfrm>
          <a:prstGeom prst="rect">
            <a:avLst/>
          </a:prstGeom>
          <a:noFill/>
          <a:ln/>
        </p:spPr>
        <p:txBody>
          <a:bodyPr wrap="square" lIns="0" tIns="0" rIns="0" bIns="0" rtlCol="0" anchor="ctr"/>
          <a:lstStyle/>
          <a:p>
            <a:pPr indent="0" marL="0">
              <a:buNone/>
            </a:pPr>
            <a:r>
              <a:rPr lang="en-US" sz="900" b="1" dirty="0">
                <a:solidFill>
                  <a:srgbClr val="94A3B8"/>
                </a:solidFill>
                <a:latin typeface="Calibri" pitchFamily="34" charset="0"/>
                <a:ea typeface="Calibri" pitchFamily="34" charset="-122"/>
                <a:cs typeface="Calibri" pitchFamily="34" charset="-120"/>
              </a:rPr>
              <a:t>NHÓM THỰC HIỆN — GROUP 09</a:t>
            </a:r>
            <a:endParaRPr lang="en-US" sz="900" dirty="0"/>
          </a:p>
        </p:txBody>
      </p:sp>
      <p:sp>
        <p:nvSpPr>
          <p:cNvPr id="11" name="Text 9"/>
          <p:cNvSpPr/>
          <p:nvPr/>
        </p:nvSpPr>
        <p:spPr>
          <a:xfrm>
            <a:off x="4023360" y="3703320"/>
            <a:ext cx="2103120" cy="685800"/>
          </a:xfrm>
          <a:prstGeom prst="rect">
            <a:avLst/>
          </a:prstGeom>
          <a:noFill/>
          <a:ln/>
        </p:spPr>
        <p:txBody>
          <a:bodyPr wrap="square" lIns="0" tIns="0" rIns="0" bIns="0" rtlCol="0" anchor="ctr"/>
          <a:lstStyle/>
          <a:p>
            <a:pPr indent="0" marL="0">
              <a:lnSpc>
                <a:spcPct val="120000"/>
              </a:lnSpc>
              <a:buNone/>
            </a:pPr>
            <a:r>
              <a:rPr lang="en-US" sz="980" dirty="0">
                <a:solidFill>
                  <a:srgbClr val="FFFFFF"/>
                </a:solidFill>
                <a:latin typeface="Calibri" pitchFamily="34" charset="0"/>
                <a:ea typeface="Calibri" pitchFamily="34" charset="-122"/>
                <a:cs typeface="Calibri" pitchFamily="34" charset="-120"/>
              </a:rPr>
              <a:t>• Diệp Quang Sáng (SE200655)</a:t>
            </a:r>
            <a:endParaRPr lang="en-US" sz="980" dirty="0"/>
          </a:p>
          <a:p>
            <a:pPr indent="0" marL="0">
              <a:lnSpc>
                <a:spcPct val="120000"/>
              </a:lnSpc>
              <a:buNone/>
            </a:pPr>
            <a:r>
              <a:rPr lang="en-US" sz="980" dirty="0">
                <a:solidFill>
                  <a:srgbClr val="FFFFFF"/>
                </a:solidFill>
                <a:latin typeface="Calibri" pitchFamily="34" charset="0"/>
                <a:ea typeface="Calibri" pitchFamily="34" charset="-122"/>
                <a:cs typeface="Calibri" pitchFamily="34" charset="-120"/>
              </a:rPr>
              <a:t>• Nguyễn Đức Nam (SE200991)</a:t>
            </a:r>
            <a:endParaRPr lang="en-US" sz="980" dirty="0"/>
          </a:p>
        </p:txBody>
      </p:sp>
      <p:sp>
        <p:nvSpPr>
          <p:cNvPr id="12" name="Text 10"/>
          <p:cNvSpPr/>
          <p:nvPr/>
        </p:nvSpPr>
        <p:spPr>
          <a:xfrm>
            <a:off x="6217920" y="3703320"/>
            <a:ext cx="2148840" cy="685800"/>
          </a:xfrm>
          <a:prstGeom prst="rect">
            <a:avLst/>
          </a:prstGeom>
          <a:noFill/>
          <a:ln/>
        </p:spPr>
        <p:txBody>
          <a:bodyPr wrap="square" lIns="0" tIns="0" rIns="0" bIns="0" rtlCol="0" anchor="ctr"/>
          <a:lstStyle/>
          <a:p>
            <a:pPr indent="0" marL="0">
              <a:lnSpc>
                <a:spcPct val="120000"/>
              </a:lnSpc>
              <a:buNone/>
            </a:pPr>
            <a:r>
              <a:rPr lang="en-US" sz="980" dirty="0">
                <a:solidFill>
                  <a:srgbClr val="FFFFFF"/>
                </a:solidFill>
                <a:latin typeface="Calibri" pitchFamily="34" charset="0"/>
                <a:ea typeface="Calibri" pitchFamily="34" charset="-122"/>
                <a:cs typeface="Calibri" pitchFamily="34" charset="-120"/>
              </a:rPr>
              <a:t>• Đào Đặng Nguyên Khôi (SE200450)</a:t>
            </a:r>
            <a:endParaRPr lang="en-US" sz="980" dirty="0"/>
          </a:p>
          <a:p>
            <a:pPr indent="0" marL="0">
              <a:lnSpc>
                <a:spcPct val="120000"/>
              </a:lnSpc>
              <a:buNone/>
            </a:pPr>
            <a:r>
              <a:rPr lang="en-US" sz="980" dirty="0">
                <a:solidFill>
                  <a:srgbClr val="FFFFFF"/>
                </a:solidFill>
                <a:latin typeface="Calibri" pitchFamily="34" charset="0"/>
                <a:ea typeface="Calibri" pitchFamily="34" charset="-122"/>
                <a:cs typeface="Calibri" pitchFamily="34" charset="-120"/>
              </a:rPr>
              <a:t>• Trương Quang Đăng Khoa (SE201463)</a:t>
            </a:r>
            <a:endParaRPr lang="en-US" sz="9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dirty="0">
                <a:solidFill>
                  <a:srgbClr val="0284C7"/>
                </a:solidFill>
                <a:latin typeface="Calibri" pitchFamily="34" charset="0"/>
                <a:ea typeface="Calibri" pitchFamily="34" charset="-122"/>
                <a:cs typeface="Calibri" pitchFamily="34" charset="-120"/>
              </a:rPr>
              <a:t>TỔNG QUAN ĐỀ CƯƠNG</a:t>
            </a:r>
            <a:endParaRPr lang="en-US" sz="1000" dirty="0"/>
          </a:p>
        </p:txBody>
      </p:sp>
      <p:sp>
        <p:nvSpPr>
          <p:cNvPr id="3" name="Text 1"/>
          <p:cNvSpPr/>
          <p:nvPr/>
        </p:nvSpPr>
        <p:spPr>
          <a:xfrm>
            <a:off x="548640" y="621792"/>
            <a:ext cx="8046720" cy="411480"/>
          </a:xfrm>
          <a:prstGeom prst="rect">
            <a:avLst/>
          </a:prstGeom>
          <a:noFill/>
          <a:ln/>
        </p:spPr>
        <p:txBody>
          <a:bodyPr wrap="square" lIns="0" tIns="0" rIns="0" bIns="0" rtlCol="0" anchor="ctr"/>
          <a:lstStyle/>
          <a:p>
            <a:pPr indent="0" marL="0">
              <a:buNone/>
            </a:pPr>
            <a:r>
              <a:rPr lang="en-US" sz="2000" b="1" dirty="0">
                <a:solidFill>
                  <a:srgbClr val="0F172A"/>
                </a:solidFill>
                <a:latin typeface="Calibri" pitchFamily="34" charset="0"/>
                <a:ea typeface="Calibri" pitchFamily="34" charset="-122"/>
                <a:cs typeface="Calibri" pitchFamily="34" charset="-120"/>
              </a:rPr>
              <a:t>Bối cảnh thực tế &amp; Đề xuất giải pháp cốt lõi</a:t>
            </a:r>
            <a:endParaRPr lang="en-US" sz="2000" dirty="0"/>
          </a:p>
        </p:txBody>
      </p:sp>
      <p:sp>
        <p:nvSpPr>
          <p:cNvPr id="4" name="Shape 2"/>
          <p:cNvSpPr/>
          <p:nvPr/>
        </p:nvSpPr>
        <p:spPr>
          <a:xfrm>
            <a:off x="548640" y="1143000"/>
            <a:ext cx="8046720" cy="594360"/>
          </a:xfrm>
          <a:prstGeom prst="roundRect">
            <a:avLst>
              <a:gd name="adj" fmla="val 12308"/>
            </a:avLst>
          </a:prstGeom>
          <a:solidFill>
            <a:srgbClr val="FFFFFF"/>
          </a:solidFill>
          <a:ln w="12700">
            <a:solidFill>
              <a:srgbClr val="E2E8F0"/>
            </a:solidFill>
            <a:prstDash val="solid"/>
          </a:ln>
        </p:spPr>
      </p:sp>
      <p:sp>
        <p:nvSpPr>
          <p:cNvPr id="5" name="Text 3"/>
          <p:cNvSpPr/>
          <p:nvPr/>
        </p:nvSpPr>
        <p:spPr>
          <a:xfrm>
            <a:off x="731520" y="1207008"/>
            <a:ext cx="7680960" cy="457200"/>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Mục tiêu trọng tâm: Xây dựng bản đồ hiện trạng 2D cục bộ nhanh từ video camera gần thẳng đứng (near-nadir) của UAV, giải quyết nghịch lý giữa giới hạn tài nguyên tính toán biên và nguy cơ đứt gãy do sai số trôi dạt tích lũy (drift).</a:t>
            </a:r>
            <a:endParaRPr lang="en-US" sz="1100" dirty="0"/>
          </a:p>
        </p:txBody>
      </p:sp>
      <p:sp>
        <p:nvSpPr>
          <p:cNvPr id="6" name="Shape 4"/>
          <p:cNvSpPr/>
          <p:nvPr/>
        </p:nvSpPr>
        <p:spPr>
          <a:xfrm>
            <a:off x="548640" y="1920240"/>
            <a:ext cx="2560320" cy="2743200"/>
          </a:xfrm>
          <a:prstGeom prst="roundRect">
            <a:avLst>
              <a:gd name="adj" fmla="val 3571"/>
            </a:avLst>
          </a:prstGeom>
          <a:solidFill>
            <a:srgbClr val="FFFFFF"/>
          </a:solidFill>
          <a:ln w="12700">
            <a:solidFill>
              <a:srgbClr val="E2E8F0"/>
            </a:solidFill>
            <a:prstDash val="solid"/>
          </a:ln>
        </p:spPr>
      </p:sp>
      <p:sp>
        <p:nvSpPr>
          <p:cNvPr id="7" name="Shape 5"/>
          <p:cNvSpPr/>
          <p:nvPr/>
        </p:nvSpPr>
        <p:spPr>
          <a:xfrm>
            <a:off x="731520" y="2103120"/>
            <a:ext cx="2194560" cy="411480"/>
          </a:xfrm>
          <a:prstGeom prst="roundRect">
            <a:avLst>
              <a:gd name="adj" fmla="val 13333"/>
            </a:avLst>
          </a:prstGeom>
          <a:solidFill>
            <a:srgbClr val="E0F2FE"/>
          </a:solidFill>
          <a:ln w="6350">
            <a:solidFill>
              <a:srgbClr val="0EA5E9"/>
            </a:solidFill>
            <a:prstDash val="solid"/>
          </a:ln>
        </p:spPr>
      </p:sp>
      <p:sp>
        <p:nvSpPr>
          <p:cNvPr id="8" name="Text 6"/>
          <p:cNvSpPr/>
          <p:nvPr/>
        </p:nvSpPr>
        <p:spPr>
          <a:xfrm>
            <a:off x="777240" y="2194560"/>
            <a:ext cx="2103120" cy="228600"/>
          </a:xfrm>
          <a:prstGeom prst="rect">
            <a:avLst/>
          </a:prstGeom>
          <a:noFill/>
          <a:ln/>
        </p:spPr>
        <p:txBody>
          <a:bodyPr wrap="square" lIns="0" tIns="0" rIns="0" bIns="0"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1. Cảnh báo sớm rủi ro</a:t>
            </a:r>
            <a:endParaRPr lang="en-US" sz="1100" dirty="0"/>
          </a:p>
        </p:txBody>
      </p:sp>
      <p:sp>
        <p:nvSpPr>
          <p:cNvPr id="9" name="Text 7"/>
          <p:cNvSpPr/>
          <p:nvPr/>
        </p:nvSpPr>
        <p:spPr>
          <a:xfrm>
            <a:off x="731520" y="2651760"/>
            <a:ext cx="2194560" cy="320040"/>
          </a:xfrm>
          <a:prstGeom prst="rect">
            <a:avLst/>
          </a:prstGeom>
          <a:noFill/>
          <a:ln/>
        </p:spPr>
        <p:txBody>
          <a:bodyPr wrap="square" lIns="0" tIns="0" rIns="0" bIns="0" rtlCol="0" anchor="ctr"/>
          <a:lstStyle/>
          <a:p>
            <a:pPr indent="0" marL="0">
              <a:buNone/>
            </a:pPr>
            <a:r>
              <a:rPr lang="en-US" sz="1000" b="1" i="1" dirty="0">
                <a:solidFill>
                  <a:srgbClr val="64748B"/>
                </a:solidFill>
                <a:latin typeface="Calibri" pitchFamily="34" charset="0"/>
                <a:ea typeface="Calibri" pitchFamily="34" charset="-122"/>
                <a:cs typeface="Calibri" pitchFamily="34" charset="-120"/>
              </a:rPr>
              <a:t>Early Failure Prediction (RQ1)</a:t>
            </a:r>
            <a:endParaRPr lang="en-US" sz="1000" dirty="0"/>
          </a:p>
        </p:txBody>
      </p:sp>
      <p:sp>
        <p:nvSpPr>
          <p:cNvPr id="10" name="Text 8"/>
          <p:cNvSpPr/>
          <p:nvPr/>
        </p:nvSpPr>
        <p:spPr>
          <a:xfrm>
            <a:off x="731520" y="3017520"/>
            <a:ext cx="2194560" cy="1463040"/>
          </a:xfrm>
          <a:prstGeom prst="rect">
            <a:avLst/>
          </a:prstGeom>
          <a:noFill/>
          <a:ln/>
        </p:spPr>
        <p:txBody>
          <a:bodyPr wrap="square" lIns="0" tIns="0" rIns="0" bIns="0" rtlCol="0" anchor="ctr"/>
          <a:lstStyle/>
          <a:p>
            <a:pPr indent="0" marL="0">
              <a:lnSpc>
                <a:spcPct val="115000"/>
              </a:lnSpc>
              <a:buNone/>
            </a:pPr>
            <a:r>
              <a:rPr lang="en-US" sz="1050" dirty="0">
                <a:solidFill>
                  <a:srgbClr val="0F172A"/>
                </a:solidFill>
                <a:latin typeface="Calibri" pitchFamily="34" charset="0"/>
                <a:ea typeface="Calibri" pitchFamily="34" charset="-122"/>
                <a:cs typeface="Calibri" pitchFamily="34" charset="-120"/>
              </a:rPr>
              <a:t>Mô hình hóa tổ hợp chỉ báo chi phí thấp ở cấp cặp frame (inlier ratio, reprojection error, spatial spread) để phát hiện sớm nguy cơ vỡ chuỗi và trôi dạt hình học tích lũy.</a:t>
            </a:r>
            <a:endParaRPr lang="en-US" sz="1050" dirty="0"/>
          </a:p>
        </p:txBody>
      </p:sp>
      <p:sp>
        <p:nvSpPr>
          <p:cNvPr id="11" name="Shape 9"/>
          <p:cNvSpPr/>
          <p:nvPr/>
        </p:nvSpPr>
        <p:spPr>
          <a:xfrm>
            <a:off x="3291840" y="1920240"/>
            <a:ext cx="2560320" cy="2743200"/>
          </a:xfrm>
          <a:prstGeom prst="roundRect">
            <a:avLst>
              <a:gd name="adj" fmla="val 3571"/>
            </a:avLst>
          </a:prstGeom>
          <a:solidFill>
            <a:srgbClr val="FFFFFF"/>
          </a:solidFill>
          <a:ln w="12700">
            <a:solidFill>
              <a:srgbClr val="E2E8F0"/>
            </a:solidFill>
            <a:prstDash val="solid"/>
          </a:ln>
        </p:spPr>
      </p:sp>
      <p:sp>
        <p:nvSpPr>
          <p:cNvPr id="12" name="Shape 10"/>
          <p:cNvSpPr/>
          <p:nvPr/>
        </p:nvSpPr>
        <p:spPr>
          <a:xfrm>
            <a:off x="3474720" y="2103120"/>
            <a:ext cx="2194560" cy="411480"/>
          </a:xfrm>
          <a:prstGeom prst="roundRect">
            <a:avLst>
              <a:gd name="adj" fmla="val 13333"/>
            </a:avLst>
          </a:prstGeom>
          <a:solidFill>
            <a:srgbClr val="E0F2FE"/>
          </a:solidFill>
          <a:ln w="6350">
            <a:solidFill>
              <a:srgbClr val="0EA5E9"/>
            </a:solidFill>
            <a:prstDash val="solid"/>
          </a:ln>
        </p:spPr>
      </p:sp>
      <p:sp>
        <p:nvSpPr>
          <p:cNvPr id="13" name="Text 11"/>
          <p:cNvSpPr/>
          <p:nvPr/>
        </p:nvSpPr>
        <p:spPr>
          <a:xfrm>
            <a:off x="3520440" y="2194560"/>
            <a:ext cx="2103120" cy="228600"/>
          </a:xfrm>
          <a:prstGeom prst="rect">
            <a:avLst/>
          </a:prstGeom>
          <a:noFill/>
          <a:ln/>
        </p:spPr>
        <p:txBody>
          <a:bodyPr wrap="square" lIns="0" tIns="0" rIns="0" bIns="0"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2. Phân luồng thích ứng</a:t>
            </a:r>
            <a:endParaRPr lang="en-US" sz="1100" dirty="0"/>
          </a:p>
        </p:txBody>
      </p:sp>
      <p:sp>
        <p:nvSpPr>
          <p:cNvPr id="14" name="Text 12"/>
          <p:cNvSpPr/>
          <p:nvPr/>
        </p:nvSpPr>
        <p:spPr>
          <a:xfrm>
            <a:off x="3474720" y="2651760"/>
            <a:ext cx="2194560" cy="320040"/>
          </a:xfrm>
          <a:prstGeom prst="rect">
            <a:avLst/>
          </a:prstGeom>
          <a:noFill/>
          <a:ln/>
        </p:spPr>
        <p:txBody>
          <a:bodyPr wrap="square" lIns="0" tIns="0" rIns="0" bIns="0" rtlCol="0" anchor="ctr"/>
          <a:lstStyle/>
          <a:p>
            <a:pPr indent="0" marL="0">
              <a:buNone/>
            </a:pPr>
            <a:r>
              <a:rPr lang="en-US" sz="1000" b="1" i="1" dirty="0">
                <a:solidFill>
                  <a:srgbClr val="64748B"/>
                </a:solidFill>
                <a:latin typeface="Calibri" pitchFamily="34" charset="0"/>
                <a:ea typeface="Calibri" pitchFamily="34" charset="-122"/>
                <a:cs typeface="Calibri" pitchFamily="34" charset="-120"/>
              </a:rPr>
              <a:t>Two-Tier Matcher Routing (RQ2)</a:t>
            </a:r>
            <a:endParaRPr lang="en-US" sz="1000" dirty="0"/>
          </a:p>
        </p:txBody>
      </p:sp>
      <p:sp>
        <p:nvSpPr>
          <p:cNvPr id="15" name="Text 13"/>
          <p:cNvSpPr/>
          <p:nvPr/>
        </p:nvSpPr>
        <p:spPr>
          <a:xfrm>
            <a:off x="3474720" y="3017520"/>
            <a:ext cx="2194560" cy="1463040"/>
          </a:xfrm>
          <a:prstGeom prst="rect">
            <a:avLst/>
          </a:prstGeom>
          <a:noFill/>
          <a:ln/>
        </p:spPr>
        <p:txBody>
          <a:bodyPr wrap="square" lIns="0" tIns="0" rIns="0" bIns="0" rtlCol="0" anchor="ctr"/>
          <a:lstStyle/>
          <a:p>
            <a:pPr indent="0" marL="0">
              <a:lnSpc>
                <a:spcPct val="115000"/>
              </a:lnSpc>
              <a:buNone/>
            </a:pPr>
            <a:r>
              <a:rPr lang="en-US" sz="1050" dirty="0">
                <a:solidFill>
                  <a:srgbClr val="0F172A"/>
                </a:solidFill>
                <a:latin typeface="Calibri" pitchFamily="34" charset="0"/>
                <a:ea typeface="Calibri" pitchFamily="34" charset="-122"/>
                <a:cs typeface="Calibri" pitchFamily="34" charset="-120"/>
              </a:rPr>
              <a:t>Tối ưu tài nguyên biên: mặc định sử dụng thuật toán cổ điển siêu nhẹ (SIFT/ORB), chỉ tự động định tuyến sang mô hình học sâu (SIFT+LightGlue) khi phát hiện rủi ro cao.</a:t>
            </a:r>
            <a:endParaRPr lang="en-US" sz="1050" dirty="0"/>
          </a:p>
        </p:txBody>
      </p:sp>
      <p:sp>
        <p:nvSpPr>
          <p:cNvPr id="16" name="Shape 14"/>
          <p:cNvSpPr/>
          <p:nvPr/>
        </p:nvSpPr>
        <p:spPr>
          <a:xfrm>
            <a:off x="6035040" y="1920240"/>
            <a:ext cx="2560320" cy="2743200"/>
          </a:xfrm>
          <a:prstGeom prst="roundRect">
            <a:avLst>
              <a:gd name="adj" fmla="val 3571"/>
            </a:avLst>
          </a:prstGeom>
          <a:solidFill>
            <a:srgbClr val="FFFFFF"/>
          </a:solidFill>
          <a:ln w="12700">
            <a:solidFill>
              <a:srgbClr val="E2E8F0"/>
            </a:solidFill>
            <a:prstDash val="solid"/>
          </a:ln>
        </p:spPr>
      </p:sp>
      <p:sp>
        <p:nvSpPr>
          <p:cNvPr id="17" name="Shape 15"/>
          <p:cNvSpPr/>
          <p:nvPr/>
        </p:nvSpPr>
        <p:spPr>
          <a:xfrm>
            <a:off x="6217920" y="2103120"/>
            <a:ext cx="2194560" cy="411480"/>
          </a:xfrm>
          <a:prstGeom prst="roundRect">
            <a:avLst>
              <a:gd name="adj" fmla="val 13333"/>
            </a:avLst>
          </a:prstGeom>
          <a:solidFill>
            <a:srgbClr val="E0F2FE"/>
          </a:solidFill>
          <a:ln w="6350">
            <a:solidFill>
              <a:srgbClr val="0EA5E9"/>
            </a:solidFill>
            <a:prstDash val="solid"/>
          </a:ln>
        </p:spPr>
      </p:sp>
      <p:sp>
        <p:nvSpPr>
          <p:cNvPr id="18" name="Text 16"/>
          <p:cNvSpPr/>
          <p:nvPr/>
        </p:nvSpPr>
        <p:spPr>
          <a:xfrm>
            <a:off x="6263640" y="2194560"/>
            <a:ext cx="2103120" cy="228600"/>
          </a:xfrm>
          <a:prstGeom prst="rect">
            <a:avLst/>
          </a:prstGeom>
          <a:noFill/>
          <a:ln/>
        </p:spPr>
        <p:txBody>
          <a:bodyPr wrap="square" lIns="0" tIns="0" rIns="0" bIns="0" rtlCol="0" anchor="ctr"/>
          <a:lstStyle/>
          <a:p>
            <a:pPr indent="0" marL="0">
              <a:buNone/>
            </a:pPr>
            <a:r>
              <a:rPr lang="en-US" sz="1100" b="1" dirty="0">
                <a:solidFill>
                  <a:srgbClr val="0369A1"/>
                </a:solidFill>
                <a:latin typeface="Calibri" pitchFamily="34" charset="0"/>
                <a:ea typeface="Calibri" pitchFamily="34" charset="-122"/>
                <a:cs typeface="Calibri" pitchFamily="34" charset="-120"/>
              </a:rPr>
              <a:t>3. Phục hồi có kiểm soát</a:t>
            </a:r>
            <a:endParaRPr lang="en-US" sz="1100" dirty="0"/>
          </a:p>
        </p:txBody>
      </p:sp>
      <p:sp>
        <p:nvSpPr>
          <p:cNvPr id="19" name="Text 17"/>
          <p:cNvSpPr/>
          <p:nvPr/>
        </p:nvSpPr>
        <p:spPr>
          <a:xfrm>
            <a:off x="6217920" y="2651760"/>
            <a:ext cx="2194560" cy="320040"/>
          </a:xfrm>
          <a:prstGeom prst="rect">
            <a:avLst/>
          </a:prstGeom>
          <a:noFill/>
          <a:ln/>
        </p:spPr>
        <p:txBody>
          <a:bodyPr wrap="square" lIns="0" tIns="0" rIns="0" bIns="0" rtlCol="0" anchor="ctr"/>
          <a:lstStyle/>
          <a:p>
            <a:pPr indent="0" marL="0">
              <a:buNone/>
            </a:pPr>
            <a:r>
              <a:rPr lang="en-US" sz="1000" b="1" i="1" dirty="0">
                <a:solidFill>
                  <a:srgbClr val="64748B"/>
                </a:solidFill>
                <a:latin typeface="Calibri" pitchFamily="34" charset="0"/>
                <a:ea typeface="Calibri" pitchFamily="34" charset="-122"/>
                <a:cs typeface="Calibri" pitchFamily="34" charset="-120"/>
              </a:rPr>
              <a:t>Confidence-Driven Recovery (RQ3)</a:t>
            </a:r>
            <a:endParaRPr lang="en-US" sz="1000" dirty="0"/>
          </a:p>
        </p:txBody>
      </p:sp>
      <p:sp>
        <p:nvSpPr>
          <p:cNvPr id="20" name="Text 18"/>
          <p:cNvSpPr/>
          <p:nvPr/>
        </p:nvSpPr>
        <p:spPr>
          <a:xfrm>
            <a:off x="6217920" y="3017520"/>
            <a:ext cx="2194560" cy="1463040"/>
          </a:xfrm>
          <a:prstGeom prst="rect">
            <a:avLst/>
          </a:prstGeom>
          <a:noFill/>
          <a:ln/>
        </p:spPr>
        <p:txBody>
          <a:bodyPr wrap="square" lIns="0" tIns="0" rIns="0" bIns="0" rtlCol="0" anchor="ctr"/>
          <a:lstStyle/>
          <a:p>
            <a:pPr indent="0" marL="0">
              <a:lnSpc>
                <a:spcPct val="115000"/>
              </a:lnSpc>
              <a:buNone/>
            </a:pPr>
            <a:r>
              <a:rPr lang="en-US" sz="1050" dirty="0">
                <a:solidFill>
                  <a:srgbClr val="0F172A"/>
                </a:solidFill>
                <a:latin typeface="Calibri" pitchFamily="34" charset="0"/>
                <a:ea typeface="Calibri" pitchFamily="34" charset="-122"/>
                <a:cs typeface="Calibri" pitchFamily="34" charset="-120"/>
              </a:rPr>
              <a:t>Khống chế sai số qua bộ 3 hành động: loại bỏ frame nhiễu, tái đối sánh với keyframe trước đó, hoặc phân tách thành các submosaic độc lập dưới một trigger quy chuẩn.</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dirty="0">
                <a:solidFill>
                  <a:srgbClr val="0284C7"/>
                </a:solidFill>
                <a:latin typeface="Calibri" pitchFamily="34" charset="0"/>
                <a:ea typeface="Calibri" pitchFamily="34" charset="-122"/>
                <a:cs typeface="Calibri" pitchFamily="34" charset="-120"/>
              </a:rPr>
              <a:t>TÍNH CẤP THIẾT CỦA ĐỀ TÀI</a:t>
            </a:r>
            <a:endParaRPr lang="en-US" sz="1000" dirty="0"/>
          </a:p>
        </p:txBody>
      </p:sp>
      <p:sp>
        <p:nvSpPr>
          <p:cNvPr id="3" name="Text 1"/>
          <p:cNvSpPr/>
          <p:nvPr/>
        </p:nvSpPr>
        <p:spPr>
          <a:xfrm>
            <a:off x="548640" y="621792"/>
            <a:ext cx="8046720" cy="411480"/>
          </a:xfrm>
          <a:prstGeom prst="rect">
            <a:avLst/>
          </a:prstGeom>
          <a:noFill/>
          <a:ln/>
        </p:spPr>
        <p:txBody>
          <a:bodyPr wrap="square" lIns="0" tIns="0" rIns="0" bIns="0" rtlCol="0" anchor="ctr"/>
          <a:lstStyle/>
          <a:p>
            <a:pPr indent="0" marL="0">
              <a:buNone/>
            </a:pPr>
            <a:r>
              <a:rPr lang="en-US" sz="2000" b="1" dirty="0">
                <a:solidFill>
                  <a:srgbClr val="0F172A"/>
                </a:solidFill>
                <a:latin typeface="Calibri" pitchFamily="34" charset="0"/>
                <a:ea typeface="Calibri" pitchFamily="34" charset="-122"/>
                <a:cs typeface="Calibri" pitchFamily="34" charset="-120"/>
              </a:rPr>
              <a:t>Nhu cầu thực địa tại Việt Nam &amp; Giới hạn giải pháp hiện hữu</a:t>
            </a:r>
            <a:endParaRPr lang="en-US" sz="2000" dirty="0"/>
          </a:p>
        </p:txBody>
      </p:sp>
      <p:sp>
        <p:nvSpPr>
          <p:cNvPr id="4" name="Shape 2"/>
          <p:cNvSpPr/>
          <p:nvPr/>
        </p:nvSpPr>
        <p:spPr>
          <a:xfrm>
            <a:off x="548640" y="1234440"/>
            <a:ext cx="3886200" cy="3429000"/>
          </a:xfrm>
          <a:prstGeom prst="roundRect">
            <a:avLst>
              <a:gd name="adj" fmla="val 2667"/>
            </a:avLst>
          </a:prstGeom>
          <a:solidFill>
            <a:srgbClr val="FFFFFF"/>
          </a:solidFill>
          <a:ln w="12700">
            <a:solidFill>
              <a:srgbClr val="E2E8F0"/>
            </a:solidFill>
            <a:prstDash val="solid"/>
          </a:ln>
        </p:spPr>
      </p:sp>
      <p:sp>
        <p:nvSpPr>
          <p:cNvPr id="5" name="Shape 3"/>
          <p:cNvSpPr/>
          <p:nvPr/>
        </p:nvSpPr>
        <p:spPr>
          <a:xfrm>
            <a:off x="777240" y="1417320"/>
            <a:ext cx="3429000" cy="411480"/>
          </a:xfrm>
          <a:prstGeom prst="roundRect">
            <a:avLst>
              <a:gd name="adj" fmla="val 13333"/>
            </a:avLst>
          </a:prstGeom>
          <a:solidFill>
            <a:srgbClr val="FEF3C7"/>
          </a:solidFill>
          <a:ln w="6350">
            <a:solidFill>
              <a:srgbClr val="B45309"/>
            </a:solidFill>
            <a:prstDash val="solid"/>
          </a:ln>
        </p:spPr>
      </p:sp>
      <p:sp>
        <p:nvSpPr>
          <p:cNvPr id="6" name="Text 4"/>
          <p:cNvSpPr/>
          <p:nvPr/>
        </p:nvSpPr>
        <p:spPr>
          <a:xfrm>
            <a:off x="868680" y="1508760"/>
            <a:ext cx="3246120" cy="228600"/>
          </a:xfrm>
          <a:prstGeom prst="rect">
            <a:avLst/>
          </a:prstGeom>
          <a:noFill/>
          <a:ln/>
        </p:spPr>
        <p:txBody>
          <a:bodyPr wrap="square" lIns="0" tIns="0" rIns="0" bIns="0" rtlCol="0" anchor="ctr"/>
          <a:lstStyle/>
          <a:p>
            <a:pPr indent="0" marL="0">
              <a:buNone/>
            </a:pPr>
            <a:r>
              <a:rPr lang="en-US" sz="1000" b="1" dirty="0">
                <a:solidFill>
                  <a:srgbClr val="B45309"/>
                </a:solidFill>
                <a:latin typeface="Calibri" pitchFamily="34" charset="0"/>
                <a:ea typeface="Calibri" pitchFamily="34" charset="-122"/>
                <a:cs typeface="Calibri" pitchFamily="34" charset="-120"/>
              </a:rPr>
              <a:t>HIỆN TRẠNG CÔNG NGHỆ THƯƠNG MẠI</a:t>
            </a:r>
            <a:endParaRPr lang="en-US" sz="1000" dirty="0"/>
          </a:p>
        </p:txBody>
      </p:sp>
      <p:sp>
        <p:nvSpPr>
          <p:cNvPr id="7" name="Text 5"/>
          <p:cNvSpPr/>
          <p:nvPr/>
        </p:nvSpPr>
        <p:spPr>
          <a:xfrm>
            <a:off x="777240" y="1965960"/>
            <a:ext cx="3429000" cy="2514600"/>
          </a:xfrm>
          <a:prstGeom prst="rect">
            <a:avLst/>
          </a:prstGeom>
          <a:noFill/>
          <a:ln/>
        </p:spPr>
        <p:txBody>
          <a:bodyPr wrap="square" lIns="0" tIns="0" rIns="0" bIns="0" rtlCol="0" anchor="ctr"/>
          <a:lstStyle/>
          <a:p>
            <a:pPr indent="0" marL="0">
              <a:lnSpc>
                <a:spcPct val="115000"/>
              </a:lnSpc>
              <a:buNone/>
            </a:pPr>
            <a:r>
              <a:rPr lang="en-US" sz="1050" dirty="0">
                <a:solidFill>
                  <a:srgbClr val="0F172A"/>
                </a:solidFill>
                <a:latin typeface="Calibri" pitchFamily="34" charset="0"/>
                <a:ea typeface="Calibri" pitchFamily="34" charset="-122"/>
                <a:cs typeface="Calibri" pitchFamily="34" charset="-120"/>
              </a:rPr>
              <a:t>• Quy trình SfM/3D ngoại tuyến nặng nề: Phụ thuộc vào các phần mềm lớn như Pix4D, Agisoft Metashape.</a:t>
            </a:r>
            <a:endParaRPr lang="en-US" sz="1050" dirty="0"/>
          </a:p>
          <a:p>
            <a:pPr indent="0" marL="0">
              <a:lnSpc>
                <a:spcPct val="115000"/>
              </a:lnSpc>
              <a:buNone/>
            </a:pPr>
            <a:endParaRPr lang="en-US" sz="1050" dirty="0"/>
          </a:p>
          <a:p>
            <a:pPr indent="0" marL="0">
              <a:lnSpc>
                <a:spcPct val="115000"/>
              </a:lnSpc>
              <a:buNone/>
            </a:pPr>
            <a:r>
              <a:rPr lang="en-US" sz="1050" dirty="0">
                <a:solidFill>
                  <a:srgbClr val="0F172A"/>
                </a:solidFill>
                <a:latin typeface="Calibri" pitchFamily="34" charset="0"/>
                <a:ea typeface="Calibri" pitchFamily="34" charset="-122"/>
                <a:cs typeface="Calibri" pitchFamily="34" charset="-120"/>
              </a:rPr>
              <a:t>• Thời gian xử lý kéo dài: Mất từ vài giờ đến cả ngày cho một chuyến bay khảo sát, không hỗ trợ xem nhanh kết quả.</a:t>
            </a:r>
            <a:endParaRPr lang="en-US" sz="1050" dirty="0"/>
          </a:p>
          <a:p>
            <a:pPr indent="0" marL="0">
              <a:lnSpc>
                <a:spcPct val="115000"/>
              </a:lnSpc>
              <a:buNone/>
            </a:pPr>
            <a:endParaRPr lang="en-US" sz="1050" dirty="0"/>
          </a:p>
          <a:p>
            <a:pPr indent="0" marL="0">
              <a:lnSpc>
                <a:spcPct val="115000"/>
              </a:lnSpc>
              <a:buNone/>
            </a:pPr>
            <a:r>
              <a:rPr lang="en-US" sz="1050" dirty="0">
                <a:solidFill>
                  <a:srgbClr val="0F172A"/>
                </a:solidFill>
                <a:latin typeface="Calibri" pitchFamily="34" charset="0"/>
                <a:ea typeface="Calibri" pitchFamily="34" charset="-122"/>
                <a:cs typeface="Calibri" pitchFamily="34" charset="-120"/>
              </a:rPr>
              <a:t>• Đòi hỏi máy tính trạm cao cấp: Cần GPU mạnh và RAM lớn để tối ưu Bundle Adjustment quy mô lớn.</a:t>
            </a:r>
            <a:endParaRPr lang="en-US" sz="1050" dirty="0"/>
          </a:p>
          <a:p>
            <a:pPr indent="0" marL="0">
              <a:lnSpc>
                <a:spcPct val="115000"/>
              </a:lnSpc>
              <a:buNone/>
            </a:pPr>
            <a:endParaRPr lang="en-US" sz="1050" dirty="0"/>
          </a:p>
          <a:p>
            <a:pPr indent="0" marL="0">
              <a:lnSpc>
                <a:spcPct val="115000"/>
              </a:lnSpc>
              <a:buNone/>
            </a:pPr>
            <a:r>
              <a:rPr lang="en-US" sz="1050" dirty="0">
                <a:solidFill>
                  <a:srgbClr val="0F172A"/>
                </a:solidFill>
                <a:latin typeface="Calibri" pitchFamily="34" charset="0"/>
                <a:ea typeface="Calibri" pitchFamily="34" charset="-122"/>
                <a:cs typeface="Calibri" pitchFamily="34" charset="-120"/>
              </a:rPr>
              <a:t>• Phụ thuộc định vị chính xác: Đòi hỏi GPS RTK và điểm khống chế mặt đất để có bản đồ tuyệt đối.</a:t>
            </a:r>
            <a:endParaRPr lang="en-US" sz="1050" dirty="0"/>
          </a:p>
        </p:txBody>
      </p:sp>
      <p:sp>
        <p:nvSpPr>
          <p:cNvPr id="8" name="Shape 6"/>
          <p:cNvSpPr/>
          <p:nvPr/>
        </p:nvSpPr>
        <p:spPr>
          <a:xfrm>
            <a:off x="4709160" y="1234440"/>
            <a:ext cx="3886200" cy="3429000"/>
          </a:xfrm>
          <a:prstGeom prst="roundRect">
            <a:avLst>
              <a:gd name="adj" fmla="val 2667"/>
            </a:avLst>
          </a:prstGeom>
          <a:solidFill>
            <a:srgbClr val="FFFFFF"/>
          </a:solidFill>
          <a:ln w="12700">
            <a:solidFill>
              <a:srgbClr val="E2E8F0"/>
            </a:solidFill>
            <a:prstDash val="solid"/>
          </a:ln>
        </p:spPr>
      </p:sp>
      <p:sp>
        <p:nvSpPr>
          <p:cNvPr id="9" name="Shape 7"/>
          <p:cNvSpPr/>
          <p:nvPr/>
        </p:nvSpPr>
        <p:spPr>
          <a:xfrm>
            <a:off x="4937760" y="1417320"/>
            <a:ext cx="3429000" cy="411480"/>
          </a:xfrm>
          <a:prstGeom prst="roundRect">
            <a:avLst>
              <a:gd name="adj" fmla="val 13333"/>
            </a:avLst>
          </a:prstGeom>
          <a:solidFill>
            <a:srgbClr val="DCFCE7"/>
          </a:solidFill>
          <a:ln w="6350">
            <a:solidFill>
              <a:srgbClr val="15803D"/>
            </a:solidFill>
            <a:prstDash val="solid"/>
          </a:ln>
        </p:spPr>
      </p:sp>
      <p:sp>
        <p:nvSpPr>
          <p:cNvPr id="10" name="Text 8"/>
          <p:cNvSpPr/>
          <p:nvPr/>
        </p:nvSpPr>
        <p:spPr>
          <a:xfrm>
            <a:off x="5029200" y="1508760"/>
            <a:ext cx="3246120" cy="228600"/>
          </a:xfrm>
          <a:prstGeom prst="rect">
            <a:avLst/>
          </a:prstGeom>
          <a:noFill/>
          <a:ln/>
        </p:spPr>
        <p:txBody>
          <a:bodyPr wrap="square" lIns="0" tIns="0" rIns="0" bIns="0" rtlCol="0" anchor="ctr"/>
          <a:lstStyle/>
          <a:p>
            <a:pPr indent="0" marL="0">
              <a:buNone/>
            </a:pPr>
            <a:r>
              <a:rPr lang="en-US" sz="1000" b="1" dirty="0">
                <a:solidFill>
                  <a:srgbClr val="15803D"/>
                </a:solidFill>
                <a:latin typeface="Calibri" pitchFamily="34" charset="0"/>
                <a:ea typeface="Calibri" pitchFamily="34" charset="-122"/>
                <a:cs typeface="Calibri" pitchFamily="34" charset="-120"/>
              </a:rPr>
              <a:t>ĐỊNH HƯỚNG ĐỀ TÀI: 2D MOSAICKING NHANH</a:t>
            </a:r>
            <a:endParaRPr lang="en-US" sz="1000" dirty="0"/>
          </a:p>
        </p:txBody>
      </p:sp>
      <p:sp>
        <p:nvSpPr>
          <p:cNvPr id="11" name="Text 9"/>
          <p:cNvSpPr/>
          <p:nvPr/>
        </p:nvSpPr>
        <p:spPr>
          <a:xfrm>
            <a:off x="4937760" y="1965960"/>
            <a:ext cx="3429000" cy="2514600"/>
          </a:xfrm>
          <a:prstGeom prst="rect">
            <a:avLst/>
          </a:prstGeom>
          <a:noFill/>
          <a:ln/>
        </p:spPr>
        <p:txBody>
          <a:bodyPr wrap="square" lIns="0" tIns="0" rIns="0" bIns="0" rtlCol="0" anchor="ctr"/>
          <a:lstStyle/>
          <a:p>
            <a:pPr indent="0" marL="0">
              <a:lnSpc>
                <a:spcPct val="115000"/>
              </a:lnSpc>
              <a:buNone/>
            </a:pPr>
            <a:r>
              <a:rPr lang="en-US" sz="1050" dirty="0">
                <a:solidFill>
                  <a:srgbClr val="0F172A"/>
                </a:solidFill>
                <a:latin typeface="Calibri" pitchFamily="34" charset="0"/>
                <a:ea typeface="Calibri" pitchFamily="34" charset="-122"/>
                <a:cs typeface="Calibri" pitchFamily="34" charset="-120"/>
              </a:rPr>
              <a:t>• Phản ứng nhanh tại hiện trường: Phục vụ trực tiếp cứu hộ cứu nạn lũ lụt, sạt lở đất và nông nghiệp chính xác.</a:t>
            </a:r>
            <a:endParaRPr lang="en-US" sz="1050" dirty="0"/>
          </a:p>
          <a:p>
            <a:pPr indent="0" marL="0">
              <a:lnSpc>
                <a:spcPct val="115000"/>
              </a:lnSpc>
              <a:buNone/>
            </a:pPr>
            <a:endParaRPr lang="en-US" sz="1050" dirty="0"/>
          </a:p>
          <a:p>
            <a:pPr indent="0" marL="0">
              <a:lnSpc>
                <a:spcPct val="115000"/>
              </a:lnSpc>
              <a:buNone/>
            </a:pPr>
            <a:r>
              <a:rPr lang="en-US" sz="1050" dirty="0">
                <a:solidFill>
                  <a:srgbClr val="0F172A"/>
                </a:solidFill>
                <a:latin typeface="Calibri" pitchFamily="34" charset="0"/>
                <a:ea typeface="Calibri" pitchFamily="34" charset="-122"/>
                <a:cs typeface="Calibri" pitchFamily="34" charset="-120"/>
              </a:rPr>
              <a:t>• Bản đồ hiện trạng 2D trực quan: Cung cấp góc nhìn toàn cảnh cục bộ ngay sau khi hoàn thành lượt bay.</a:t>
            </a:r>
            <a:endParaRPr lang="en-US" sz="1050" dirty="0"/>
          </a:p>
          <a:p>
            <a:pPr indent="0" marL="0">
              <a:lnSpc>
                <a:spcPct val="115000"/>
              </a:lnSpc>
              <a:buNone/>
            </a:pPr>
            <a:endParaRPr lang="en-US" sz="1050" dirty="0"/>
          </a:p>
          <a:p>
            <a:pPr indent="0" marL="0">
              <a:lnSpc>
                <a:spcPct val="115000"/>
              </a:lnSpc>
              <a:buNone/>
            </a:pPr>
            <a:r>
              <a:rPr lang="en-US" sz="1050" dirty="0">
                <a:solidFill>
                  <a:srgbClr val="0F172A"/>
                </a:solidFill>
                <a:latin typeface="Calibri" pitchFamily="34" charset="0"/>
                <a:ea typeface="Calibri" pitchFamily="34" charset="-122"/>
                <a:cs typeface="Calibri" pitchFamily="34" charset="-120"/>
              </a:rPr>
              <a:t>• Vận hành trên laptop thông thường: Tối ưu thuật toán trên CPU đa nhân kết hợp GPU rời phổ thông.</a:t>
            </a:r>
            <a:endParaRPr lang="en-US" sz="1050" dirty="0"/>
          </a:p>
          <a:p>
            <a:pPr indent="0" marL="0">
              <a:lnSpc>
                <a:spcPct val="115000"/>
              </a:lnSpc>
              <a:buNone/>
            </a:pPr>
            <a:endParaRPr lang="en-US" sz="1050" dirty="0"/>
          </a:p>
          <a:p>
            <a:pPr indent="0" marL="0">
              <a:lnSpc>
                <a:spcPct val="115000"/>
              </a:lnSpc>
              <a:buNone/>
            </a:pPr>
            <a:r>
              <a:rPr lang="en-US" sz="1050" dirty="0">
                <a:solidFill>
                  <a:srgbClr val="0F172A"/>
                </a:solidFill>
                <a:latin typeface="Calibri" pitchFamily="34" charset="0"/>
                <a:ea typeface="Calibri" pitchFamily="34" charset="-122"/>
                <a:cs typeface="Calibri" pitchFamily="34" charset="-120"/>
              </a:rPr>
              <a:t>• Không phụ thuộc phần cứng đắt đỏ: Hoạt động ổn định trên chuỗi ảnh tuần tự mà không bắt buộc có GPS RTK.</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dirty="0">
                <a:solidFill>
                  <a:srgbClr val="0284C7"/>
                </a:solidFill>
                <a:latin typeface="Calibri" pitchFamily="34" charset="0"/>
                <a:ea typeface="Calibri" pitchFamily="34" charset="-122"/>
                <a:cs typeface="Calibri" pitchFamily="34" charset="-120"/>
              </a:rPr>
              <a:t>TỔNG QUAN TÌNH HÌNH NGHIÊN CỨU</a:t>
            </a:r>
            <a:endParaRPr lang="en-US" sz="1000" dirty="0"/>
          </a:p>
        </p:txBody>
      </p:sp>
      <p:sp>
        <p:nvSpPr>
          <p:cNvPr id="3" name="Text 1"/>
          <p:cNvSpPr/>
          <p:nvPr/>
        </p:nvSpPr>
        <p:spPr>
          <a:xfrm>
            <a:off x="548640" y="621792"/>
            <a:ext cx="8046720" cy="411480"/>
          </a:xfrm>
          <a:prstGeom prst="rect">
            <a:avLst/>
          </a:prstGeom>
          <a:noFill/>
          <a:ln/>
        </p:spPr>
        <p:txBody>
          <a:bodyPr wrap="square" lIns="0" tIns="0" rIns="0" bIns="0" rtlCol="0" anchor="ctr"/>
          <a:lstStyle/>
          <a:p>
            <a:pPr indent="0" marL="0">
              <a:buNone/>
            </a:pPr>
            <a:r>
              <a:rPr lang="en-US" sz="2000" b="1" dirty="0">
                <a:solidFill>
                  <a:srgbClr val="0F172A"/>
                </a:solidFill>
                <a:latin typeface="Calibri" pitchFamily="34" charset="0"/>
                <a:ea typeface="Calibri" pitchFamily="34" charset="-122"/>
                <a:cs typeface="Calibri" pitchFamily="34" charset="-120"/>
              </a:rPr>
              <a:t>Ba điểm nghẽn kỹ thuật trong các công bố quốc tế gần đây</a:t>
            </a:r>
            <a:endParaRPr lang="en-US" sz="2000" dirty="0"/>
          </a:p>
        </p:txBody>
      </p:sp>
      <p:sp>
        <p:nvSpPr>
          <p:cNvPr id="4" name="Shape 2"/>
          <p:cNvSpPr/>
          <p:nvPr/>
        </p:nvSpPr>
        <p:spPr>
          <a:xfrm>
            <a:off x="548640" y="1234440"/>
            <a:ext cx="8046720" cy="1024128"/>
          </a:xfrm>
          <a:prstGeom prst="roundRect">
            <a:avLst>
              <a:gd name="adj" fmla="val 7143"/>
            </a:avLst>
          </a:prstGeom>
          <a:solidFill>
            <a:srgbClr val="FFFFFF"/>
          </a:solidFill>
          <a:ln w="12700">
            <a:solidFill>
              <a:srgbClr val="E2E8F0"/>
            </a:solidFill>
            <a:prstDash val="solid"/>
          </a:ln>
        </p:spPr>
      </p:sp>
      <p:sp>
        <p:nvSpPr>
          <p:cNvPr id="5" name="Shape 3"/>
          <p:cNvSpPr/>
          <p:nvPr/>
        </p:nvSpPr>
        <p:spPr>
          <a:xfrm>
            <a:off x="731520" y="1380744"/>
            <a:ext cx="640080" cy="731520"/>
          </a:xfrm>
          <a:prstGeom prst="roundRect">
            <a:avLst>
              <a:gd name="adj" fmla="val 8571"/>
            </a:avLst>
          </a:prstGeom>
          <a:solidFill>
            <a:srgbClr val="1E293B"/>
          </a:solidFill>
          <a:ln w="12700">
            <a:solidFill>
              <a:srgbClr val="334155"/>
            </a:solidFill>
            <a:prstDash val="solid"/>
          </a:ln>
        </p:spPr>
      </p:sp>
      <p:sp>
        <p:nvSpPr>
          <p:cNvPr id="6" name="Text 4"/>
          <p:cNvSpPr/>
          <p:nvPr/>
        </p:nvSpPr>
        <p:spPr>
          <a:xfrm>
            <a:off x="731520" y="1527048"/>
            <a:ext cx="640080" cy="411480"/>
          </a:xfrm>
          <a:prstGeom prst="rect">
            <a:avLst/>
          </a:prstGeom>
          <a:noFill/>
          <a:ln/>
        </p:spPr>
        <p:txBody>
          <a:bodyPr wrap="square" lIns="0" tIns="0" rIns="0" bIns="0" rtlCol="0" anchor="ctr"/>
          <a:lstStyle/>
          <a:p>
            <a:pPr algn="ctr" indent="0" marL="0">
              <a:buNone/>
            </a:pPr>
            <a:r>
              <a:rPr lang="en-US" sz="1600" b="1" dirty="0">
                <a:solidFill>
                  <a:srgbClr val="0EA5E9"/>
                </a:solidFill>
                <a:latin typeface="Calibri" pitchFamily="34" charset="0"/>
                <a:ea typeface="Calibri" pitchFamily="34" charset="-122"/>
                <a:cs typeface="Calibri" pitchFamily="34" charset="-120"/>
              </a:rPr>
              <a:t>01</a:t>
            </a:r>
            <a:endParaRPr lang="en-US" sz="1600" dirty="0"/>
          </a:p>
        </p:txBody>
      </p:sp>
      <p:sp>
        <p:nvSpPr>
          <p:cNvPr id="7" name="Text 5"/>
          <p:cNvSpPr/>
          <p:nvPr/>
        </p:nvSpPr>
        <p:spPr>
          <a:xfrm>
            <a:off x="1508760" y="1362456"/>
            <a:ext cx="3200400" cy="27432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Thiếu dự báo lỗi sớm</a:t>
            </a:r>
            <a:endParaRPr lang="en-US" sz="1300" dirty="0"/>
          </a:p>
        </p:txBody>
      </p:sp>
      <p:sp>
        <p:nvSpPr>
          <p:cNvPr id="8" name="Text 6"/>
          <p:cNvSpPr/>
          <p:nvPr/>
        </p:nvSpPr>
        <p:spPr>
          <a:xfrm>
            <a:off x="4846320" y="1380744"/>
            <a:ext cx="3566160" cy="228600"/>
          </a:xfrm>
          <a:prstGeom prst="rect">
            <a:avLst/>
          </a:prstGeom>
          <a:noFill/>
          <a:ln/>
        </p:spPr>
        <p:txBody>
          <a:bodyPr wrap="square" lIns="0" tIns="0" rIns="0" bIns="0" rtlCol="0" anchor="ctr"/>
          <a:lstStyle/>
          <a:p>
            <a:pPr algn="r" indent="0" marL="0">
              <a:buNone/>
            </a:pPr>
            <a:r>
              <a:rPr lang="en-US" sz="950" i="1" dirty="0">
                <a:solidFill>
                  <a:srgbClr val="0284C7"/>
                </a:solidFill>
                <a:latin typeface="Calibri" pitchFamily="34" charset="0"/>
                <a:ea typeface="Calibri" pitchFamily="34" charset="-122"/>
                <a:cs typeface="Calibri" pitchFamily="34" charset="-120"/>
              </a:rPr>
              <a:t>Failure Prediction Gap</a:t>
            </a:r>
            <a:endParaRPr lang="en-US" sz="950" dirty="0"/>
          </a:p>
        </p:txBody>
      </p:sp>
      <p:sp>
        <p:nvSpPr>
          <p:cNvPr id="9" name="Text 7"/>
          <p:cNvSpPr/>
          <p:nvPr/>
        </p:nvSpPr>
        <p:spPr>
          <a:xfrm>
            <a:off x="1508760" y="1655064"/>
            <a:ext cx="6903720" cy="530352"/>
          </a:xfrm>
          <a:prstGeom prst="rect">
            <a:avLst/>
          </a:prstGeom>
          <a:noFill/>
          <a:ln/>
        </p:spPr>
        <p:txBody>
          <a:bodyPr wrap="square" lIns="0" tIns="0" rIns="0" bIns="0" rtlCol="0" anchor="ctr"/>
          <a:lstStyle/>
          <a:p>
            <a:pPr indent="0" marL="0">
              <a:lnSpc>
                <a:spcPct val="115000"/>
              </a:lnSpc>
              <a:buNone/>
            </a:pPr>
            <a:r>
              <a:rPr lang="en-US" sz="1000" dirty="0">
                <a:solidFill>
                  <a:srgbClr val="0F172A"/>
                </a:solidFill>
                <a:latin typeface="Calibri" pitchFamily="34" charset="0"/>
                <a:ea typeface="Calibri" pitchFamily="34" charset="-122"/>
                <a:cs typeface="Calibri" pitchFamily="34" charset="-120"/>
              </a:rPr>
              <a:t>Các pipeline UAV hiện nay (Hwang 2026, Li 2023) thường chỉ dùng số inlier tối thiểu để nhận/loại frame cục bộ. Tuy nhiên, nghiên cứu gần đây (Zaffar 2024, Barath 2023) chỉ ra số inlier cục bộ có tương quan yếu với sai số toàn cục và dễ bị dương tính giả khi gặp cảnh lặp vân nông nghiệp.</a:t>
            </a:r>
            <a:endParaRPr lang="en-US" sz="1000" dirty="0"/>
          </a:p>
        </p:txBody>
      </p:sp>
      <p:sp>
        <p:nvSpPr>
          <p:cNvPr id="10" name="Shape 8"/>
          <p:cNvSpPr/>
          <p:nvPr/>
        </p:nvSpPr>
        <p:spPr>
          <a:xfrm>
            <a:off x="548640" y="2377440"/>
            <a:ext cx="8046720" cy="1024128"/>
          </a:xfrm>
          <a:prstGeom prst="roundRect">
            <a:avLst>
              <a:gd name="adj" fmla="val 7143"/>
            </a:avLst>
          </a:prstGeom>
          <a:solidFill>
            <a:srgbClr val="FFFFFF"/>
          </a:solidFill>
          <a:ln w="12700">
            <a:solidFill>
              <a:srgbClr val="E2E8F0"/>
            </a:solidFill>
            <a:prstDash val="solid"/>
          </a:ln>
        </p:spPr>
      </p:sp>
      <p:sp>
        <p:nvSpPr>
          <p:cNvPr id="11" name="Shape 9"/>
          <p:cNvSpPr/>
          <p:nvPr/>
        </p:nvSpPr>
        <p:spPr>
          <a:xfrm>
            <a:off x="731520" y="2523744"/>
            <a:ext cx="640080" cy="731520"/>
          </a:xfrm>
          <a:prstGeom prst="roundRect">
            <a:avLst>
              <a:gd name="adj" fmla="val 8571"/>
            </a:avLst>
          </a:prstGeom>
          <a:solidFill>
            <a:srgbClr val="1E293B"/>
          </a:solidFill>
          <a:ln w="12700">
            <a:solidFill>
              <a:srgbClr val="334155"/>
            </a:solidFill>
            <a:prstDash val="solid"/>
          </a:ln>
        </p:spPr>
      </p:sp>
      <p:sp>
        <p:nvSpPr>
          <p:cNvPr id="12" name="Text 10"/>
          <p:cNvSpPr/>
          <p:nvPr/>
        </p:nvSpPr>
        <p:spPr>
          <a:xfrm>
            <a:off x="731520" y="2670048"/>
            <a:ext cx="640080" cy="411480"/>
          </a:xfrm>
          <a:prstGeom prst="rect">
            <a:avLst/>
          </a:prstGeom>
          <a:noFill/>
          <a:ln/>
        </p:spPr>
        <p:txBody>
          <a:bodyPr wrap="square" lIns="0" tIns="0" rIns="0" bIns="0" rtlCol="0" anchor="ctr"/>
          <a:lstStyle/>
          <a:p>
            <a:pPr algn="ctr" indent="0" marL="0">
              <a:buNone/>
            </a:pPr>
            <a:r>
              <a:rPr lang="en-US" sz="1600" b="1" dirty="0">
                <a:solidFill>
                  <a:srgbClr val="0EA5E9"/>
                </a:solidFill>
                <a:latin typeface="Calibri" pitchFamily="34" charset="0"/>
                <a:ea typeface="Calibri" pitchFamily="34" charset="-122"/>
                <a:cs typeface="Calibri" pitchFamily="34" charset="-120"/>
              </a:rPr>
              <a:t>02</a:t>
            </a:r>
            <a:endParaRPr lang="en-US" sz="1600" dirty="0"/>
          </a:p>
        </p:txBody>
      </p:sp>
      <p:sp>
        <p:nvSpPr>
          <p:cNvPr id="13" name="Text 11"/>
          <p:cNvSpPr/>
          <p:nvPr/>
        </p:nvSpPr>
        <p:spPr>
          <a:xfrm>
            <a:off x="1508760" y="2505456"/>
            <a:ext cx="3200400" cy="27432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Đánh đổi gay gắt về tài nguyên</a:t>
            </a:r>
            <a:endParaRPr lang="en-US" sz="1300" dirty="0"/>
          </a:p>
        </p:txBody>
      </p:sp>
      <p:sp>
        <p:nvSpPr>
          <p:cNvPr id="14" name="Text 12"/>
          <p:cNvSpPr/>
          <p:nvPr/>
        </p:nvSpPr>
        <p:spPr>
          <a:xfrm>
            <a:off x="4846320" y="2523744"/>
            <a:ext cx="3566160" cy="228600"/>
          </a:xfrm>
          <a:prstGeom prst="rect">
            <a:avLst/>
          </a:prstGeom>
          <a:noFill/>
          <a:ln/>
        </p:spPr>
        <p:txBody>
          <a:bodyPr wrap="square" lIns="0" tIns="0" rIns="0" bIns="0" rtlCol="0" anchor="ctr"/>
          <a:lstStyle/>
          <a:p>
            <a:pPr algn="r" indent="0" marL="0">
              <a:buNone/>
            </a:pPr>
            <a:r>
              <a:rPr lang="en-US" sz="950" i="1" dirty="0">
                <a:solidFill>
                  <a:srgbClr val="0284C7"/>
                </a:solidFill>
                <a:latin typeface="Calibri" pitchFamily="34" charset="0"/>
                <a:ea typeface="Calibri" pitchFamily="34" charset="-122"/>
                <a:cs typeface="Calibri" pitchFamily="34" charset="-120"/>
              </a:rPr>
              <a:t>Resource vs. Accuracy Dilemma</a:t>
            </a:r>
            <a:endParaRPr lang="en-US" sz="950" dirty="0"/>
          </a:p>
        </p:txBody>
      </p:sp>
      <p:sp>
        <p:nvSpPr>
          <p:cNvPr id="15" name="Text 13"/>
          <p:cNvSpPr/>
          <p:nvPr/>
        </p:nvSpPr>
        <p:spPr>
          <a:xfrm>
            <a:off x="1508760" y="2798064"/>
            <a:ext cx="6903720" cy="530352"/>
          </a:xfrm>
          <a:prstGeom prst="rect">
            <a:avLst/>
          </a:prstGeom>
          <a:noFill/>
          <a:ln/>
        </p:spPr>
        <p:txBody>
          <a:bodyPr wrap="square" lIns="0" tIns="0" rIns="0" bIns="0" rtlCol="0" anchor="ctr"/>
          <a:lstStyle/>
          <a:p>
            <a:pPr indent="0" marL="0">
              <a:lnSpc>
                <a:spcPct val="115000"/>
              </a:lnSpc>
              <a:buNone/>
            </a:pPr>
            <a:r>
              <a:rPr lang="en-US" sz="1000" dirty="0">
                <a:solidFill>
                  <a:srgbClr val="0F172A"/>
                </a:solidFill>
                <a:latin typeface="Calibri" pitchFamily="34" charset="0"/>
                <a:ea typeface="Calibri" pitchFamily="34" charset="-122"/>
                <a:cs typeface="Calibri" pitchFamily="34" charset="-120"/>
              </a:rPr>
              <a:t>Giải thuật cổ điển (SIFT/ORB) chạy nhanh trên CPU nhưng dễ gãy khi camera đổi hướng nhanh hoặc địa hình ít đặc trưng. Ngược lại, các mô hình học sâu như SIFT+LightGlue (Kim 2025) đạt độ chính xác cao nhưng tiêu tốn tài nguyên gấp 5-10 lần, không thể chạy cho 100% video.</a:t>
            </a:r>
            <a:endParaRPr lang="en-US" sz="1000" dirty="0"/>
          </a:p>
        </p:txBody>
      </p:sp>
      <p:sp>
        <p:nvSpPr>
          <p:cNvPr id="16" name="Shape 14"/>
          <p:cNvSpPr/>
          <p:nvPr/>
        </p:nvSpPr>
        <p:spPr>
          <a:xfrm>
            <a:off x="548640" y="3520440"/>
            <a:ext cx="8046720" cy="1024128"/>
          </a:xfrm>
          <a:prstGeom prst="roundRect">
            <a:avLst>
              <a:gd name="adj" fmla="val 7143"/>
            </a:avLst>
          </a:prstGeom>
          <a:solidFill>
            <a:srgbClr val="FFFFFF"/>
          </a:solidFill>
          <a:ln w="12700">
            <a:solidFill>
              <a:srgbClr val="E2E8F0"/>
            </a:solidFill>
            <a:prstDash val="solid"/>
          </a:ln>
        </p:spPr>
      </p:sp>
      <p:sp>
        <p:nvSpPr>
          <p:cNvPr id="17" name="Shape 15"/>
          <p:cNvSpPr/>
          <p:nvPr/>
        </p:nvSpPr>
        <p:spPr>
          <a:xfrm>
            <a:off x="731520" y="3666744"/>
            <a:ext cx="640080" cy="731520"/>
          </a:xfrm>
          <a:prstGeom prst="roundRect">
            <a:avLst>
              <a:gd name="adj" fmla="val 8571"/>
            </a:avLst>
          </a:prstGeom>
          <a:solidFill>
            <a:srgbClr val="1E293B"/>
          </a:solidFill>
          <a:ln w="12700">
            <a:solidFill>
              <a:srgbClr val="334155"/>
            </a:solidFill>
            <a:prstDash val="solid"/>
          </a:ln>
        </p:spPr>
      </p:sp>
      <p:sp>
        <p:nvSpPr>
          <p:cNvPr id="18" name="Text 16"/>
          <p:cNvSpPr/>
          <p:nvPr/>
        </p:nvSpPr>
        <p:spPr>
          <a:xfrm>
            <a:off x="731520" y="3813048"/>
            <a:ext cx="640080" cy="411480"/>
          </a:xfrm>
          <a:prstGeom prst="rect">
            <a:avLst/>
          </a:prstGeom>
          <a:noFill/>
          <a:ln/>
        </p:spPr>
        <p:txBody>
          <a:bodyPr wrap="square" lIns="0" tIns="0" rIns="0" bIns="0" rtlCol="0" anchor="ctr"/>
          <a:lstStyle/>
          <a:p>
            <a:pPr algn="ctr" indent="0" marL="0">
              <a:buNone/>
            </a:pPr>
            <a:r>
              <a:rPr lang="en-US" sz="1600" b="1" dirty="0">
                <a:solidFill>
                  <a:srgbClr val="0EA5E9"/>
                </a:solidFill>
                <a:latin typeface="Calibri" pitchFamily="34" charset="0"/>
                <a:ea typeface="Calibri" pitchFamily="34" charset="-122"/>
                <a:cs typeface="Calibri" pitchFamily="34" charset="-120"/>
              </a:rPr>
              <a:t>03</a:t>
            </a:r>
            <a:endParaRPr lang="en-US" sz="1600" dirty="0"/>
          </a:p>
        </p:txBody>
      </p:sp>
      <p:sp>
        <p:nvSpPr>
          <p:cNvPr id="19" name="Text 17"/>
          <p:cNvSpPr/>
          <p:nvPr/>
        </p:nvSpPr>
        <p:spPr>
          <a:xfrm>
            <a:off x="1508760" y="3648456"/>
            <a:ext cx="3200400" cy="27432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Phục hồi chưa quy chuẩn</a:t>
            </a:r>
            <a:endParaRPr lang="en-US" sz="1300" dirty="0"/>
          </a:p>
        </p:txBody>
      </p:sp>
      <p:sp>
        <p:nvSpPr>
          <p:cNvPr id="20" name="Text 18"/>
          <p:cNvSpPr/>
          <p:nvPr/>
        </p:nvSpPr>
        <p:spPr>
          <a:xfrm>
            <a:off x="4846320" y="3666744"/>
            <a:ext cx="3566160" cy="228600"/>
          </a:xfrm>
          <a:prstGeom prst="rect">
            <a:avLst/>
          </a:prstGeom>
          <a:noFill/>
          <a:ln/>
        </p:spPr>
        <p:txBody>
          <a:bodyPr wrap="square" lIns="0" tIns="0" rIns="0" bIns="0" rtlCol="0" anchor="ctr"/>
          <a:lstStyle/>
          <a:p>
            <a:pPr algn="r" indent="0" marL="0">
              <a:buNone/>
            </a:pPr>
            <a:r>
              <a:rPr lang="en-US" sz="950" i="1" dirty="0">
                <a:solidFill>
                  <a:srgbClr val="0284C7"/>
                </a:solidFill>
                <a:latin typeface="Calibri" pitchFamily="34" charset="0"/>
                <a:ea typeface="Calibri" pitchFamily="34" charset="-122"/>
                <a:cs typeface="Calibri" pitchFamily="34" charset="-120"/>
              </a:rPr>
              <a:t>Unstandardized Recovery Evaluation</a:t>
            </a:r>
            <a:endParaRPr lang="en-US" sz="950" dirty="0"/>
          </a:p>
        </p:txBody>
      </p:sp>
      <p:sp>
        <p:nvSpPr>
          <p:cNvPr id="21" name="Text 19"/>
          <p:cNvSpPr/>
          <p:nvPr/>
        </p:nvSpPr>
        <p:spPr>
          <a:xfrm>
            <a:off x="1508760" y="3941064"/>
            <a:ext cx="6903720" cy="530352"/>
          </a:xfrm>
          <a:prstGeom prst="rect">
            <a:avLst/>
          </a:prstGeom>
          <a:noFill/>
          <a:ln/>
        </p:spPr>
        <p:txBody>
          <a:bodyPr wrap="square" lIns="0" tIns="0" rIns="0" bIns="0" rtlCol="0" anchor="ctr"/>
          <a:lstStyle/>
          <a:p>
            <a:pPr indent="0" marL="0">
              <a:lnSpc>
                <a:spcPct val="115000"/>
              </a:lnSpc>
              <a:buNone/>
            </a:pPr>
            <a:r>
              <a:rPr lang="en-US" sz="1000" dirty="0">
                <a:solidFill>
                  <a:srgbClr val="0F172A"/>
                </a:solidFill>
                <a:latin typeface="Calibri" pitchFamily="34" charset="0"/>
                <a:ea typeface="Calibri" pitchFamily="34" charset="-122"/>
                <a:cs typeface="Calibri" pitchFamily="34" charset="-120"/>
              </a:rPr>
              <a:t>Các phương án xử lý mất dấu như loại bỏ frame, tái đối sánh keyframe (Li 2023) hay tách submosaic (DroneZaic 2025) tồn tại rời rạc. Hiện chưa có nghiên cứu nào so sánh trực tiếp hiệu quả của cả 3 chiến lược dưới cùng một điều kiện ngưỡng kích hoạt rủi ro (confidence trigger).</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dirty="0">
                <a:solidFill>
                  <a:srgbClr val="0284C7"/>
                </a:solidFill>
                <a:latin typeface="Calibri" pitchFamily="34" charset="0"/>
                <a:ea typeface="Calibri" pitchFamily="34" charset="-122"/>
                <a:cs typeface="Calibri" pitchFamily="34" charset="-120"/>
              </a:rPr>
              <a:t>MỤC TIÊU &amp; CÂU HỎI NGHIÊN CỨU</a:t>
            </a:r>
            <a:endParaRPr lang="en-US" sz="1000" dirty="0"/>
          </a:p>
        </p:txBody>
      </p:sp>
      <p:sp>
        <p:nvSpPr>
          <p:cNvPr id="3" name="Text 1"/>
          <p:cNvSpPr/>
          <p:nvPr/>
        </p:nvSpPr>
        <p:spPr>
          <a:xfrm>
            <a:off x="548640" y="621792"/>
            <a:ext cx="8046720" cy="411480"/>
          </a:xfrm>
          <a:prstGeom prst="rect">
            <a:avLst/>
          </a:prstGeom>
          <a:noFill/>
          <a:ln/>
        </p:spPr>
        <p:txBody>
          <a:bodyPr wrap="square" lIns="0" tIns="0" rIns="0" bIns="0" rtlCol="0" anchor="ctr"/>
          <a:lstStyle/>
          <a:p>
            <a:pPr indent="0" marL="0">
              <a:buNone/>
            </a:pPr>
            <a:r>
              <a:rPr lang="en-US" sz="2000" b="1" dirty="0">
                <a:solidFill>
                  <a:srgbClr val="0F172A"/>
                </a:solidFill>
                <a:latin typeface="Calibri" pitchFamily="34" charset="0"/>
                <a:ea typeface="Calibri" pitchFamily="34" charset="-122"/>
                <a:cs typeface="Calibri" pitchFamily="34" charset="-120"/>
              </a:rPr>
              <a:t>Khung 3 câu hỏi cốt lõi giải quyết bài toán Failure-Aware Mosaicking</a:t>
            </a:r>
            <a:endParaRPr lang="en-US" sz="2000" dirty="0"/>
          </a:p>
        </p:txBody>
      </p:sp>
      <p:sp>
        <p:nvSpPr>
          <p:cNvPr id="4" name="Shape 2"/>
          <p:cNvSpPr/>
          <p:nvPr/>
        </p:nvSpPr>
        <p:spPr>
          <a:xfrm>
            <a:off x="548640" y="1143000"/>
            <a:ext cx="8046720" cy="594360"/>
          </a:xfrm>
          <a:prstGeom prst="roundRect">
            <a:avLst>
              <a:gd name="adj" fmla="val 12308"/>
            </a:avLst>
          </a:prstGeom>
          <a:solidFill>
            <a:srgbClr val="1E293B"/>
          </a:solidFill>
          <a:ln w="12700">
            <a:solidFill>
              <a:srgbClr val="334155"/>
            </a:solidFill>
            <a:prstDash val="solid"/>
          </a:ln>
        </p:spPr>
      </p:sp>
      <p:sp>
        <p:nvSpPr>
          <p:cNvPr id="5" name="Text 3"/>
          <p:cNvSpPr/>
          <p:nvPr/>
        </p:nvSpPr>
        <p:spPr>
          <a:xfrm>
            <a:off x="731520" y="1216152"/>
            <a:ext cx="7680960" cy="45720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MỤC TIÊU TỔNG QUÁT: Xây dựng pipeline phần mềm ghép ảnh 2D từ video UAV có khả năng tự nhận biết rủi ro đăng ký ảnh, phân luồng tài nguyên thích ứng và phục hồi có kiểm soát nhằm khống chế sai số trôi dạt tích lũy.</a:t>
            </a:r>
            <a:endParaRPr lang="en-US" sz="1050" dirty="0"/>
          </a:p>
        </p:txBody>
      </p:sp>
      <p:sp>
        <p:nvSpPr>
          <p:cNvPr id="6" name="Shape 4"/>
          <p:cNvSpPr/>
          <p:nvPr/>
        </p:nvSpPr>
        <p:spPr>
          <a:xfrm>
            <a:off x="548640" y="1920240"/>
            <a:ext cx="2560320" cy="2743200"/>
          </a:xfrm>
          <a:prstGeom prst="roundRect">
            <a:avLst>
              <a:gd name="adj" fmla="val 3571"/>
            </a:avLst>
          </a:prstGeom>
          <a:solidFill>
            <a:srgbClr val="FFFFFF"/>
          </a:solidFill>
          <a:ln w="12700">
            <a:solidFill>
              <a:srgbClr val="E2E8F0"/>
            </a:solidFill>
            <a:prstDash val="solid"/>
          </a:ln>
        </p:spPr>
      </p:sp>
      <p:sp>
        <p:nvSpPr>
          <p:cNvPr id="7" name="Shape 5"/>
          <p:cNvSpPr/>
          <p:nvPr/>
        </p:nvSpPr>
        <p:spPr>
          <a:xfrm>
            <a:off x="685800" y="2057400"/>
            <a:ext cx="2286000" cy="320040"/>
          </a:xfrm>
          <a:prstGeom prst="roundRect">
            <a:avLst>
              <a:gd name="adj" fmla="val 17143"/>
            </a:avLst>
          </a:prstGeom>
          <a:solidFill>
            <a:srgbClr val="E0F2FE"/>
          </a:solidFill>
          <a:ln w="6350">
            <a:solidFill>
              <a:srgbClr val="0EA5E9"/>
            </a:solidFill>
            <a:prstDash val="solid"/>
          </a:ln>
        </p:spPr>
      </p:sp>
      <p:sp>
        <p:nvSpPr>
          <p:cNvPr id="8" name="Text 6"/>
          <p:cNvSpPr/>
          <p:nvPr/>
        </p:nvSpPr>
        <p:spPr>
          <a:xfrm>
            <a:off x="731520" y="2121408"/>
            <a:ext cx="2194560" cy="182880"/>
          </a:xfrm>
          <a:prstGeom prst="rect">
            <a:avLst/>
          </a:prstGeom>
          <a:noFill/>
          <a:ln/>
        </p:spPr>
        <p:txBody>
          <a:bodyPr wrap="square" lIns="0" tIns="0" rIns="0" bIns="0" rtlCol="0" anchor="ctr"/>
          <a:lstStyle/>
          <a:p>
            <a:pPr indent="0" marL="0">
              <a:buNone/>
            </a:pPr>
            <a:r>
              <a:rPr lang="en-US" sz="950" b="1" dirty="0">
                <a:solidFill>
                  <a:srgbClr val="0369A1"/>
                </a:solidFill>
                <a:latin typeface="Calibri" pitchFamily="34" charset="0"/>
                <a:ea typeface="Calibri" pitchFamily="34" charset="-122"/>
                <a:cs typeface="Calibri" pitchFamily="34" charset="-120"/>
              </a:rPr>
              <a:t>RQ1: FAILURE PREDICTION</a:t>
            </a:r>
            <a:endParaRPr lang="en-US" sz="950" dirty="0"/>
          </a:p>
        </p:txBody>
      </p:sp>
      <p:sp>
        <p:nvSpPr>
          <p:cNvPr id="9" name="Text 7"/>
          <p:cNvSpPr/>
          <p:nvPr/>
        </p:nvSpPr>
        <p:spPr>
          <a:xfrm>
            <a:off x="731520" y="2487168"/>
            <a:ext cx="2194560" cy="320040"/>
          </a:xfrm>
          <a:prstGeom prst="rect">
            <a:avLst/>
          </a:prstGeom>
          <a:noFill/>
          <a:ln/>
        </p:spPr>
        <p:txBody>
          <a:bodyPr wrap="square" lIns="0" tIns="0" rIns="0" bIns="0"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Chỉ báo rủi ro chi phí thấp</a:t>
            </a:r>
            <a:endParaRPr lang="en-US" sz="1200" dirty="0"/>
          </a:p>
        </p:txBody>
      </p:sp>
      <p:sp>
        <p:nvSpPr>
          <p:cNvPr id="10" name="Text 8"/>
          <p:cNvSpPr/>
          <p:nvPr/>
        </p:nvSpPr>
        <p:spPr>
          <a:xfrm>
            <a:off x="731520" y="2852928"/>
            <a:ext cx="2194560" cy="1051560"/>
          </a:xfrm>
          <a:prstGeom prst="rect">
            <a:avLst/>
          </a:prstGeom>
          <a:noFill/>
          <a:ln/>
        </p:spPr>
        <p:txBody>
          <a:bodyPr wrap="square" lIns="0" tIns="0" rIns="0" bIns="0" rtlCol="0" anchor="ctr"/>
          <a:lstStyle/>
          <a:p>
            <a:pPr indent="0" marL="0">
              <a:lnSpc>
                <a:spcPct val="115000"/>
              </a:lnSpc>
              <a:buNone/>
            </a:pPr>
            <a:r>
              <a:rPr lang="en-US" sz="1000" dirty="0">
                <a:solidFill>
                  <a:srgbClr val="0F172A"/>
                </a:solidFill>
                <a:latin typeface="Calibri" pitchFamily="34" charset="0"/>
                <a:ea typeface="Calibri" pitchFamily="34" charset="-122"/>
                <a:cs typeface="Calibri" pitchFamily="34" charset="-120"/>
              </a:rPr>
              <a:t>Tổ hợp chỉ báo hình học rẻ nào ở cấp cặp frame (inlier ratio, reprojection error, overlap, spatial spread) dự báo chính xác nguy cơ lỗi đăng ký và drift tích lũy?</a:t>
            </a:r>
            <a:endParaRPr lang="en-US" sz="1000" dirty="0"/>
          </a:p>
        </p:txBody>
      </p:sp>
      <p:sp>
        <p:nvSpPr>
          <p:cNvPr id="11" name="Shape 9"/>
          <p:cNvSpPr/>
          <p:nvPr/>
        </p:nvSpPr>
        <p:spPr>
          <a:xfrm>
            <a:off x="731520" y="3977640"/>
            <a:ext cx="2194560" cy="594360"/>
          </a:xfrm>
          <a:prstGeom prst="rect">
            <a:avLst/>
          </a:prstGeom>
          <a:solidFill>
            <a:srgbClr val="F8FAFC"/>
          </a:solidFill>
          <a:ln w="6350">
            <a:solidFill>
              <a:srgbClr val="E2E8F0"/>
            </a:solidFill>
            <a:prstDash val="solid"/>
          </a:ln>
        </p:spPr>
      </p:sp>
      <p:sp>
        <p:nvSpPr>
          <p:cNvPr id="12" name="Text 10"/>
          <p:cNvSpPr/>
          <p:nvPr/>
        </p:nvSpPr>
        <p:spPr>
          <a:xfrm>
            <a:off x="777240" y="4023360"/>
            <a:ext cx="2103120" cy="502920"/>
          </a:xfrm>
          <a:prstGeom prst="rect">
            <a:avLst/>
          </a:prstGeom>
          <a:noFill/>
          <a:ln/>
        </p:spPr>
        <p:txBody>
          <a:bodyPr wrap="square" lIns="0" tIns="0" rIns="0" bIns="0" rtlCol="0" anchor="ctr"/>
          <a:lstStyle/>
          <a:p>
            <a:pPr indent="0" marL="0">
              <a:lnSpc>
                <a:spcPct val="110000"/>
              </a:lnSpc>
              <a:buNone/>
            </a:pPr>
            <a:r>
              <a:rPr lang="en-US" sz="900" i="1" dirty="0">
                <a:solidFill>
                  <a:srgbClr val="64748B"/>
                </a:solidFill>
                <a:latin typeface="Calibri" pitchFamily="34" charset="0"/>
                <a:ea typeface="Calibri" pitchFamily="34" charset="-122"/>
                <a:cs typeface="Calibri" pitchFamily="34" charset="-120"/>
              </a:rPr>
              <a:t>Trọng tâm: Tìm tương quan định lượng giữa sai số tức thời pairwise và trôi dạt toàn mosaic.</a:t>
            </a:r>
            <a:endParaRPr lang="en-US" sz="900" dirty="0"/>
          </a:p>
        </p:txBody>
      </p:sp>
      <p:sp>
        <p:nvSpPr>
          <p:cNvPr id="13" name="Shape 11"/>
          <p:cNvSpPr/>
          <p:nvPr/>
        </p:nvSpPr>
        <p:spPr>
          <a:xfrm>
            <a:off x="3291840" y="1920240"/>
            <a:ext cx="2560320" cy="2743200"/>
          </a:xfrm>
          <a:prstGeom prst="roundRect">
            <a:avLst>
              <a:gd name="adj" fmla="val 3571"/>
            </a:avLst>
          </a:prstGeom>
          <a:solidFill>
            <a:srgbClr val="FFFFFF"/>
          </a:solidFill>
          <a:ln w="12700">
            <a:solidFill>
              <a:srgbClr val="E2E8F0"/>
            </a:solidFill>
            <a:prstDash val="solid"/>
          </a:ln>
        </p:spPr>
      </p:sp>
      <p:sp>
        <p:nvSpPr>
          <p:cNvPr id="14" name="Shape 12"/>
          <p:cNvSpPr/>
          <p:nvPr/>
        </p:nvSpPr>
        <p:spPr>
          <a:xfrm>
            <a:off x="3429000" y="2057400"/>
            <a:ext cx="2286000" cy="320040"/>
          </a:xfrm>
          <a:prstGeom prst="roundRect">
            <a:avLst>
              <a:gd name="adj" fmla="val 17143"/>
            </a:avLst>
          </a:prstGeom>
          <a:solidFill>
            <a:srgbClr val="E0F2FE"/>
          </a:solidFill>
          <a:ln w="6350">
            <a:solidFill>
              <a:srgbClr val="0EA5E9"/>
            </a:solidFill>
            <a:prstDash val="solid"/>
          </a:ln>
        </p:spPr>
      </p:sp>
      <p:sp>
        <p:nvSpPr>
          <p:cNvPr id="15" name="Text 13"/>
          <p:cNvSpPr/>
          <p:nvPr/>
        </p:nvSpPr>
        <p:spPr>
          <a:xfrm>
            <a:off x="3474720" y="2121408"/>
            <a:ext cx="2194560" cy="182880"/>
          </a:xfrm>
          <a:prstGeom prst="rect">
            <a:avLst/>
          </a:prstGeom>
          <a:noFill/>
          <a:ln/>
        </p:spPr>
        <p:txBody>
          <a:bodyPr wrap="square" lIns="0" tIns="0" rIns="0" bIns="0" rtlCol="0" anchor="ctr"/>
          <a:lstStyle/>
          <a:p>
            <a:pPr indent="0" marL="0">
              <a:buNone/>
            </a:pPr>
            <a:r>
              <a:rPr lang="en-US" sz="950" b="1" dirty="0">
                <a:solidFill>
                  <a:srgbClr val="0369A1"/>
                </a:solidFill>
                <a:latin typeface="Calibri" pitchFamily="34" charset="0"/>
                <a:ea typeface="Calibri" pitchFamily="34" charset="-122"/>
                <a:cs typeface="Calibri" pitchFamily="34" charset="-120"/>
              </a:rPr>
              <a:t>RQ2: MATCHER ROUTING</a:t>
            </a:r>
            <a:endParaRPr lang="en-US" sz="950" dirty="0"/>
          </a:p>
        </p:txBody>
      </p:sp>
      <p:sp>
        <p:nvSpPr>
          <p:cNvPr id="16" name="Text 14"/>
          <p:cNvSpPr/>
          <p:nvPr/>
        </p:nvSpPr>
        <p:spPr>
          <a:xfrm>
            <a:off x="3474720" y="2487168"/>
            <a:ext cx="2194560" cy="320040"/>
          </a:xfrm>
          <a:prstGeom prst="rect">
            <a:avLst/>
          </a:prstGeom>
          <a:noFill/>
          <a:ln/>
        </p:spPr>
        <p:txBody>
          <a:bodyPr wrap="square" lIns="0" tIns="0" rIns="0" bIns="0"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Phân luồng thích ứng 2 tầng</a:t>
            </a:r>
            <a:endParaRPr lang="en-US" sz="1200" dirty="0"/>
          </a:p>
        </p:txBody>
      </p:sp>
      <p:sp>
        <p:nvSpPr>
          <p:cNvPr id="17" name="Text 15"/>
          <p:cNvSpPr/>
          <p:nvPr/>
        </p:nvSpPr>
        <p:spPr>
          <a:xfrm>
            <a:off x="3474720" y="2852928"/>
            <a:ext cx="2194560" cy="1051560"/>
          </a:xfrm>
          <a:prstGeom prst="rect">
            <a:avLst/>
          </a:prstGeom>
          <a:noFill/>
          <a:ln/>
        </p:spPr>
        <p:txBody>
          <a:bodyPr wrap="square" lIns="0" tIns="0" rIns="0" bIns="0" rtlCol="0" anchor="ctr"/>
          <a:lstStyle/>
          <a:p>
            <a:pPr indent="0" marL="0">
              <a:lnSpc>
                <a:spcPct val="115000"/>
              </a:lnSpc>
              <a:buNone/>
            </a:pPr>
            <a:r>
              <a:rPr lang="en-US" sz="1000" dirty="0">
                <a:solidFill>
                  <a:srgbClr val="0F172A"/>
                </a:solidFill>
                <a:latin typeface="Calibri" pitchFamily="34" charset="0"/>
                <a:ea typeface="Calibri" pitchFamily="34" charset="-122"/>
                <a:cs typeface="Calibri" pitchFamily="34" charset="-120"/>
              </a:rPr>
              <a:t>Chính sách phân luồng 2 tầng (Classical mặc định, Deep Matcher khi rủi ro) tối ưu hóa sự đánh đổi giữa chất lượng ghép và độ trễ ra sao so với các baseline cố định?</a:t>
            </a:r>
            <a:endParaRPr lang="en-US" sz="1000" dirty="0"/>
          </a:p>
        </p:txBody>
      </p:sp>
      <p:sp>
        <p:nvSpPr>
          <p:cNvPr id="18" name="Shape 16"/>
          <p:cNvSpPr/>
          <p:nvPr/>
        </p:nvSpPr>
        <p:spPr>
          <a:xfrm>
            <a:off x="3474720" y="3977640"/>
            <a:ext cx="2194560" cy="594360"/>
          </a:xfrm>
          <a:prstGeom prst="rect">
            <a:avLst/>
          </a:prstGeom>
          <a:solidFill>
            <a:srgbClr val="F8FAFC"/>
          </a:solidFill>
          <a:ln w="6350">
            <a:solidFill>
              <a:srgbClr val="E2E8F0"/>
            </a:solidFill>
            <a:prstDash val="solid"/>
          </a:ln>
        </p:spPr>
      </p:sp>
      <p:sp>
        <p:nvSpPr>
          <p:cNvPr id="19" name="Text 17"/>
          <p:cNvSpPr/>
          <p:nvPr/>
        </p:nvSpPr>
        <p:spPr>
          <a:xfrm>
            <a:off x="3520440" y="4023360"/>
            <a:ext cx="2103120" cy="502920"/>
          </a:xfrm>
          <a:prstGeom prst="rect">
            <a:avLst/>
          </a:prstGeom>
          <a:noFill/>
          <a:ln/>
        </p:spPr>
        <p:txBody>
          <a:bodyPr wrap="square" lIns="0" tIns="0" rIns="0" bIns="0" rtlCol="0" anchor="ctr"/>
          <a:lstStyle/>
          <a:p>
            <a:pPr indent="0" marL="0">
              <a:lnSpc>
                <a:spcPct val="110000"/>
              </a:lnSpc>
              <a:buNone/>
            </a:pPr>
            <a:r>
              <a:rPr lang="en-US" sz="900" i="1" dirty="0">
                <a:solidFill>
                  <a:srgbClr val="64748B"/>
                </a:solidFill>
                <a:latin typeface="Calibri" pitchFamily="34" charset="0"/>
                <a:ea typeface="Calibri" pitchFamily="34" charset="-122"/>
                <a:cs typeface="Calibri" pitchFamily="34" charset="-120"/>
              </a:rPr>
              <a:t>Trọng tâm: Tiết kiệm tài nguyên biên nhưng vẫn đảm bảo độ tin cậy khi qua vùng khó.</a:t>
            </a:r>
            <a:endParaRPr lang="en-US" sz="900" dirty="0"/>
          </a:p>
        </p:txBody>
      </p:sp>
      <p:sp>
        <p:nvSpPr>
          <p:cNvPr id="20" name="Shape 18"/>
          <p:cNvSpPr/>
          <p:nvPr/>
        </p:nvSpPr>
        <p:spPr>
          <a:xfrm>
            <a:off x="6035040" y="1920240"/>
            <a:ext cx="2560320" cy="2743200"/>
          </a:xfrm>
          <a:prstGeom prst="roundRect">
            <a:avLst>
              <a:gd name="adj" fmla="val 3571"/>
            </a:avLst>
          </a:prstGeom>
          <a:solidFill>
            <a:srgbClr val="FFFFFF"/>
          </a:solidFill>
          <a:ln w="12700">
            <a:solidFill>
              <a:srgbClr val="E2E8F0"/>
            </a:solidFill>
            <a:prstDash val="solid"/>
          </a:ln>
        </p:spPr>
      </p:sp>
      <p:sp>
        <p:nvSpPr>
          <p:cNvPr id="21" name="Shape 19"/>
          <p:cNvSpPr/>
          <p:nvPr/>
        </p:nvSpPr>
        <p:spPr>
          <a:xfrm>
            <a:off x="6172200" y="2057400"/>
            <a:ext cx="2286000" cy="320040"/>
          </a:xfrm>
          <a:prstGeom prst="roundRect">
            <a:avLst>
              <a:gd name="adj" fmla="val 17143"/>
            </a:avLst>
          </a:prstGeom>
          <a:solidFill>
            <a:srgbClr val="E0F2FE"/>
          </a:solidFill>
          <a:ln w="6350">
            <a:solidFill>
              <a:srgbClr val="0EA5E9"/>
            </a:solidFill>
            <a:prstDash val="solid"/>
          </a:ln>
        </p:spPr>
      </p:sp>
      <p:sp>
        <p:nvSpPr>
          <p:cNvPr id="22" name="Text 20"/>
          <p:cNvSpPr/>
          <p:nvPr/>
        </p:nvSpPr>
        <p:spPr>
          <a:xfrm>
            <a:off x="6217920" y="2121408"/>
            <a:ext cx="2194560" cy="182880"/>
          </a:xfrm>
          <a:prstGeom prst="rect">
            <a:avLst/>
          </a:prstGeom>
          <a:noFill/>
          <a:ln/>
        </p:spPr>
        <p:txBody>
          <a:bodyPr wrap="square" lIns="0" tIns="0" rIns="0" bIns="0" rtlCol="0" anchor="ctr"/>
          <a:lstStyle/>
          <a:p>
            <a:pPr indent="0" marL="0">
              <a:buNone/>
            </a:pPr>
            <a:r>
              <a:rPr lang="en-US" sz="950" b="1" dirty="0">
                <a:solidFill>
                  <a:srgbClr val="0369A1"/>
                </a:solidFill>
                <a:latin typeface="Calibri" pitchFamily="34" charset="0"/>
                <a:ea typeface="Calibri" pitchFamily="34" charset="-122"/>
                <a:cs typeface="Calibri" pitchFamily="34" charset="-120"/>
              </a:rPr>
              <a:t>RQ3: CONFIDENCE RECOVERY</a:t>
            </a:r>
            <a:endParaRPr lang="en-US" sz="950" dirty="0"/>
          </a:p>
        </p:txBody>
      </p:sp>
      <p:sp>
        <p:nvSpPr>
          <p:cNvPr id="23" name="Text 21"/>
          <p:cNvSpPr/>
          <p:nvPr/>
        </p:nvSpPr>
        <p:spPr>
          <a:xfrm>
            <a:off x="6217920" y="2487168"/>
            <a:ext cx="2194560" cy="320040"/>
          </a:xfrm>
          <a:prstGeom prst="rect">
            <a:avLst/>
          </a:prstGeom>
          <a:noFill/>
          <a:ln/>
        </p:spPr>
        <p:txBody>
          <a:bodyPr wrap="square" lIns="0" tIns="0" rIns="0" bIns="0"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Phục hồi hạn chế trôi dạt</a:t>
            </a:r>
            <a:endParaRPr lang="en-US" sz="1200" dirty="0"/>
          </a:p>
        </p:txBody>
      </p:sp>
      <p:sp>
        <p:nvSpPr>
          <p:cNvPr id="24" name="Text 22"/>
          <p:cNvSpPr/>
          <p:nvPr/>
        </p:nvSpPr>
        <p:spPr>
          <a:xfrm>
            <a:off x="6217920" y="2852928"/>
            <a:ext cx="2194560" cy="1051560"/>
          </a:xfrm>
          <a:prstGeom prst="rect">
            <a:avLst/>
          </a:prstGeom>
          <a:noFill/>
          <a:ln/>
        </p:spPr>
        <p:txBody>
          <a:bodyPr wrap="square" lIns="0" tIns="0" rIns="0" bIns="0" rtlCol="0" anchor="ctr"/>
          <a:lstStyle/>
          <a:p>
            <a:pPr indent="0" marL="0">
              <a:lnSpc>
                <a:spcPct val="115000"/>
              </a:lnSpc>
              <a:buNone/>
            </a:pPr>
            <a:r>
              <a:rPr lang="en-US" sz="1000" dirty="0">
                <a:solidFill>
                  <a:srgbClr val="0F172A"/>
                </a:solidFill>
                <a:latin typeface="Calibri" pitchFamily="34" charset="0"/>
                <a:ea typeface="Calibri" pitchFamily="34" charset="-122"/>
                <a:cs typeface="Calibri" pitchFamily="34" charset="-120"/>
              </a:rPr>
              <a:t>Dưới cùng một ngưỡng kích hoạt tin cậy, hành động phục hồi nào (loại frame, rematch keyframe, hay tách submosaic) giới hạn sai số trôi dạt hình học tốt nhất?</a:t>
            </a:r>
            <a:endParaRPr lang="en-US" sz="1000" dirty="0"/>
          </a:p>
        </p:txBody>
      </p:sp>
      <p:sp>
        <p:nvSpPr>
          <p:cNvPr id="25" name="Shape 23"/>
          <p:cNvSpPr/>
          <p:nvPr/>
        </p:nvSpPr>
        <p:spPr>
          <a:xfrm>
            <a:off x="6217920" y="3977640"/>
            <a:ext cx="2194560" cy="594360"/>
          </a:xfrm>
          <a:prstGeom prst="rect">
            <a:avLst/>
          </a:prstGeom>
          <a:solidFill>
            <a:srgbClr val="F8FAFC"/>
          </a:solidFill>
          <a:ln w="6350">
            <a:solidFill>
              <a:srgbClr val="E2E8F0"/>
            </a:solidFill>
            <a:prstDash val="solid"/>
          </a:ln>
        </p:spPr>
      </p:sp>
      <p:sp>
        <p:nvSpPr>
          <p:cNvPr id="26" name="Text 24"/>
          <p:cNvSpPr/>
          <p:nvPr/>
        </p:nvSpPr>
        <p:spPr>
          <a:xfrm>
            <a:off x="6263640" y="4023360"/>
            <a:ext cx="2103120" cy="502920"/>
          </a:xfrm>
          <a:prstGeom prst="rect">
            <a:avLst/>
          </a:prstGeom>
          <a:noFill/>
          <a:ln/>
        </p:spPr>
        <p:txBody>
          <a:bodyPr wrap="square" lIns="0" tIns="0" rIns="0" bIns="0" rtlCol="0" anchor="ctr"/>
          <a:lstStyle/>
          <a:p>
            <a:pPr indent="0" marL="0">
              <a:lnSpc>
                <a:spcPct val="110000"/>
              </a:lnSpc>
              <a:buNone/>
            </a:pPr>
            <a:r>
              <a:rPr lang="en-US" sz="900" i="1" dirty="0">
                <a:solidFill>
                  <a:srgbClr val="64748B"/>
                </a:solidFill>
                <a:latin typeface="Calibri" pitchFamily="34" charset="0"/>
                <a:ea typeface="Calibri" pitchFamily="34" charset="-122"/>
                <a:cs typeface="Calibri" pitchFamily="34" charset="-120"/>
              </a:rPr>
              <a:t>Trọng tâm: Ngăn chặn đứt gãy dây chuyền và khống chế sai số biến dạng toàn cục.</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dirty="0">
                <a:solidFill>
                  <a:srgbClr val="0284C7"/>
                </a:solidFill>
                <a:latin typeface="Calibri" pitchFamily="34" charset="0"/>
                <a:ea typeface="Calibri" pitchFamily="34" charset="-122"/>
                <a:cs typeface="Calibri" pitchFamily="34" charset="-120"/>
              </a:rPr>
              <a:t>PHẠM VI &amp; TÍNH KHẢ THI</a:t>
            </a:r>
            <a:endParaRPr lang="en-US" sz="1000" dirty="0"/>
          </a:p>
        </p:txBody>
      </p:sp>
      <p:sp>
        <p:nvSpPr>
          <p:cNvPr id="3" name="Text 1"/>
          <p:cNvSpPr/>
          <p:nvPr/>
        </p:nvSpPr>
        <p:spPr>
          <a:xfrm>
            <a:off x="548640" y="621792"/>
            <a:ext cx="8046720" cy="411480"/>
          </a:xfrm>
          <a:prstGeom prst="rect">
            <a:avLst/>
          </a:prstGeom>
          <a:noFill/>
          <a:ln/>
        </p:spPr>
        <p:txBody>
          <a:bodyPr wrap="square" lIns="0" tIns="0" rIns="0" bIns="0" rtlCol="0" anchor="ctr"/>
          <a:lstStyle/>
          <a:p>
            <a:pPr indent="0" marL="0">
              <a:buNone/>
            </a:pPr>
            <a:r>
              <a:rPr lang="en-US" sz="2000" b="1" dirty="0">
                <a:solidFill>
                  <a:srgbClr val="0F172A"/>
                </a:solidFill>
                <a:latin typeface="Calibri" pitchFamily="34" charset="0"/>
                <a:ea typeface="Calibri" pitchFamily="34" charset="-122"/>
                <a:cs typeface="Calibri" pitchFamily="34" charset="-120"/>
              </a:rPr>
              <a:t>Ranh giới nghiên cứu và điều kiện đảm bảo thực thi đề tài</a:t>
            </a:r>
            <a:endParaRPr lang="en-US" sz="2000" dirty="0"/>
          </a:p>
        </p:txBody>
      </p:sp>
      <p:sp>
        <p:nvSpPr>
          <p:cNvPr id="4" name="Shape 2"/>
          <p:cNvSpPr/>
          <p:nvPr/>
        </p:nvSpPr>
        <p:spPr>
          <a:xfrm>
            <a:off x="548640" y="1234440"/>
            <a:ext cx="3886200" cy="3429000"/>
          </a:xfrm>
          <a:prstGeom prst="roundRect">
            <a:avLst>
              <a:gd name="adj" fmla="val 2667"/>
            </a:avLst>
          </a:prstGeom>
          <a:solidFill>
            <a:srgbClr val="FFFFFF"/>
          </a:solidFill>
          <a:ln w="12700">
            <a:solidFill>
              <a:srgbClr val="E2E8F0"/>
            </a:solidFill>
            <a:prstDash val="solid"/>
          </a:ln>
        </p:spPr>
      </p:sp>
      <p:sp>
        <p:nvSpPr>
          <p:cNvPr id="5" name="Text 3"/>
          <p:cNvSpPr/>
          <p:nvPr/>
        </p:nvSpPr>
        <p:spPr>
          <a:xfrm>
            <a:off x="777240" y="1417320"/>
            <a:ext cx="3429000" cy="274320"/>
          </a:xfrm>
          <a:prstGeom prst="rect">
            <a:avLst/>
          </a:prstGeom>
          <a:noFill/>
          <a:ln/>
        </p:spPr>
        <p:txBody>
          <a:bodyPr wrap="square" lIns="0" tIns="0" rIns="0" bIns="0" rtlCol="0" anchor="ctr"/>
          <a:lstStyle/>
          <a:p>
            <a:pPr indent="0" marL="0">
              <a:buNone/>
            </a:pPr>
            <a:r>
              <a:rPr lang="en-US" sz="1200" b="1" dirty="0">
                <a:solidFill>
                  <a:srgbClr val="0284C7"/>
                </a:solidFill>
                <a:latin typeface="Calibri" pitchFamily="34" charset="0"/>
                <a:ea typeface="Calibri" pitchFamily="34" charset="-122"/>
                <a:cs typeface="Calibri" pitchFamily="34" charset="-120"/>
              </a:rPr>
              <a:t>RANH GIỚI PHẠM VI NGHIÊN CỨU</a:t>
            </a:r>
            <a:endParaRPr lang="en-US" sz="1200" dirty="0"/>
          </a:p>
        </p:txBody>
      </p:sp>
      <p:sp>
        <p:nvSpPr>
          <p:cNvPr id="6" name="Text 4"/>
          <p:cNvSpPr/>
          <p:nvPr/>
        </p:nvSpPr>
        <p:spPr>
          <a:xfrm>
            <a:off x="777240" y="1783080"/>
            <a:ext cx="3429000" cy="1371600"/>
          </a:xfrm>
          <a:prstGeom prst="rect">
            <a:avLst/>
          </a:prstGeom>
          <a:noFill/>
          <a:ln/>
        </p:spPr>
        <p:txBody>
          <a:bodyPr wrap="square" lIns="0" tIns="0" rIns="0" bIns="0" rtlCol="0" anchor="ctr"/>
          <a:lstStyle/>
          <a:p>
            <a:pPr indent="0" marL="0">
              <a:lnSpc>
                <a:spcPct val="115000"/>
              </a:lnSpc>
              <a:buNone/>
            </a:pPr>
            <a:r>
              <a:rPr lang="en-US" sz="980" dirty="0">
                <a:solidFill>
                  <a:srgbClr val="0F172A"/>
                </a:solidFill>
                <a:latin typeface="Calibri" pitchFamily="34" charset="0"/>
                <a:ea typeface="Calibri" pitchFamily="34" charset="-122"/>
                <a:cs typeface="Calibri" pitchFamily="34" charset="-120"/>
              </a:rPr>
              <a:t>TRONG PHẠM VI (IN-SCOPE):</a:t>
            </a:r>
            <a:endParaRPr lang="en-US" sz="980" dirty="0"/>
          </a:p>
          <a:p>
            <a:pPr indent="0" marL="0">
              <a:lnSpc>
                <a:spcPct val="115000"/>
              </a:lnSpc>
              <a:buNone/>
            </a:pPr>
            <a:r>
              <a:rPr lang="en-US" sz="980" dirty="0">
                <a:solidFill>
                  <a:srgbClr val="0F172A"/>
                </a:solidFill>
                <a:latin typeface="Calibri" pitchFamily="34" charset="0"/>
                <a:ea typeface="Calibri" pitchFamily="34" charset="-122"/>
                <a:cs typeface="Calibri" pitchFamily="34" charset="-120"/>
              </a:rPr>
              <a:t>• Video UAV quang học (RGB) ngắn đến trung bình (100–1000 frames).</a:t>
            </a:r>
            <a:endParaRPr lang="en-US" sz="980" dirty="0"/>
          </a:p>
          <a:p>
            <a:pPr indent="0" marL="0">
              <a:lnSpc>
                <a:spcPct val="115000"/>
              </a:lnSpc>
              <a:buNone/>
            </a:pPr>
            <a:r>
              <a:rPr lang="en-US" sz="980" dirty="0">
                <a:solidFill>
                  <a:srgbClr val="0F172A"/>
                </a:solidFill>
                <a:latin typeface="Calibri" pitchFamily="34" charset="0"/>
                <a:ea typeface="Calibri" pitchFamily="34" charset="-122"/>
                <a:cs typeface="Calibri" pitchFamily="34" charset="-120"/>
              </a:rPr>
              <a:t>• Camera góc nhìn gần thẳng đứng (near-nadir), cảnh tương đối phẳng (đô thị, nông nghiệp, giao thông).</a:t>
            </a:r>
            <a:endParaRPr lang="en-US" sz="980" dirty="0"/>
          </a:p>
          <a:p>
            <a:pPr indent="0" marL="0">
              <a:lnSpc>
                <a:spcPct val="115000"/>
              </a:lnSpc>
              <a:buNone/>
            </a:pPr>
            <a:r>
              <a:rPr lang="en-US" sz="980" dirty="0">
                <a:solidFill>
                  <a:srgbClr val="0F172A"/>
                </a:solidFill>
                <a:latin typeface="Calibri" pitchFamily="34" charset="0"/>
                <a:ea typeface="Calibri" pitchFamily="34" charset="-122"/>
                <a:cs typeface="Calibri" pitchFamily="34" charset="-120"/>
              </a:rPr>
              <a:t>• Tiếp cận ghép ảnh 2D dựa trên ma trận homography tích lũy (Incremental Homography) kèm evaluation harness.</a:t>
            </a:r>
            <a:endParaRPr lang="en-US" sz="980" dirty="0"/>
          </a:p>
        </p:txBody>
      </p:sp>
      <p:sp>
        <p:nvSpPr>
          <p:cNvPr id="7" name="Text 5"/>
          <p:cNvSpPr/>
          <p:nvPr/>
        </p:nvSpPr>
        <p:spPr>
          <a:xfrm>
            <a:off x="777240" y="3246120"/>
            <a:ext cx="3429000" cy="1280160"/>
          </a:xfrm>
          <a:prstGeom prst="rect">
            <a:avLst/>
          </a:prstGeom>
          <a:noFill/>
          <a:ln/>
        </p:spPr>
        <p:txBody>
          <a:bodyPr wrap="square" lIns="0" tIns="0" rIns="0" bIns="0" rtlCol="0" anchor="ctr"/>
          <a:lstStyle/>
          <a:p>
            <a:pPr indent="0" marL="0">
              <a:lnSpc>
                <a:spcPct val="115000"/>
              </a:lnSpc>
              <a:buNone/>
            </a:pPr>
            <a:r>
              <a:rPr lang="en-US" sz="980" dirty="0">
                <a:solidFill>
                  <a:srgbClr val="64748B"/>
                </a:solidFill>
                <a:latin typeface="Calibri" pitchFamily="34" charset="0"/>
                <a:ea typeface="Calibri" pitchFamily="34" charset="-122"/>
                <a:cs typeface="Calibri" pitchFamily="34" charset="-120"/>
              </a:rPr>
              <a:t>NGOÀI PHẠM VI (OUT-OF-SCOPE):</a:t>
            </a:r>
            <a:endParaRPr lang="en-US" sz="980" dirty="0"/>
          </a:p>
          <a:p>
            <a:pPr indent="0" marL="0">
              <a:lnSpc>
                <a:spcPct val="115000"/>
              </a:lnSpc>
              <a:buNone/>
            </a:pPr>
            <a:r>
              <a:rPr lang="en-US" sz="980" dirty="0">
                <a:solidFill>
                  <a:srgbClr val="64748B"/>
                </a:solidFill>
                <a:latin typeface="Calibri" pitchFamily="34" charset="0"/>
                <a:ea typeface="Calibri" pitchFamily="34" charset="-122"/>
                <a:cs typeface="Calibri" pitchFamily="34" charset="-120"/>
              </a:rPr>
              <a:t>• Không bắt buộc GPS/IMU (chỉ dùng telemetry đối chứng nếu có).</a:t>
            </a:r>
            <a:endParaRPr lang="en-US" sz="980" dirty="0"/>
          </a:p>
          <a:p>
            <a:pPr indent="0" marL="0">
              <a:lnSpc>
                <a:spcPct val="115000"/>
              </a:lnSpc>
              <a:buNone/>
            </a:pPr>
            <a:r>
              <a:rPr lang="en-US" sz="980" dirty="0">
                <a:solidFill>
                  <a:srgbClr val="64748B"/>
                </a:solidFill>
                <a:latin typeface="Calibri" pitchFamily="34" charset="0"/>
                <a:ea typeface="Calibri" pitchFamily="34" charset="-122"/>
                <a:cs typeface="Calibri" pitchFamily="34" charset="-120"/>
              </a:rPr>
              <a:t>• Không tái tạo 3D, SfM phức tạp hay thuật toán SLAM thời gian thực.</a:t>
            </a:r>
            <a:endParaRPr lang="en-US" sz="980" dirty="0"/>
          </a:p>
          <a:p>
            <a:pPr indent="0" marL="0">
              <a:lnSpc>
                <a:spcPct val="115000"/>
              </a:lnSpc>
              <a:buNone/>
            </a:pPr>
            <a:r>
              <a:rPr lang="en-US" sz="980" dirty="0">
                <a:solidFill>
                  <a:srgbClr val="64748B"/>
                </a:solidFill>
                <a:latin typeface="Calibri" pitchFamily="34" charset="0"/>
                <a:ea typeface="Calibri" pitchFamily="34" charset="-122"/>
                <a:cs typeface="Calibri" pitchFamily="34" charset="-120"/>
              </a:rPr>
              <a:t>• Không khảo sát trắc địa địa chính có georeferencing tuyệt đối.</a:t>
            </a:r>
            <a:endParaRPr lang="en-US" sz="980" dirty="0"/>
          </a:p>
        </p:txBody>
      </p:sp>
      <p:sp>
        <p:nvSpPr>
          <p:cNvPr id="8" name="Shape 6"/>
          <p:cNvSpPr/>
          <p:nvPr/>
        </p:nvSpPr>
        <p:spPr>
          <a:xfrm>
            <a:off x="4709160" y="1234440"/>
            <a:ext cx="3886200" cy="3429000"/>
          </a:xfrm>
          <a:prstGeom prst="roundRect">
            <a:avLst>
              <a:gd name="adj" fmla="val 2667"/>
            </a:avLst>
          </a:prstGeom>
          <a:solidFill>
            <a:srgbClr val="FFFFFF"/>
          </a:solidFill>
          <a:ln w="12700">
            <a:solidFill>
              <a:srgbClr val="E2E8F0"/>
            </a:solidFill>
            <a:prstDash val="solid"/>
          </a:ln>
        </p:spPr>
      </p:sp>
      <p:sp>
        <p:nvSpPr>
          <p:cNvPr id="9" name="Text 7"/>
          <p:cNvSpPr/>
          <p:nvPr/>
        </p:nvSpPr>
        <p:spPr>
          <a:xfrm>
            <a:off x="4937760" y="1417320"/>
            <a:ext cx="3429000" cy="274320"/>
          </a:xfrm>
          <a:prstGeom prst="rect">
            <a:avLst/>
          </a:prstGeom>
          <a:noFill/>
          <a:ln/>
        </p:spPr>
        <p:txBody>
          <a:bodyPr wrap="square" lIns="0" tIns="0" rIns="0" bIns="0" rtlCol="0" anchor="ctr"/>
          <a:lstStyle/>
          <a:p>
            <a:pPr indent="0" marL="0">
              <a:buNone/>
            </a:pPr>
            <a:r>
              <a:rPr lang="en-US" sz="1200" b="1" dirty="0">
                <a:solidFill>
                  <a:srgbClr val="15803D"/>
                </a:solidFill>
                <a:latin typeface="Calibri" pitchFamily="34" charset="0"/>
                <a:ea typeface="Calibri" pitchFamily="34" charset="-122"/>
                <a:cs typeface="Calibri" pitchFamily="34" charset="-120"/>
              </a:rPr>
              <a:t>TÍNH KHẢ THI ĐẢM BẢO (RDR-0002)</a:t>
            </a:r>
            <a:endParaRPr lang="en-US" sz="1200" dirty="0"/>
          </a:p>
        </p:txBody>
      </p:sp>
      <p:sp>
        <p:nvSpPr>
          <p:cNvPr id="10" name="Text 8"/>
          <p:cNvSpPr/>
          <p:nvPr/>
        </p:nvSpPr>
        <p:spPr>
          <a:xfrm>
            <a:off x="4937760" y="1783080"/>
            <a:ext cx="3429000" cy="2743200"/>
          </a:xfrm>
          <a:prstGeom prst="rect">
            <a:avLst/>
          </a:prstGeom>
          <a:noFill/>
          <a:ln/>
        </p:spPr>
        <p:txBody>
          <a:bodyPr wrap="square" lIns="0" tIns="0" rIns="0" bIns="0" rtlCol="0" anchor="ctr"/>
          <a:lstStyle/>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1. Dữ liệu drone thực tế mở (RDR-0002, RDR-0003):</a:t>
            </a:r>
            <a:endParaRPr lang="en-US" sz="980" dirty="0"/>
          </a:p>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 NPU Drone-Map (chính): Video UAV RGB, ảnh undistorted, GPS log và điểm kiểm soát mặt đất (GCP) để đo sai số.</a:t>
            </a:r>
            <a:endParaRPr lang="en-US" sz="980" dirty="0"/>
          </a:p>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 DroneZaic Dryad (dự phòng &amp; stress-test): Tập dữ liệu nông nghiệp thử thách đặc trưng lặp vân.</a:t>
            </a:r>
            <a:endParaRPr lang="en-US" sz="980" dirty="0"/>
          </a:p>
          <a:p>
            <a:pPr indent="0" marL="0">
              <a:lnSpc>
                <a:spcPct val="112000"/>
              </a:lnSpc>
              <a:buNone/>
            </a:pPr>
            <a:endParaRPr lang="en-US" sz="980" dirty="0"/>
          </a:p>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2. Công nghệ &amp; Công cụ thực thi:</a:t>
            </a:r>
            <a:endParaRPr lang="en-US" sz="980" dirty="0"/>
          </a:p>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 Ngăn xếp chuẩn: Python 3.10+, OpenCV, PyTorch, NumPy.</a:t>
            </a:r>
            <a:endParaRPr lang="en-US" sz="980" dirty="0"/>
          </a:p>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 Mô hình tiền huấn luyện sẵn có: LightGlue, XFeat, SIFT.</a:t>
            </a:r>
            <a:endParaRPr lang="en-US" sz="980" dirty="0"/>
          </a:p>
          <a:p>
            <a:pPr indent="0" marL="0">
              <a:lnSpc>
                <a:spcPct val="112000"/>
              </a:lnSpc>
              <a:buNone/>
            </a:pPr>
            <a:endParaRPr lang="en-US" sz="980" dirty="0"/>
          </a:p>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3. Hạ tầng tính toán khả dụng:</a:t>
            </a:r>
            <a:endParaRPr lang="en-US" sz="980" dirty="0"/>
          </a:p>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 01 Máy trạm cá nhân: CPU 8 cores/16 threads, RAM 16–32 GB, GPU CUDA &gt;= 6GB VRAM, 100GB ổ cứng.</a:t>
            </a:r>
            <a:endParaRPr lang="en-US" sz="9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dirty="0">
                <a:solidFill>
                  <a:srgbClr val="0284C7"/>
                </a:solidFill>
                <a:latin typeface="Calibri" pitchFamily="34" charset="0"/>
                <a:ea typeface="Calibri" pitchFamily="34" charset="-122"/>
                <a:cs typeface="Calibri" pitchFamily="34" charset="-120"/>
              </a:rPr>
              <a:t>PHƯƠNG PHÁP NGHIÊN CỨU</a:t>
            </a:r>
            <a:endParaRPr lang="en-US" sz="1000" dirty="0"/>
          </a:p>
        </p:txBody>
      </p:sp>
      <p:sp>
        <p:nvSpPr>
          <p:cNvPr id="3" name="Text 1"/>
          <p:cNvSpPr/>
          <p:nvPr/>
        </p:nvSpPr>
        <p:spPr>
          <a:xfrm>
            <a:off x="548640" y="621792"/>
            <a:ext cx="8046720" cy="411480"/>
          </a:xfrm>
          <a:prstGeom prst="rect">
            <a:avLst/>
          </a:prstGeom>
          <a:noFill/>
          <a:ln/>
        </p:spPr>
        <p:txBody>
          <a:bodyPr wrap="square" lIns="0" tIns="0" rIns="0" bIns="0" rtlCol="0" anchor="ctr"/>
          <a:lstStyle/>
          <a:p>
            <a:pPr indent="0" marL="0">
              <a:buNone/>
            </a:pPr>
            <a:r>
              <a:rPr lang="en-US" sz="2000" b="1" dirty="0">
                <a:solidFill>
                  <a:srgbClr val="0F172A"/>
                </a:solidFill>
                <a:latin typeface="Calibri" pitchFamily="34" charset="0"/>
                <a:ea typeface="Calibri" pitchFamily="34" charset="-122"/>
                <a:cs typeface="Calibri" pitchFamily="34" charset="-120"/>
              </a:rPr>
              <a:t>Kiến trúc hệ thống Failure-Aware &amp; Resource-Adaptive Pipeline</a:t>
            </a:r>
            <a:endParaRPr lang="en-US" sz="2000" dirty="0"/>
          </a:p>
        </p:txBody>
      </p:sp>
      <p:sp>
        <p:nvSpPr>
          <p:cNvPr id="4" name="Shape 2"/>
          <p:cNvSpPr/>
          <p:nvPr/>
        </p:nvSpPr>
        <p:spPr>
          <a:xfrm>
            <a:off x="548640" y="1234440"/>
            <a:ext cx="1737360" cy="1371600"/>
          </a:xfrm>
          <a:prstGeom prst="roundRect">
            <a:avLst>
              <a:gd name="adj" fmla="val 5333"/>
            </a:avLst>
          </a:prstGeom>
          <a:solidFill>
            <a:srgbClr val="FFFFFF"/>
          </a:solidFill>
          <a:ln w="12700">
            <a:solidFill>
              <a:srgbClr val="E2E8F0"/>
            </a:solidFill>
            <a:prstDash val="solid"/>
          </a:ln>
        </p:spPr>
      </p:sp>
      <p:sp>
        <p:nvSpPr>
          <p:cNvPr id="5" name="Text 3"/>
          <p:cNvSpPr/>
          <p:nvPr/>
        </p:nvSpPr>
        <p:spPr>
          <a:xfrm>
            <a:off x="685800" y="1325880"/>
            <a:ext cx="1463040" cy="228600"/>
          </a:xfrm>
          <a:prstGeom prst="rect">
            <a:avLst/>
          </a:prstGeom>
          <a:noFill/>
          <a:ln/>
        </p:spPr>
        <p:txBody>
          <a:bodyPr wrap="square" lIns="0" tIns="0" rIns="0" bIns="0" rtlCol="0" anchor="ctr"/>
          <a:lstStyle/>
          <a:p>
            <a:pPr indent="0" marL="0">
              <a:buNone/>
            </a:pPr>
            <a:r>
              <a:rPr lang="en-US" sz="1000" b="1" dirty="0">
                <a:solidFill>
                  <a:srgbClr val="0284C7"/>
                </a:solidFill>
                <a:latin typeface="Calibri" pitchFamily="34" charset="0"/>
                <a:ea typeface="Calibri" pitchFamily="34" charset="-122"/>
                <a:cs typeface="Calibri" pitchFamily="34" charset="-120"/>
              </a:rPr>
              <a:t>1. ĐẦU VÀO</a:t>
            </a:r>
            <a:endParaRPr lang="en-US" sz="1000" dirty="0"/>
          </a:p>
        </p:txBody>
      </p:sp>
      <p:sp>
        <p:nvSpPr>
          <p:cNvPr id="6" name="Text 4"/>
          <p:cNvSpPr/>
          <p:nvPr/>
        </p:nvSpPr>
        <p:spPr>
          <a:xfrm>
            <a:off x="685800" y="1600200"/>
            <a:ext cx="1463040" cy="868680"/>
          </a:xfrm>
          <a:prstGeom prst="rect">
            <a:avLst/>
          </a:prstGeom>
          <a:noFill/>
          <a:ln/>
        </p:spPr>
        <p:txBody>
          <a:bodyPr wrap="square" lIns="0" tIns="0" rIns="0" bIns="0" rtlCol="0" anchor="ctr"/>
          <a:lstStyle/>
          <a:p>
            <a:pPr indent="0" marL="0">
              <a:lnSpc>
                <a:spcPct val="115000"/>
              </a:lnSpc>
              <a:buNone/>
            </a:pPr>
            <a:r>
              <a:rPr lang="en-US" sz="950" dirty="0">
                <a:solidFill>
                  <a:srgbClr val="0F172A"/>
                </a:solidFill>
                <a:latin typeface="Calibri" pitchFamily="34" charset="0"/>
                <a:ea typeface="Calibri" pitchFamily="34" charset="-122"/>
                <a:cs typeface="Calibri" pitchFamily="34" charset="-120"/>
              </a:rPr>
              <a:t>• Video UAV (near-nadir)</a:t>
            </a:r>
            <a:endParaRPr lang="en-US" sz="950" dirty="0"/>
          </a:p>
          <a:p>
            <a:pPr indent="0" marL="0">
              <a:lnSpc>
                <a:spcPct val="115000"/>
              </a:lnSpc>
              <a:buNone/>
            </a:pPr>
            <a:r>
              <a:rPr lang="en-US" sz="950" dirty="0">
                <a:solidFill>
                  <a:srgbClr val="0F172A"/>
                </a:solidFill>
                <a:latin typeface="Calibri" pitchFamily="34" charset="0"/>
                <a:ea typeface="Calibri" pitchFamily="34" charset="-122"/>
                <a:cs typeface="Calibri" pitchFamily="34" charset="-120"/>
              </a:rPr>
              <a:t>• Trích xuất chuỗi frame</a:t>
            </a:r>
            <a:endParaRPr lang="en-US" sz="950" dirty="0"/>
          </a:p>
          <a:p>
            <a:pPr indent="0" marL="0">
              <a:lnSpc>
                <a:spcPct val="115000"/>
              </a:lnSpc>
              <a:buNone/>
            </a:pPr>
            <a:r>
              <a:rPr lang="en-US" sz="950" dirty="0">
                <a:solidFill>
                  <a:srgbClr val="0F172A"/>
                </a:solidFill>
                <a:latin typeface="Calibri" pitchFamily="34" charset="0"/>
                <a:ea typeface="Calibri" pitchFamily="34" charset="-122"/>
                <a:cs typeface="Calibri" pitchFamily="34" charset="-120"/>
              </a:rPr>
              <a:t>• Tiền xử lý / Undistort</a:t>
            </a:r>
            <a:endParaRPr lang="en-US" sz="950" dirty="0"/>
          </a:p>
        </p:txBody>
      </p:sp>
      <p:sp>
        <p:nvSpPr>
          <p:cNvPr id="7" name="Shape 5"/>
          <p:cNvSpPr/>
          <p:nvPr/>
        </p:nvSpPr>
        <p:spPr>
          <a:xfrm>
            <a:off x="2606040" y="1234440"/>
            <a:ext cx="1828800" cy="1371600"/>
          </a:xfrm>
          <a:prstGeom prst="roundRect">
            <a:avLst>
              <a:gd name="adj" fmla="val 5333"/>
            </a:avLst>
          </a:prstGeom>
          <a:solidFill>
            <a:srgbClr val="FFFFFF"/>
          </a:solidFill>
          <a:ln w="12700">
            <a:solidFill>
              <a:srgbClr val="E2E8F0"/>
            </a:solidFill>
            <a:prstDash val="solid"/>
          </a:ln>
        </p:spPr>
      </p:sp>
      <p:sp>
        <p:nvSpPr>
          <p:cNvPr id="8" name="Text 6"/>
          <p:cNvSpPr/>
          <p:nvPr/>
        </p:nvSpPr>
        <p:spPr>
          <a:xfrm>
            <a:off x="2743200" y="1325880"/>
            <a:ext cx="1554480" cy="228600"/>
          </a:xfrm>
          <a:prstGeom prst="rect">
            <a:avLst/>
          </a:prstGeom>
          <a:noFill/>
          <a:ln/>
        </p:spPr>
        <p:txBody>
          <a:bodyPr wrap="square" lIns="0" tIns="0" rIns="0" bIns="0" rtlCol="0" anchor="ctr"/>
          <a:lstStyle/>
          <a:p>
            <a:pPr indent="0" marL="0">
              <a:buNone/>
            </a:pPr>
            <a:r>
              <a:rPr lang="en-US" sz="1000" b="1" dirty="0">
                <a:solidFill>
                  <a:srgbClr val="0284C7"/>
                </a:solidFill>
                <a:latin typeface="Calibri" pitchFamily="34" charset="0"/>
                <a:ea typeface="Calibri" pitchFamily="34" charset="-122"/>
                <a:cs typeface="Calibri" pitchFamily="34" charset="-120"/>
              </a:rPr>
              <a:t>2. ĐỐI SÁNH CỔ ĐIỂN</a:t>
            </a:r>
            <a:endParaRPr lang="en-US" sz="1000" dirty="0"/>
          </a:p>
        </p:txBody>
      </p:sp>
      <p:sp>
        <p:nvSpPr>
          <p:cNvPr id="9" name="Text 7"/>
          <p:cNvSpPr/>
          <p:nvPr/>
        </p:nvSpPr>
        <p:spPr>
          <a:xfrm>
            <a:off x="2743200" y="1600200"/>
            <a:ext cx="1554480" cy="868680"/>
          </a:xfrm>
          <a:prstGeom prst="rect">
            <a:avLst/>
          </a:prstGeom>
          <a:noFill/>
          <a:ln/>
        </p:spPr>
        <p:txBody>
          <a:bodyPr wrap="square" lIns="0" tIns="0" rIns="0" bIns="0" rtlCol="0" anchor="ctr"/>
          <a:lstStyle/>
          <a:p>
            <a:pPr indent="0" marL="0">
              <a:lnSpc>
                <a:spcPct val="115000"/>
              </a:lnSpc>
              <a:buNone/>
            </a:pPr>
            <a:r>
              <a:rPr lang="en-US" sz="950" dirty="0">
                <a:solidFill>
                  <a:srgbClr val="0F172A"/>
                </a:solidFill>
                <a:latin typeface="Calibri" pitchFamily="34" charset="0"/>
                <a:ea typeface="Calibri" pitchFamily="34" charset="-122"/>
                <a:cs typeface="Calibri" pitchFamily="34" charset="-120"/>
              </a:rPr>
              <a:t>• SIFT / ORB trích xuất</a:t>
            </a:r>
            <a:endParaRPr lang="en-US" sz="950" dirty="0"/>
          </a:p>
          <a:p>
            <a:pPr indent="0" marL="0">
              <a:lnSpc>
                <a:spcPct val="115000"/>
              </a:lnSpc>
              <a:buNone/>
            </a:pPr>
            <a:r>
              <a:rPr lang="en-US" sz="950" dirty="0">
                <a:solidFill>
                  <a:srgbClr val="0F172A"/>
                </a:solidFill>
                <a:latin typeface="Calibri" pitchFamily="34" charset="0"/>
                <a:ea typeface="Calibri" pitchFamily="34" charset="-122"/>
                <a:cs typeface="Calibri" pitchFamily="34" charset="-120"/>
              </a:rPr>
              <a:t>• RANSAC homography</a:t>
            </a:r>
            <a:endParaRPr lang="en-US" sz="950" dirty="0"/>
          </a:p>
          <a:p>
            <a:pPr indent="0" marL="0">
              <a:lnSpc>
                <a:spcPct val="115000"/>
              </a:lnSpc>
              <a:buNone/>
            </a:pPr>
            <a:r>
              <a:rPr lang="en-US" sz="950" dirty="0">
                <a:solidFill>
                  <a:srgbClr val="0F172A"/>
                </a:solidFill>
                <a:latin typeface="Calibri" pitchFamily="34" charset="0"/>
                <a:ea typeface="Calibri" pitchFamily="34" charset="-122"/>
                <a:cs typeface="Calibri" pitchFamily="34" charset="-120"/>
              </a:rPr>
              <a:t>• Trích xuất chỉ báo rẻ</a:t>
            </a:r>
            <a:endParaRPr lang="en-US" sz="950" dirty="0"/>
          </a:p>
        </p:txBody>
      </p:sp>
      <p:sp>
        <p:nvSpPr>
          <p:cNvPr id="10" name="Shape 8"/>
          <p:cNvSpPr/>
          <p:nvPr/>
        </p:nvSpPr>
        <p:spPr>
          <a:xfrm>
            <a:off x="4754880" y="1234440"/>
            <a:ext cx="1828800" cy="1371600"/>
          </a:xfrm>
          <a:prstGeom prst="roundRect">
            <a:avLst>
              <a:gd name="adj" fmla="val 5333"/>
            </a:avLst>
          </a:prstGeom>
          <a:solidFill>
            <a:srgbClr val="1E293B"/>
          </a:solidFill>
          <a:ln w="12700">
            <a:solidFill>
              <a:srgbClr val="334155"/>
            </a:solidFill>
            <a:prstDash val="solid"/>
          </a:ln>
        </p:spPr>
      </p:sp>
      <p:sp>
        <p:nvSpPr>
          <p:cNvPr id="11" name="Text 9"/>
          <p:cNvSpPr/>
          <p:nvPr/>
        </p:nvSpPr>
        <p:spPr>
          <a:xfrm>
            <a:off x="4892040" y="1325880"/>
            <a:ext cx="1554480" cy="228600"/>
          </a:xfrm>
          <a:prstGeom prst="rect">
            <a:avLst/>
          </a:prstGeom>
          <a:noFill/>
          <a:ln/>
        </p:spPr>
        <p:txBody>
          <a:bodyPr wrap="square" lIns="0" tIns="0" rIns="0" bIns="0" rtlCol="0" anchor="ctr"/>
          <a:lstStyle/>
          <a:p>
            <a:pPr indent="0" marL="0">
              <a:buNone/>
            </a:pPr>
            <a:r>
              <a:rPr lang="en-US" sz="1000" b="1" dirty="0">
                <a:solidFill>
                  <a:srgbClr val="0EA5E9"/>
                </a:solidFill>
                <a:latin typeface="Calibri" pitchFamily="34" charset="0"/>
                <a:ea typeface="Calibri" pitchFamily="34" charset="-122"/>
                <a:cs typeface="Calibri" pitchFamily="34" charset="-120"/>
              </a:rPr>
              <a:t>3. CỔNG RỦI RO (RQ1/2)</a:t>
            </a:r>
            <a:endParaRPr lang="en-US" sz="1000" dirty="0"/>
          </a:p>
        </p:txBody>
      </p:sp>
      <p:sp>
        <p:nvSpPr>
          <p:cNvPr id="12" name="Text 10"/>
          <p:cNvSpPr/>
          <p:nvPr/>
        </p:nvSpPr>
        <p:spPr>
          <a:xfrm>
            <a:off x="4892040" y="1600200"/>
            <a:ext cx="1554480" cy="868680"/>
          </a:xfrm>
          <a:prstGeom prst="rect">
            <a:avLst/>
          </a:prstGeom>
          <a:noFill/>
          <a:ln/>
        </p:spPr>
        <p:txBody>
          <a:bodyPr wrap="square" lIns="0" tIns="0" rIns="0" bIns="0" rtlCol="0" anchor="ctr"/>
          <a:lstStyle/>
          <a:p>
            <a:pPr indent="0" marL="0">
              <a:lnSpc>
                <a:spcPct val="115000"/>
              </a:lnSpc>
              <a:buNone/>
            </a:pPr>
            <a:r>
              <a:rPr lang="en-US" sz="950" dirty="0">
                <a:solidFill>
                  <a:srgbClr val="FFFFFF"/>
                </a:solidFill>
                <a:latin typeface="Calibri" pitchFamily="34" charset="0"/>
                <a:ea typeface="Calibri" pitchFamily="34" charset="-122"/>
                <a:cs typeface="Calibri" pitchFamily="34" charset="-120"/>
              </a:rPr>
              <a:t>• Đánh giá tổ hợp rủi ro</a:t>
            </a:r>
            <a:endParaRPr lang="en-US" sz="950" dirty="0"/>
          </a:p>
          <a:p>
            <a:pPr indent="0" marL="0">
              <a:lnSpc>
                <a:spcPct val="115000"/>
              </a:lnSpc>
              <a:buNone/>
            </a:pPr>
            <a:r>
              <a:rPr lang="en-US" sz="950" dirty="0">
                <a:solidFill>
                  <a:srgbClr val="FFFFFF"/>
                </a:solidFill>
                <a:latin typeface="Calibri" pitchFamily="34" charset="0"/>
                <a:ea typeface="Calibri" pitchFamily="34" charset="-122"/>
                <a:cs typeface="Calibri" pitchFamily="34" charset="-120"/>
              </a:rPr>
              <a:t>• Rủi ro thấp: Tích lũy H</a:t>
            </a:r>
            <a:endParaRPr lang="en-US" sz="950" dirty="0"/>
          </a:p>
          <a:p>
            <a:pPr indent="0" marL="0">
              <a:lnSpc>
                <a:spcPct val="115000"/>
              </a:lnSpc>
              <a:buNone/>
            </a:pPr>
            <a:r>
              <a:rPr lang="en-US" sz="950" dirty="0">
                <a:solidFill>
                  <a:srgbClr val="FFFFFF"/>
                </a:solidFill>
                <a:latin typeface="Calibri" pitchFamily="34" charset="0"/>
                <a:ea typeface="Calibri" pitchFamily="34" charset="-122"/>
                <a:cs typeface="Calibri" pitchFamily="34" charset="-120"/>
              </a:rPr>
              <a:t>• Rủi ro cao: Kích hoạt SIFT + LightGlue</a:t>
            </a:r>
            <a:endParaRPr lang="en-US" sz="950" dirty="0"/>
          </a:p>
        </p:txBody>
      </p:sp>
      <p:sp>
        <p:nvSpPr>
          <p:cNvPr id="13" name="Shape 11"/>
          <p:cNvSpPr/>
          <p:nvPr/>
        </p:nvSpPr>
        <p:spPr>
          <a:xfrm>
            <a:off x="6903720" y="1234440"/>
            <a:ext cx="1691640" cy="1371600"/>
          </a:xfrm>
          <a:prstGeom prst="roundRect">
            <a:avLst>
              <a:gd name="adj" fmla="val 5333"/>
            </a:avLst>
          </a:prstGeom>
          <a:solidFill>
            <a:srgbClr val="FFFFFF"/>
          </a:solidFill>
          <a:ln w="12700">
            <a:solidFill>
              <a:srgbClr val="E2E8F0"/>
            </a:solidFill>
            <a:prstDash val="solid"/>
          </a:ln>
        </p:spPr>
      </p:sp>
      <p:sp>
        <p:nvSpPr>
          <p:cNvPr id="14" name="Text 12"/>
          <p:cNvSpPr/>
          <p:nvPr/>
        </p:nvSpPr>
        <p:spPr>
          <a:xfrm>
            <a:off x="7040880" y="1325880"/>
            <a:ext cx="1417320" cy="228600"/>
          </a:xfrm>
          <a:prstGeom prst="rect">
            <a:avLst/>
          </a:prstGeom>
          <a:noFill/>
          <a:ln/>
        </p:spPr>
        <p:txBody>
          <a:bodyPr wrap="square" lIns="0" tIns="0" rIns="0" bIns="0" rtlCol="0" anchor="ctr"/>
          <a:lstStyle/>
          <a:p>
            <a:pPr indent="0" marL="0">
              <a:buNone/>
            </a:pPr>
            <a:r>
              <a:rPr lang="en-US" sz="1000" b="1" dirty="0">
                <a:solidFill>
                  <a:srgbClr val="0284C7"/>
                </a:solidFill>
                <a:latin typeface="Calibri" pitchFamily="34" charset="0"/>
                <a:ea typeface="Calibri" pitchFamily="34" charset="-122"/>
                <a:cs typeface="Calibri" pitchFamily="34" charset="-120"/>
              </a:rPr>
              <a:t>4. KẾT QUẢ ĐẦU RA</a:t>
            </a:r>
            <a:endParaRPr lang="en-US" sz="1000" dirty="0"/>
          </a:p>
        </p:txBody>
      </p:sp>
      <p:sp>
        <p:nvSpPr>
          <p:cNvPr id="15" name="Text 13"/>
          <p:cNvSpPr/>
          <p:nvPr/>
        </p:nvSpPr>
        <p:spPr>
          <a:xfrm>
            <a:off x="7040880" y="1600200"/>
            <a:ext cx="1417320" cy="868680"/>
          </a:xfrm>
          <a:prstGeom prst="rect">
            <a:avLst/>
          </a:prstGeom>
          <a:noFill/>
          <a:ln/>
        </p:spPr>
        <p:txBody>
          <a:bodyPr wrap="square" lIns="0" tIns="0" rIns="0" bIns="0" rtlCol="0" anchor="ctr"/>
          <a:lstStyle/>
          <a:p>
            <a:pPr indent="0" marL="0">
              <a:lnSpc>
                <a:spcPct val="115000"/>
              </a:lnSpc>
              <a:buNone/>
            </a:pPr>
            <a:r>
              <a:rPr lang="en-US" sz="950" dirty="0">
                <a:solidFill>
                  <a:srgbClr val="0F172A"/>
                </a:solidFill>
                <a:latin typeface="Calibri" pitchFamily="34" charset="0"/>
                <a:ea typeface="Calibri" pitchFamily="34" charset="-122"/>
                <a:cs typeface="Calibri" pitchFamily="34" charset="-120"/>
              </a:rPr>
              <a:t>• Tích lũy Homography H</a:t>
            </a:r>
            <a:endParaRPr lang="en-US" sz="950" dirty="0"/>
          </a:p>
          <a:p>
            <a:pPr indent="0" marL="0">
              <a:lnSpc>
                <a:spcPct val="115000"/>
              </a:lnSpc>
              <a:buNone/>
            </a:pPr>
            <a:r>
              <a:rPr lang="en-US" sz="950" dirty="0">
                <a:solidFill>
                  <a:srgbClr val="0F172A"/>
                </a:solidFill>
                <a:latin typeface="Calibri" pitchFamily="34" charset="0"/>
                <a:ea typeface="Calibri" pitchFamily="34" charset="-122"/>
                <a:cs typeface="Calibri" pitchFamily="34" charset="-120"/>
              </a:rPr>
              <a:t>• Warp &amp; Blend mosaic</a:t>
            </a:r>
            <a:endParaRPr lang="en-US" sz="950" dirty="0"/>
          </a:p>
          <a:p>
            <a:pPr indent="0" marL="0">
              <a:lnSpc>
                <a:spcPct val="115000"/>
              </a:lnSpc>
              <a:buNone/>
            </a:pPr>
            <a:r>
              <a:rPr lang="en-US" sz="950" dirty="0">
                <a:solidFill>
                  <a:srgbClr val="0F172A"/>
                </a:solidFill>
                <a:latin typeface="Calibri" pitchFamily="34" charset="0"/>
                <a:ea typeface="Calibri" pitchFamily="34" charset="-122"/>
                <a:cs typeface="Calibri" pitchFamily="34" charset="-120"/>
              </a:rPr>
              <a:t>• Ảnh 2D + Log chỉ số</a:t>
            </a:r>
            <a:endParaRPr lang="en-US" sz="950" dirty="0"/>
          </a:p>
        </p:txBody>
      </p:sp>
      <p:sp>
        <p:nvSpPr>
          <p:cNvPr id="16" name="Text 14"/>
          <p:cNvSpPr/>
          <p:nvPr/>
        </p:nvSpPr>
        <p:spPr>
          <a:xfrm>
            <a:off x="2331720" y="1783080"/>
            <a:ext cx="228600" cy="274320"/>
          </a:xfrm>
          <a:prstGeom prst="rect">
            <a:avLst/>
          </a:prstGeom>
          <a:noFill/>
          <a:ln/>
        </p:spPr>
        <p:txBody>
          <a:bodyPr wrap="square" lIns="0" tIns="0" rIns="0" bIns="0" rtlCol="0" anchor="ctr"/>
          <a:lstStyle/>
          <a:p>
            <a:pPr indent="0" marL="0">
              <a:buNone/>
            </a:pPr>
            <a:r>
              <a:rPr lang="en-US" sz="1400" dirty="0">
                <a:solidFill>
                  <a:srgbClr val="0284C7"/>
                </a:solidFill>
                <a:latin typeface="Calibri" pitchFamily="34" charset="0"/>
                <a:ea typeface="Calibri" pitchFamily="34" charset="-122"/>
                <a:cs typeface="Calibri" pitchFamily="34" charset="-120"/>
              </a:rPr>
              <a:t>▶</a:t>
            </a:r>
            <a:endParaRPr lang="en-US" sz="1400" dirty="0"/>
          </a:p>
        </p:txBody>
      </p:sp>
      <p:sp>
        <p:nvSpPr>
          <p:cNvPr id="17" name="Text 15"/>
          <p:cNvSpPr/>
          <p:nvPr/>
        </p:nvSpPr>
        <p:spPr>
          <a:xfrm>
            <a:off x="4480560" y="1783080"/>
            <a:ext cx="228600" cy="274320"/>
          </a:xfrm>
          <a:prstGeom prst="rect">
            <a:avLst/>
          </a:prstGeom>
          <a:noFill/>
          <a:ln/>
        </p:spPr>
        <p:txBody>
          <a:bodyPr wrap="square" lIns="0" tIns="0" rIns="0" bIns="0" rtlCol="0" anchor="ctr"/>
          <a:lstStyle/>
          <a:p>
            <a:pPr indent="0" marL="0">
              <a:buNone/>
            </a:pPr>
            <a:r>
              <a:rPr lang="en-US" sz="1400" dirty="0">
                <a:solidFill>
                  <a:srgbClr val="0284C7"/>
                </a:solidFill>
                <a:latin typeface="Calibri" pitchFamily="34" charset="0"/>
                <a:ea typeface="Calibri" pitchFamily="34" charset="-122"/>
                <a:cs typeface="Calibri" pitchFamily="34" charset="-120"/>
              </a:rPr>
              <a:t>▶</a:t>
            </a:r>
            <a:endParaRPr lang="en-US" sz="1400" dirty="0"/>
          </a:p>
        </p:txBody>
      </p:sp>
      <p:sp>
        <p:nvSpPr>
          <p:cNvPr id="18" name="Text 16"/>
          <p:cNvSpPr/>
          <p:nvPr/>
        </p:nvSpPr>
        <p:spPr>
          <a:xfrm>
            <a:off x="6629400" y="1783080"/>
            <a:ext cx="228600" cy="274320"/>
          </a:xfrm>
          <a:prstGeom prst="rect">
            <a:avLst/>
          </a:prstGeom>
          <a:noFill/>
          <a:ln/>
        </p:spPr>
        <p:txBody>
          <a:bodyPr wrap="square" lIns="0" tIns="0" rIns="0" bIns="0" rtlCol="0" anchor="ctr"/>
          <a:lstStyle/>
          <a:p>
            <a:pPr indent="0" marL="0">
              <a:buNone/>
            </a:pPr>
            <a:r>
              <a:rPr lang="en-US" sz="1400" dirty="0">
                <a:solidFill>
                  <a:srgbClr val="0284C7"/>
                </a:solidFill>
                <a:latin typeface="Calibri" pitchFamily="34" charset="0"/>
                <a:ea typeface="Calibri" pitchFamily="34" charset="-122"/>
                <a:cs typeface="Calibri" pitchFamily="34" charset="-120"/>
              </a:rPr>
              <a:t>▶</a:t>
            </a:r>
            <a:endParaRPr lang="en-US" sz="1400" dirty="0"/>
          </a:p>
        </p:txBody>
      </p:sp>
      <p:sp>
        <p:nvSpPr>
          <p:cNvPr id="19" name="Shape 17"/>
          <p:cNvSpPr/>
          <p:nvPr/>
        </p:nvSpPr>
        <p:spPr>
          <a:xfrm>
            <a:off x="548640" y="2880360"/>
            <a:ext cx="8046720" cy="1783080"/>
          </a:xfrm>
          <a:prstGeom prst="roundRect">
            <a:avLst>
              <a:gd name="adj" fmla="val 5128"/>
            </a:avLst>
          </a:prstGeom>
          <a:solidFill>
            <a:srgbClr val="FFFFFF"/>
          </a:solidFill>
          <a:ln w="12700">
            <a:solidFill>
              <a:srgbClr val="E2E8F0"/>
            </a:solidFill>
            <a:prstDash val="solid"/>
          </a:ln>
        </p:spPr>
      </p:sp>
      <p:sp>
        <p:nvSpPr>
          <p:cNvPr id="20" name="Shape 18"/>
          <p:cNvSpPr/>
          <p:nvPr/>
        </p:nvSpPr>
        <p:spPr>
          <a:xfrm>
            <a:off x="777240" y="3017520"/>
            <a:ext cx="7589520" cy="320040"/>
          </a:xfrm>
          <a:prstGeom prst="roundRect">
            <a:avLst>
              <a:gd name="adj" fmla="val 17143"/>
            </a:avLst>
          </a:prstGeom>
          <a:solidFill>
            <a:srgbClr val="FEE2E2"/>
          </a:solidFill>
          <a:ln w="6350">
            <a:solidFill>
              <a:srgbClr val="B91C1C"/>
            </a:solidFill>
            <a:prstDash val="solid"/>
          </a:ln>
        </p:spPr>
      </p:sp>
      <p:sp>
        <p:nvSpPr>
          <p:cNvPr id="21" name="Text 19"/>
          <p:cNvSpPr/>
          <p:nvPr/>
        </p:nvSpPr>
        <p:spPr>
          <a:xfrm>
            <a:off x="868680" y="3081528"/>
            <a:ext cx="7406640" cy="201168"/>
          </a:xfrm>
          <a:prstGeom prst="rect">
            <a:avLst/>
          </a:prstGeom>
          <a:noFill/>
          <a:ln/>
        </p:spPr>
        <p:txBody>
          <a:bodyPr wrap="square" lIns="0" tIns="0" rIns="0" bIns="0" rtlCol="0" anchor="ctr"/>
          <a:lstStyle/>
          <a:p>
            <a:pPr indent="0" marL="0">
              <a:buNone/>
            </a:pPr>
            <a:r>
              <a:rPr lang="en-US" sz="1000" b="1" dirty="0">
                <a:solidFill>
                  <a:srgbClr val="B91C1C"/>
                </a:solidFill>
                <a:latin typeface="Calibri" pitchFamily="34" charset="0"/>
                <a:ea typeface="Calibri" pitchFamily="34" charset="-122"/>
                <a:cs typeface="Calibri" pitchFamily="34" charset="-120"/>
              </a:rPr>
              <a:t>CƠ CHẾ PHỤC HỒI KHI MẤT DẤU HOẶC SAI SỐ VƯỢT NGƯỠNG (RQ3: CONFIDENCE RECOVERY)</a:t>
            </a:r>
            <a:endParaRPr lang="en-US" sz="1000" dirty="0"/>
          </a:p>
        </p:txBody>
      </p:sp>
      <p:sp>
        <p:nvSpPr>
          <p:cNvPr id="22" name="Text 20"/>
          <p:cNvSpPr/>
          <p:nvPr/>
        </p:nvSpPr>
        <p:spPr>
          <a:xfrm>
            <a:off x="777240" y="3474720"/>
            <a:ext cx="2377440" cy="1005840"/>
          </a:xfrm>
          <a:prstGeom prst="rect">
            <a:avLst/>
          </a:prstGeom>
          <a:noFill/>
          <a:ln/>
        </p:spPr>
        <p:txBody>
          <a:bodyPr wrap="square" lIns="0" tIns="0" rIns="0" bIns="0" rtlCol="0" anchor="ctr"/>
          <a:lstStyle/>
          <a:p>
            <a:pPr indent="0" marL="0">
              <a:lnSpc>
                <a:spcPct val="115000"/>
              </a:lnSpc>
              <a:buNone/>
            </a:pPr>
            <a:r>
              <a:rPr lang="en-US" sz="950" dirty="0">
                <a:solidFill>
                  <a:srgbClr val="0F172A"/>
                </a:solidFill>
                <a:latin typeface="Calibri" pitchFamily="34" charset="0"/>
                <a:ea typeface="Calibri" pitchFamily="34" charset="-122"/>
                <a:cs typeface="Calibri" pitchFamily="34" charset="-120"/>
              </a:rPr>
              <a:t>Chiến lược 1: Loại bỏ frame</a:t>
            </a:r>
            <a:endParaRPr lang="en-US" sz="950" dirty="0"/>
          </a:p>
          <a:p>
            <a:pPr indent="0" marL="0">
              <a:lnSpc>
                <a:spcPct val="115000"/>
              </a:lnSpc>
              <a:buNone/>
            </a:pPr>
            <a:r>
              <a:rPr lang="en-US" sz="950" dirty="0">
                <a:solidFill>
                  <a:srgbClr val="0F172A"/>
                </a:solidFill>
                <a:latin typeface="Calibri" pitchFamily="34" charset="0"/>
                <a:ea typeface="Calibri" pitchFamily="34" charset="-122"/>
                <a:cs typeface="Calibri" pitchFamily="34" charset="-120"/>
              </a:rPr>
              <a:t>Bỏ qua các khung hình bị nhòe mờ hoặc quay góc đột ngột, chờ frame tiếp theo có độ phủ phù hợp.</a:t>
            </a:r>
            <a:endParaRPr lang="en-US" sz="950" dirty="0"/>
          </a:p>
        </p:txBody>
      </p:sp>
      <p:sp>
        <p:nvSpPr>
          <p:cNvPr id="23" name="Text 21"/>
          <p:cNvSpPr/>
          <p:nvPr/>
        </p:nvSpPr>
        <p:spPr>
          <a:xfrm>
            <a:off x="3383280" y="3474720"/>
            <a:ext cx="2377440" cy="1005840"/>
          </a:xfrm>
          <a:prstGeom prst="rect">
            <a:avLst/>
          </a:prstGeom>
          <a:noFill/>
          <a:ln/>
        </p:spPr>
        <p:txBody>
          <a:bodyPr wrap="square" lIns="0" tIns="0" rIns="0" bIns="0" rtlCol="0" anchor="ctr"/>
          <a:lstStyle/>
          <a:p>
            <a:pPr indent="0" marL="0">
              <a:lnSpc>
                <a:spcPct val="115000"/>
              </a:lnSpc>
              <a:buNone/>
            </a:pPr>
            <a:r>
              <a:rPr lang="en-US" sz="950" dirty="0">
                <a:solidFill>
                  <a:srgbClr val="0F172A"/>
                </a:solidFill>
                <a:latin typeface="Calibri" pitchFamily="34" charset="0"/>
                <a:ea typeface="Calibri" pitchFamily="34" charset="-122"/>
                <a:cs typeface="Calibri" pitchFamily="34" charset="-120"/>
              </a:rPr>
              <a:t>Chiến lược 2: Rematch Keyframe</a:t>
            </a:r>
            <a:endParaRPr lang="en-US" sz="950" dirty="0"/>
          </a:p>
          <a:p>
            <a:pPr indent="0" marL="0">
              <a:lnSpc>
                <a:spcPct val="115000"/>
              </a:lnSpc>
              <a:buNone/>
            </a:pPr>
            <a:r>
              <a:rPr lang="en-US" sz="950" dirty="0">
                <a:solidFill>
                  <a:srgbClr val="0F172A"/>
                </a:solidFill>
                <a:latin typeface="Calibri" pitchFamily="34" charset="0"/>
                <a:ea typeface="Calibri" pitchFamily="34" charset="-122"/>
                <a:cs typeface="Calibri" pitchFamily="34" charset="-120"/>
              </a:rPr>
              <a:t>Thay vì ghép tuần tự i với i-1, kích hoạt đối sánh ngược lại với Keyframe gần nhất có độ tin cậy cao.</a:t>
            </a:r>
            <a:endParaRPr lang="en-US" sz="950" dirty="0"/>
          </a:p>
        </p:txBody>
      </p:sp>
      <p:sp>
        <p:nvSpPr>
          <p:cNvPr id="24" name="Text 22"/>
          <p:cNvSpPr/>
          <p:nvPr/>
        </p:nvSpPr>
        <p:spPr>
          <a:xfrm>
            <a:off x="5989320" y="3474720"/>
            <a:ext cx="2377440" cy="1005840"/>
          </a:xfrm>
          <a:prstGeom prst="rect">
            <a:avLst/>
          </a:prstGeom>
          <a:noFill/>
          <a:ln/>
        </p:spPr>
        <p:txBody>
          <a:bodyPr wrap="square" lIns="0" tIns="0" rIns="0" bIns="0" rtlCol="0" anchor="ctr"/>
          <a:lstStyle/>
          <a:p>
            <a:pPr indent="0" marL="0">
              <a:lnSpc>
                <a:spcPct val="115000"/>
              </a:lnSpc>
              <a:buNone/>
            </a:pPr>
            <a:r>
              <a:rPr lang="en-US" sz="950" dirty="0">
                <a:solidFill>
                  <a:srgbClr val="0F172A"/>
                </a:solidFill>
                <a:latin typeface="Calibri" pitchFamily="34" charset="0"/>
                <a:ea typeface="Calibri" pitchFamily="34" charset="-122"/>
                <a:cs typeface="Calibri" pitchFamily="34" charset="-120"/>
              </a:rPr>
              <a:t>Chiến lược 3: Phân tách Submosaic</a:t>
            </a:r>
            <a:endParaRPr lang="en-US" sz="950" dirty="0"/>
          </a:p>
          <a:p>
            <a:pPr indent="0" marL="0">
              <a:lnSpc>
                <a:spcPct val="115000"/>
              </a:lnSpc>
              <a:buNone/>
            </a:pPr>
            <a:r>
              <a:rPr lang="en-US" sz="950" dirty="0">
                <a:solidFill>
                  <a:srgbClr val="0F172A"/>
                </a:solidFill>
                <a:latin typeface="Calibri" pitchFamily="34" charset="0"/>
                <a:ea typeface="Calibri" pitchFamily="34" charset="-122"/>
                <a:cs typeface="Calibri" pitchFamily="34" charset="-120"/>
              </a:rPr>
              <a:t>Khi chuỗi bị gãy hoàn toàn, đóng gói cụm ảnh trước đó và khởi tạo submosaic mới để ghép lại sau.</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dirty="0">
                <a:solidFill>
                  <a:srgbClr val="0284C7"/>
                </a:solidFill>
                <a:latin typeface="Calibri" pitchFamily="34" charset="0"/>
                <a:ea typeface="Calibri" pitchFamily="34" charset="-122"/>
                <a:cs typeface="Calibri" pitchFamily="34" charset="-120"/>
              </a:rPr>
              <a:t>THỰC NGHIỆM &amp; CHỈ SỐ ĐỐI CHUẨN</a:t>
            </a:r>
            <a:endParaRPr lang="en-US" sz="1000" dirty="0"/>
          </a:p>
        </p:txBody>
      </p:sp>
      <p:sp>
        <p:nvSpPr>
          <p:cNvPr id="3" name="Text 1"/>
          <p:cNvSpPr/>
          <p:nvPr/>
        </p:nvSpPr>
        <p:spPr>
          <a:xfrm>
            <a:off x="548640" y="621792"/>
            <a:ext cx="8046720" cy="411480"/>
          </a:xfrm>
          <a:prstGeom prst="rect">
            <a:avLst/>
          </a:prstGeom>
          <a:noFill/>
          <a:ln/>
        </p:spPr>
        <p:txBody>
          <a:bodyPr wrap="square" lIns="0" tIns="0" rIns="0" bIns="0" rtlCol="0" anchor="ctr"/>
          <a:lstStyle/>
          <a:p>
            <a:pPr indent="0" marL="0">
              <a:buNone/>
            </a:pPr>
            <a:r>
              <a:rPr lang="en-US" sz="2000" b="1" dirty="0">
                <a:solidFill>
                  <a:srgbClr val="0F172A"/>
                </a:solidFill>
                <a:latin typeface="Calibri" pitchFamily="34" charset="0"/>
                <a:ea typeface="Calibri" pitchFamily="34" charset="-122"/>
                <a:cs typeface="Calibri" pitchFamily="34" charset="-120"/>
              </a:rPr>
              <a:t>Quy trình kiểm chứng định lượng và hệ thống chỉ số đánh giá</a:t>
            </a:r>
            <a:endParaRPr lang="en-US" sz="2000" dirty="0"/>
          </a:p>
        </p:txBody>
      </p:sp>
      <p:sp>
        <p:nvSpPr>
          <p:cNvPr id="4" name="Shape 2"/>
          <p:cNvSpPr/>
          <p:nvPr/>
        </p:nvSpPr>
        <p:spPr>
          <a:xfrm>
            <a:off x="548640" y="1234440"/>
            <a:ext cx="3886200" cy="3429000"/>
          </a:xfrm>
          <a:prstGeom prst="roundRect">
            <a:avLst>
              <a:gd name="adj" fmla="val 2667"/>
            </a:avLst>
          </a:prstGeom>
          <a:solidFill>
            <a:srgbClr val="FFFFFF"/>
          </a:solidFill>
          <a:ln w="12700">
            <a:solidFill>
              <a:srgbClr val="E2E8F0"/>
            </a:solidFill>
            <a:prstDash val="solid"/>
          </a:ln>
        </p:spPr>
      </p:sp>
      <p:sp>
        <p:nvSpPr>
          <p:cNvPr id="5" name="Text 3"/>
          <p:cNvSpPr/>
          <p:nvPr/>
        </p:nvSpPr>
        <p:spPr>
          <a:xfrm>
            <a:off x="777240" y="1417320"/>
            <a:ext cx="3429000" cy="274320"/>
          </a:xfrm>
          <a:prstGeom prst="rect">
            <a:avLst/>
          </a:prstGeom>
          <a:noFill/>
          <a:ln/>
        </p:spPr>
        <p:txBody>
          <a:bodyPr wrap="square" lIns="0" tIns="0" rIns="0" bIns="0" rtlCol="0" anchor="ctr"/>
          <a:lstStyle/>
          <a:p>
            <a:pPr indent="0" marL="0">
              <a:buNone/>
            </a:pPr>
            <a:r>
              <a:rPr lang="en-US" sz="1200" b="1" dirty="0">
                <a:solidFill>
                  <a:srgbClr val="0284C7"/>
                </a:solidFill>
                <a:latin typeface="Calibri" pitchFamily="34" charset="0"/>
                <a:ea typeface="Calibri" pitchFamily="34" charset="-122"/>
                <a:cs typeface="Calibri" pitchFamily="34" charset="-120"/>
              </a:rPr>
              <a:t>CÁC PHƯƠNG PHÁP ĐỐI CHỨNG (BASELINES)</a:t>
            </a:r>
            <a:endParaRPr lang="en-US" sz="1200" dirty="0"/>
          </a:p>
        </p:txBody>
      </p:sp>
      <p:sp>
        <p:nvSpPr>
          <p:cNvPr id="6" name="Text 4"/>
          <p:cNvSpPr/>
          <p:nvPr/>
        </p:nvSpPr>
        <p:spPr>
          <a:xfrm>
            <a:off x="777240" y="1783080"/>
            <a:ext cx="3429000" cy="2743200"/>
          </a:xfrm>
          <a:prstGeom prst="rect">
            <a:avLst/>
          </a:prstGeom>
          <a:noFill/>
          <a:ln/>
        </p:spPr>
        <p:txBody>
          <a:bodyPr wrap="square" lIns="0" tIns="0" rIns="0" bIns="0" rtlCol="0" anchor="ctr"/>
          <a:lstStyle/>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1. Always-Classical (SIFT/ORB + RANSAC):</a:t>
            </a:r>
            <a:endParaRPr lang="en-US" sz="980" dirty="0"/>
          </a:p>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 Chỉ dùng matcher truyền thống cho 100% frame.</a:t>
            </a:r>
            <a:endParaRPr lang="en-US" sz="980" dirty="0"/>
          </a:p>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 Tốc độ nhanh nhất, độ trễ thấp nhất nhưng nguy cơ gãy chuỗi cao nhất ở cảnh khó.</a:t>
            </a:r>
            <a:endParaRPr lang="en-US" sz="980" dirty="0"/>
          </a:p>
          <a:p>
            <a:pPr indent="0" marL="0">
              <a:lnSpc>
                <a:spcPct val="112000"/>
              </a:lnSpc>
              <a:buNone/>
            </a:pPr>
            <a:endParaRPr lang="en-US" sz="980" dirty="0"/>
          </a:p>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2. Always-Learned (SIFT + LightGlue):</a:t>
            </a:r>
            <a:endParaRPr lang="en-US" sz="980" dirty="0"/>
          </a:p>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 Áp dụng mô hình học sâu cho toàn bộ chuỗi frame.</a:t>
            </a:r>
            <a:endParaRPr lang="en-US" sz="980" dirty="0"/>
          </a:p>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 Độ chính xác tối đa nhưng chi phí tính toán cực lớn, không phù hợp thiết bị biên.</a:t>
            </a:r>
            <a:endParaRPr lang="en-US" sz="980" dirty="0"/>
          </a:p>
          <a:p>
            <a:pPr indent="0" marL="0">
              <a:lnSpc>
                <a:spcPct val="112000"/>
              </a:lnSpc>
              <a:buNone/>
            </a:pPr>
            <a:endParaRPr lang="en-US" sz="980" dirty="0"/>
          </a:p>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3. Sequential Baseline (Hwang et al., 2026):</a:t>
            </a:r>
            <a:endParaRPr lang="en-US" sz="980" dirty="0"/>
          </a:p>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 Pipeline ghép ảnh tuần tự thuần CPU với lọc inlier cố định.</a:t>
            </a:r>
            <a:endParaRPr lang="en-US" sz="980" dirty="0"/>
          </a:p>
          <a:p>
            <a:pPr indent="0" marL="0">
              <a:lnSpc>
                <a:spcPct val="112000"/>
              </a:lnSpc>
              <a:buNone/>
            </a:pPr>
            <a:endParaRPr lang="en-US" sz="980" dirty="0"/>
          </a:p>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4. Proposed Framework (Đề tài đề xuất):</a:t>
            </a:r>
            <a:endParaRPr lang="en-US" sz="980" dirty="0"/>
          </a:p>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 Failure-Aware &amp; Resource-Adaptive 2D Mosaicking.</a:t>
            </a:r>
            <a:endParaRPr lang="en-US" sz="980" dirty="0"/>
          </a:p>
        </p:txBody>
      </p:sp>
      <p:sp>
        <p:nvSpPr>
          <p:cNvPr id="7" name="Shape 5"/>
          <p:cNvSpPr/>
          <p:nvPr/>
        </p:nvSpPr>
        <p:spPr>
          <a:xfrm>
            <a:off x="4709160" y="1234440"/>
            <a:ext cx="3886200" cy="3429000"/>
          </a:xfrm>
          <a:prstGeom prst="roundRect">
            <a:avLst>
              <a:gd name="adj" fmla="val 2667"/>
            </a:avLst>
          </a:prstGeom>
          <a:solidFill>
            <a:srgbClr val="FFFFFF"/>
          </a:solidFill>
          <a:ln w="12700">
            <a:solidFill>
              <a:srgbClr val="E2E8F0"/>
            </a:solidFill>
            <a:prstDash val="solid"/>
          </a:ln>
        </p:spPr>
      </p:sp>
      <p:sp>
        <p:nvSpPr>
          <p:cNvPr id="8" name="Text 6"/>
          <p:cNvSpPr/>
          <p:nvPr/>
        </p:nvSpPr>
        <p:spPr>
          <a:xfrm>
            <a:off x="4937760" y="1417320"/>
            <a:ext cx="3429000" cy="274320"/>
          </a:xfrm>
          <a:prstGeom prst="rect">
            <a:avLst/>
          </a:prstGeom>
          <a:noFill/>
          <a:ln/>
        </p:spPr>
        <p:txBody>
          <a:bodyPr wrap="square" lIns="0" tIns="0" rIns="0" bIns="0" rtlCol="0" anchor="ctr"/>
          <a:lstStyle/>
          <a:p>
            <a:pPr indent="0" marL="0">
              <a:buNone/>
            </a:pPr>
            <a:r>
              <a:rPr lang="en-US" sz="1200" b="1" dirty="0">
                <a:solidFill>
                  <a:srgbClr val="15803D"/>
                </a:solidFill>
                <a:latin typeface="Calibri" pitchFamily="34" charset="0"/>
                <a:ea typeface="Calibri" pitchFamily="34" charset="-122"/>
                <a:cs typeface="Calibri" pitchFamily="34" charset="-120"/>
              </a:rPr>
              <a:t>HỆ THỐNG CHỈ SỐ ĐỊNH LƯỢNG (METRICS)</a:t>
            </a:r>
            <a:endParaRPr lang="en-US" sz="1200" dirty="0"/>
          </a:p>
        </p:txBody>
      </p:sp>
      <p:sp>
        <p:nvSpPr>
          <p:cNvPr id="9" name="Text 7"/>
          <p:cNvSpPr/>
          <p:nvPr/>
        </p:nvSpPr>
        <p:spPr>
          <a:xfrm>
            <a:off x="4937760" y="1783080"/>
            <a:ext cx="3429000" cy="2743200"/>
          </a:xfrm>
          <a:prstGeom prst="rect">
            <a:avLst/>
          </a:prstGeom>
          <a:noFill/>
          <a:ln/>
        </p:spPr>
        <p:txBody>
          <a:bodyPr wrap="square" lIns="0" tIns="0" rIns="0" bIns="0" rtlCol="0" anchor="ctr"/>
          <a:lstStyle/>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A. Sai số hình học (Geometric Accuracy):</a:t>
            </a:r>
            <a:endParaRPr lang="en-US" sz="980" dirty="0"/>
          </a:p>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 GCP RMSE: Sai số bình phương trung bình tại các điểm kiểm soát mặt đất thực tế.</a:t>
            </a:r>
            <a:endParaRPr lang="en-US" sz="980" dirty="0"/>
          </a:p>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 Loop Closure Drift: Độ lệch sai số tích lũy tại điểm khép vòng quỹ đạo bay.</a:t>
            </a:r>
            <a:endParaRPr lang="en-US" sz="980" dirty="0"/>
          </a:p>
          <a:p>
            <a:pPr indent="0" marL="0">
              <a:lnSpc>
                <a:spcPct val="112000"/>
              </a:lnSpc>
              <a:buNone/>
            </a:pPr>
            <a:endParaRPr lang="en-US" sz="980" dirty="0"/>
          </a:p>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B. Độ ổn định &amp; Tin cậy (Robustness):</a:t>
            </a:r>
            <a:endParaRPr lang="en-US" sz="980" dirty="0"/>
          </a:p>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 Tracking Success Rate: Tỷ lệ % khung hình đăng ký thành công liên tục trên toàn bộ video.</a:t>
            </a:r>
            <a:endParaRPr lang="en-US" sz="980" dirty="0"/>
          </a:p>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 Catastrophic Failure Count: Số lần mất dấu dẫn đến vỡ cấu trúc mosaic.</a:t>
            </a:r>
            <a:endParaRPr lang="en-US" sz="980" dirty="0"/>
          </a:p>
          <a:p>
            <a:pPr indent="0" marL="0">
              <a:lnSpc>
                <a:spcPct val="112000"/>
              </a:lnSpc>
              <a:buNone/>
            </a:pPr>
            <a:endParaRPr lang="en-US" sz="980" dirty="0"/>
          </a:p>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C. Hiệu năng tính toán (Resource &amp; Latency):</a:t>
            </a:r>
            <a:endParaRPr lang="en-US" sz="980" dirty="0"/>
          </a:p>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 P50 / P95 Latency: Độ trễ xử lý (ms/frame) ở mức trung vị và phân vị cao.</a:t>
            </a:r>
            <a:endParaRPr lang="en-US" sz="980" dirty="0"/>
          </a:p>
          <a:p>
            <a:pPr indent="0" marL="0">
              <a:lnSpc>
                <a:spcPct val="112000"/>
              </a:lnSpc>
              <a:buNone/>
            </a:pPr>
            <a:r>
              <a:rPr lang="en-US" sz="980" dirty="0">
                <a:solidFill>
                  <a:srgbClr val="0F172A"/>
                </a:solidFill>
                <a:latin typeface="Calibri" pitchFamily="34" charset="0"/>
                <a:ea typeface="Calibri" pitchFamily="34" charset="-122"/>
                <a:cs typeface="Calibri" pitchFamily="34" charset="-120"/>
              </a:rPr>
              <a:t>• Deep Matcher Activation Ratio: Tỷ lệ % khung hình phải kích hoạt mô hình học sâu.</a:t>
            </a:r>
            <a:endParaRPr lang="en-US" sz="9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dirty="0">
                <a:solidFill>
                  <a:srgbClr val="0284C7"/>
                </a:solidFill>
                <a:latin typeface="Calibri" pitchFamily="34" charset="0"/>
                <a:ea typeface="Calibri" pitchFamily="34" charset="-122"/>
                <a:cs typeface="Calibri" pitchFamily="34" charset="-120"/>
              </a:rPr>
              <a:t>KẾ HOẠCH NGHIÊN CỨU</a:t>
            </a:r>
            <a:endParaRPr lang="en-US" sz="1000" dirty="0"/>
          </a:p>
        </p:txBody>
      </p:sp>
      <p:sp>
        <p:nvSpPr>
          <p:cNvPr id="3" name="Text 1"/>
          <p:cNvSpPr/>
          <p:nvPr/>
        </p:nvSpPr>
        <p:spPr>
          <a:xfrm>
            <a:off x="548640" y="621792"/>
            <a:ext cx="8046720" cy="411480"/>
          </a:xfrm>
          <a:prstGeom prst="rect">
            <a:avLst/>
          </a:prstGeom>
          <a:noFill/>
          <a:ln/>
        </p:spPr>
        <p:txBody>
          <a:bodyPr wrap="square" lIns="0" tIns="0" rIns="0" bIns="0" rtlCol="0" anchor="ctr"/>
          <a:lstStyle/>
          <a:p>
            <a:pPr indent="0" marL="0">
              <a:buNone/>
            </a:pPr>
            <a:r>
              <a:rPr lang="en-US" sz="2000" b="1" dirty="0">
                <a:solidFill>
                  <a:srgbClr val="0F172A"/>
                </a:solidFill>
                <a:latin typeface="Calibri" pitchFamily="34" charset="0"/>
                <a:ea typeface="Calibri" pitchFamily="34" charset="-122"/>
                <a:cs typeface="Calibri" pitchFamily="34" charset="-120"/>
              </a:rPr>
              <a:t>Tiến độ thực hiện 6 tuần (21/09/2026 – 31/10/2026)</a:t>
            </a:r>
            <a:endParaRPr lang="en-US" sz="2000" dirty="0"/>
          </a:p>
        </p:txBody>
      </p:sp>
      <p:sp>
        <p:nvSpPr>
          <p:cNvPr id="4" name="Shape 2"/>
          <p:cNvSpPr/>
          <p:nvPr/>
        </p:nvSpPr>
        <p:spPr>
          <a:xfrm>
            <a:off x="548640" y="1234440"/>
            <a:ext cx="8046720" cy="493776"/>
          </a:xfrm>
          <a:prstGeom prst="roundRect">
            <a:avLst>
              <a:gd name="adj" fmla="val 11111"/>
            </a:avLst>
          </a:prstGeom>
          <a:solidFill>
            <a:srgbClr val="FFFFFF"/>
          </a:solidFill>
          <a:ln w="12700">
            <a:solidFill>
              <a:srgbClr val="E2E8F0"/>
            </a:solidFill>
            <a:prstDash val="solid"/>
          </a:ln>
        </p:spPr>
      </p:sp>
      <p:sp>
        <p:nvSpPr>
          <p:cNvPr id="5" name="Shape 3"/>
          <p:cNvSpPr/>
          <p:nvPr/>
        </p:nvSpPr>
        <p:spPr>
          <a:xfrm>
            <a:off x="685800" y="1325880"/>
            <a:ext cx="548640" cy="310896"/>
          </a:xfrm>
          <a:prstGeom prst="roundRect">
            <a:avLst>
              <a:gd name="adj" fmla="val 11765"/>
            </a:avLst>
          </a:prstGeom>
          <a:solidFill>
            <a:srgbClr val="E0F2FE"/>
          </a:solidFill>
          <a:ln w="6350">
            <a:solidFill>
              <a:srgbClr val="0EA5E9"/>
            </a:solidFill>
            <a:prstDash val="solid"/>
          </a:ln>
        </p:spPr>
      </p:sp>
      <p:sp>
        <p:nvSpPr>
          <p:cNvPr id="6" name="Text 4"/>
          <p:cNvSpPr/>
          <p:nvPr/>
        </p:nvSpPr>
        <p:spPr>
          <a:xfrm>
            <a:off x="685800" y="1371600"/>
            <a:ext cx="548640" cy="201168"/>
          </a:xfrm>
          <a:prstGeom prst="rect">
            <a:avLst/>
          </a:prstGeom>
          <a:noFill/>
          <a:ln/>
        </p:spPr>
        <p:txBody>
          <a:bodyPr wrap="square" lIns="0" tIns="0" rIns="0" bIns="0" rtlCol="0" anchor="ctr"/>
          <a:lstStyle/>
          <a:p>
            <a:pPr algn="ctr" indent="0" marL="0">
              <a:buNone/>
            </a:pPr>
            <a:r>
              <a:rPr lang="en-US" sz="1000" b="1" dirty="0">
                <a:solidFill>
                  <a:srgbClr val="0369A1"/>
                </a:solidFill>
                <a:latin typeface="Calibri" pitchFamily="34" charset="0"/>
                <a:ea typeface="Calibri" pitchFamily="34" charset="-122"/>
                <a:cs typeface="Calibri" pitchFamily="34" charset="-120"/>
              </a:rPr>
              <a:t>W1</a:t>
            </a:r>
            <a:endParaRPr lang="en-US" sz="1000" dirty="0"/>
          </a:p>
        </p:txBody>
      </p:sp>
      <p:sp>
        <p:nvSpPr>
          <p:cNvPr id="7" name="Text 5"/>
          <p:cNvSpPr/>
          <p:nvPr/>
        </p:nvSpPr>
        <p:spPr>
          <a:xfrm>
            <a:off x="1325880" y="1371600"/>
            <a:ext cx="1051560" cy="228600"/>
          </a:xfrm>
          <a:prstGeom prst="rect">
            <a:avLst/>
          </a:prstGeom>
          <a:noFill/>
          <a:ln/>
        </p:spPr>
        <p:txBody>
          <a:bodyPr wrap="square" lIns="0" tIns="0" rIns="0" bIns="0" rtlCol="0" anchor="ctr"/>
          <a:lstStyle/>
          <a:p>
            <a:pPr indent="0" marL="0">
              <a:buNone/>
            </a:pPr>
            <a:r>
              <a:rPr lang="en-US" sz="950" b="1" dirty="0">
                <a:solidFill>
                  <a:srgbClr val="0F172A"/>
                </a:solidFill>
                <a:latin typeface="Calibri" pitchFamily="34" charset="0"/>
                <a:ea typeface="Calibri" pitchFamily="34" charset="-122"/>
                <a:cs typeface="Calibri" pitchFamily="34" charset="-120"/>
              </a:rPr>
              <a:t>21-9 -&gt; 27/9</a:t>
            </a:r>
            <a:endParaRPr lang="en-US" sz="950" dirty="0"/>
          </a:p>
        </p:txBody>
      </p:sp>
      <p:sp>
        <p:nvSpPr>
          <p:cNvPr id="8" name="Text 6"/>
          <p:cNvSpPr/>
          <p:nvPr/>
        </p:nvSpPr>
        <p:spPr>
          <a:xfrm>
            <a:off x="2423160" y="1307592"/>
            <a:ext cx="3794760" cy="347472"/>
          </a:xfrm>
          <a:prstGeom prst="rect">
            <a:avLst/>
          </a:prstGeom>
          <a:noFill/>
          <a:ln/>
        </p:spPr>
        <p:txBody>
          <a:bodyPr wrap="square" lIns="0" tIns="0" rIns="0" bIns="0" rtlCol="0" anchor="ctr"/>
          <a:lstStyle/>
          <a:p>
            <a:pPr indent="0" marL="0">
              <a:lnSpc>
                <a:spcPct val="105000"/>
              </a:lnSpc>
              <a:buNone/>
            </a:pPr>
            <a:r>
              <a:rPr lang="en-US" sz="900" dirty="0">
                <a:solidFill>
                  <a:srgbClr val="0F172A"/>
                </a:solidFill>
                <a:latin typeface="Calibri" pitchFamily="34" charset="0"/>
                <a:ea typeface="Calibri" pitchFamily="34" charset="-122"/>
                <a:cs typeface="Calibri" pitchFamily="34" charset="-120"/>
              </a:rPr>
              <a:t>Chuẩn hóa dữ liệu &amp; Thiết lập môi trường đánh giá: Tiền xử lý dữ liệu NPU Drone-Map và dựng Evaluation Harness.</a:t>
            </a:r>
            <a:endParaRPr lang="en-US" sz="900" dirty="0"/>
          </a:p>
        </p:txBody>
      </p:sp>
      <p:sp>
        <p:nvSpPr>
          <p:cNvPr id="9" name="Text 7"/>
          <p:cNvSpPr/>
          <p:nvPr/>
        </p:nvSpPr>
        <p:spPr>
          <a:xfrm>
            <a:off x="6263640" y="1371600"/>
            <a:ext cx="2240280" cy="228600"/>
          </a:xfrm>
          <a:prstGeom prst="rect">
            <a:avLst/>
          </a:prstGeom>
          <a:noFill/>
          <a:ln/>
        </p:spPr>
        <p:txBody>
          <a:bodyPr wrap="square" lIns="0" tIns="0" rIns="0" bIns="0" rtlCol="0" anchor="ctr"/>
          <a:lstStyle/>
          <a:p>
            <a:pPr algn="r" indent="0" marL="0">
              <a:buNone/>
            </a:pPr>
            <a:r>
              <a:rPr lang="en-US" sz="850" b="1" i="1" dirty="0">
                <a:solidFill>
                  <a:srgbClr val="0284C7"/>
                </a:solidFill>
                <a:latin typeface="Calibri" pitchFamily="34" charset="0"/>
                <a:ea typeface="Calibri" pitchFamily="34" charset="-122"/>
                <a:cs typeface="Calibri" pitchFamily="34" charset="-120"/>
              </a:rPr>
              <a:t>Nguyễn Đức Nam</a:t>
            </a:r>
            <a:endParaRPr lang="en-US" sz="850" dirty="0"/>
          </a:p>
        </p:txBody>
      </p:sp>
      <p:sp>
        <p:nvSpPr>
          <p:cNvPr id="10" name="Shape 8"/>
          <p:cNvSpPr/>
          <p:nvPr/>
        </p:nvSpPr>
        <p:spPr>
          <a:xfrm>
            <a:off x="548640" y="1792224"/>
            <a:ext cx="8046720" cy="493776"/>
          </a:xfrm>
          <a:prstGeom prst="roundRect">
            <a:avLst>
              <a:gd name="adj" fmla="val 11111"/>
            </a:avLst>
          </a:prstGeom>
          <a:solidFill>
            <a:srgbClr val="FFFFFF"/>
          </a:solidFill>
          <a:ln w="12700">
            <a:solidFill>
              <a:srgbClr val="E2E8F0"/>
            </a:solidFill>
            <a:prstDash val="solid"/>
          </a:ln>
        </p:spPr>
      </p:sp>
      <p:sp>
        <p:nvSpPr>
          <p:cNvPr id="11" name="Shape 9"/>
          <p:cNvSpPr/>
          <p:nvPr/>
        </p:nvSpPr>
        <p:spPr>
          <a:xfrm>
            <a:off x="685800" y="1883664"/>
            <a:ext cx="548640" cy="310896"/>
          </a:xfrm>
          <a:prstGeom prst="roundRect">
            <a:avLst>
              <a:gd name="adj" fmla="val 11765"/>
            </a:avLst>
          </a:prstGeom>
          <a:solidFill>
            <a:srgbClr val="E0F2FE"/>
          </a:solidFill>
          <a:ln w="6350">
            <a:solidFill>
              <a:srgbClr val="0EA5E9"/>
            </a:solidFill>
            <a:prstDash val="solid"/>
          </a:ln>
        </p:spPr>
      </p:sp>
      <p:sp>
        <p:nvSpPr>
          <p:cNvPr id="12" name="Text 10"/>
          <p:cNvSpPr/>
          <p:nvPr/>
        </p:nvSpPr>
        <p:spPr>
          <a:xfrm>
            <a:off x="685800" y="1929384"/>
            <a:ext cx="548640" cy="201168"/>
          </a:xfrm>
          <a:prstGeom prst="rect">
            <a:avLst/>
          </a:prstGeom>
          <a:noFill/>
          <a:ln/>
        </p:spPr>
        <p:txBody>
          <a:bodyPr wrap="square" lIns="0" tIns="0" rIns="0" bIns="0" rtlCol="0" anchor="ctr"/>
          <a:lstStyle/>
          <a:p>
            <a:pPr algn="ctr" indent="0" marL="0">
              <a:buNone/>
            </a:pPr>
            <a:r>
              <a:rPr lang="en-US" sz="1000" b="1" dirty="0">
                <a:solidFill>
                  <a:srgbClr val="0369A1"/>
                </a:solidFill>
                <a:latin typeface="Calibri" pitchFamily="34" charset="0"/>
                <a:ea typeface="Calibri" pitchFamily="34" charset="-122"/>
                <a:cs typeface="Calibri" pitchFamily="34" charset="-120"/>
              </a:rPr>
              <a:t>W2</a:t>
            </a:r>
            <a:endParaRPr lang="en-US" sz="1000" dirty="0"/>
          </a:p>
        </p:txBody>
      </p:sp>
      <p:sp>
        <p:nvSpPr>
          <p:cNvPr id="13" name="Text 11"/>
          <p:cNvSpPr/>
          <p:nvPr/>
        </p:nvSpPr>
        <p:spPr>
          <a:xfrm>
            <a:off x="1325880" y="1929384"/>
            <a:ext cx="1051560" cy="228600"/>
          </a:xfrm>
          <a:prstGeom prst="rect">
            <a:avLst/>
          </a:prstGeom>
          <a:noFill/>
          <a:ln/>
        </p:spPr>
        <p:txBody>
          <a:bodyPr wrap="square" lIns="0" tIns="0" rIns="0" bIns="0" rtlCol="0" anchor="ctr"/>
          <a:lstStyle/>
          <a:p>
            <a:pPr indent="0" marL="0">
              <a:buNone/>
            </a:pPr>
            <a:r>
              <a:rPr lang="en-US" sz="950" b="1" dirty="0">
                <a:solidFill>
                  <a:srgbClr val="0F172A"/>
                </a:solidFill>
                <a:latin typeface="Calibri" pitchFamily="34" charset="0"/>
                <a:ea typeface="Calibri" pitchFamily="34" charset="-122"/>
                <a:cs typeface="Calibri" pitchFamily="34" charset="-120"/>
              </a:rPr>
              <a:t>28-9 -&gt; 4/10</a:t>
            </a:r>
            <a:endParaRPr lang="en-US" sz="950" dirty="0"/>
          </a:p>
        </p:txBody>
      </p:sp>
      <p:sp>
        <p:nvSpPr>
          <p:cNvPr id="14" name="Text 12"/>
          <p:cNvSpPr/>
          <p:nvPr/>
        </p:nvSpPr>
        <p:spPr>
          <a:xfrm>
            <a:off x="2423160" y="1865376"/>
            <a:ext cx="3794760" cy="347472"/>
          </a:xfrm>
          <a:prstGeom prst="rect">
            <a:avLst/>
          </a:prstGeom>
          <a:noFill/>
          <a:ln/>
        </p:spPr>
        <p:txBody>
          <a:bodyPr wrap="square" lIns="0" tIns="0" rIns="0" bIns="0" rtlCol="0" anchor="ctr"/>
          <a:lstStyle/>
          <a:p>
            <a:pPr indent="0" marL="0">
              <a:lnSpc>
                <a:spcPct val="105000"/>
              </a:lnSpc>
              <a:buNone/>
            </a:pPr>
            <a:r>
              <a:rPr lang="en-US" sz="900" dirty="0">
                <a:solidFill>
                  <a:srgbClr val="0F172A"/>
                </a:solidFill>
                <a:latin typeface="Calibri" pitchFamily="34" charset="0"/>
                <a:ea typeface="Calibri" pitchFamily="34" charset="-122"/>
                <a:cs typeface="Calibri" pitchFamily="34" charset="-120"/>
              </a:rPr>
              <a:t>Xây dựng pipeline ghép ảnh cơ sở (Baseline Framework): Hiện thực ghép tuần tự homography tích lũy 2D.</a:t>
            </a:r>
            <a:endParaRPr lang="en-US" sz="900" dirty="0"/>
          </a:p>
        </p:txBody>
      </p:sp>
      <p:sp>
        <p:nvSpPr>
          <p:cNvPr id="15" name="Text 13"/>
          <p:cNvSpPr/>
          <p:nvPr/>
        </p:nvSpPr>
        <p:spPr>
          <a:xfrm>
            <a:off x="6263640" y="1929384"/>
            <a:ext cx="2240280" cy="228600"/>
          </a:xfrm>
          <a:prstGeom prst="rect">
            <a:avLst/>
          </a:prstGeom>
          <a:noFill/>
          <a:ln/>
        </p:spPr>
        <p:txBody>
          <a:bodyPr wrap="square" lIns="0" tIns="0" rIns="0" bIns="0" rtlCol="0" anchor="ctr"/>
          <a:lstStyle/>
          <a:p>
            <a:pPr algn="r" indent="0" marL="0">
              <a:buNone/>
            </a:pPr>
            <a:r>
              <a:rPr lang="en-US" sz="850" b="1" i="1" dirty="0">
                <a:solidFill>
                  <a:srgbClr val="0284C7"/>
                </a:solidFill>
                <a:latin typeface="Calibri" pitchFamily="34" charset="0"/>
                <a:ea typeface="Calibri" pitchFamily="34" charset="-122"/>
                <a:cs typeface="Calibri" pitchFamily="34" charset="-120"/>
              </a:rPr>
              <a:t>Diệp Quang Sáng</a:t>
            </a:r>
            <a:endParaRPr lang="en-US" sz="850" dirty="0"/>
          </a:p>
        </p:txBody>
      </p:sp>
      <p:sp>
        <p:nvSpPr>
          <p:cNvPr id="16" name="Shape 14"/>
          <p:cNvSpPr/>
          <p:nvPr/>
        </p:nvSpPr>
        <p:spPr>
          <a:xfrm>
            <a:off x="548640" y="2350008"/>
            <a:ext cx="8046720" cy="493776"/>
          </a:xfrm>
          <a:prstGeom prst="roundRect">
            <a:avLst>
              <a:gd name="adj" fmla="val 11111"/>
            </a:avLst>
          </a:prstGeom>
          <a:solidFill>
            <a:srgbClr val="FFFFFF"/>
          </a:solidFill>
          <a:ln w="12700">
            <a:solidFill>
              <a:srgbClr val="E2E8F0"/>
            </a:solidFill>
            <a:prstDash val="solid"/>
          </a:ln>
        </p:spPr>
      </p:sp>
      <p:sp>
        <p:nvSpPr>
          <p:cNvPr id="17" name="Shape 15"/>
          <p:cNvSpPr/>
          <p:nvPr/>
        </p:nvSpPr>
        <p:spPr>
          <a:xfrm>
            <a:off x="685800" y="2441448"/>
            <a:ext cx="548640" cy="310896"/>
          </a:xfrm>
          <a:prstGeom prst="roundRect">
            <a:avLst>
              <a:gd name="adj" fmla="val 11765"/>
            </a:avLst>
          </a:prstGeom>
          <a:solidFill>
            <a:srgbClr val="E0F2FE"/>
          </a:solidFill>
          <a:ln w="6350">
            <a:solidFill>
              <a:srgbClr val="0EA5E9"/>
            </a:solidFill>
            <a:prstDash val="solid"/>
          </a:ln>
        </p:spPr>
      </p:sp>
      <p:sp>
        <p:nvSpPr>
          <p:cNvPr id="18" name="Text 16"/>
          <p:cNvSpPr/>
          <p:nvPr/>
        </p:nvSpPr>
        <p:spPr>
          <a:xfrm>
            <a:off x="685800" y="2487168"/>
            <a:ext cx="548640" cy="201168"/>
          </a:xfrm>
          <a:prstGeom prst="rect">
            <a:avLst/>
          </a:prstGeom>
          <a:noFill/>
          <a:ln/>
        </p:spPr>
        <p:txBody>
          <a:bodyPr wrap="square" lIns="0" tIns="0" rIns="0" bIns="0" rtlCol="0" anchor="ctr"/>
          <a:lstStyle/>
          <a:p>
            <a:pPr algn="ctr" indent="0" marL="0">
              <a:buNone/>
            </a:pPr>
            <a:r>
              <a:rPr lang="en-US" sz="1000" b="1" dirty="0">
                <a:solidFill>
                  <a:srgbClr val="0369A1"/>
                </a:solidFill>
                <a:latin typeface="Calibri" pitchFamily="34" charset="0"/>
                <a:ea typeface="Calibri" pitchFamily="34" charset="-122"/>
                <a:cs typeface="Calibri" pitchFamily="34" charset="-120"/>
              </a:rPr>
              <a:t>W3</a:t>
            </a:r>
            <a:endParaRPr lang="en-US" sz="1000" dirty="0"/>
          </a:p>
        </p:txBody>
      </p:sp>
      <p:sp>
        <p:nvSpPr>
          <p:cNvPr id="19" name="Text 17"/>
          <p:cNvSpPr/>
          <p:nvPr/>
        </p:nvSpPr>
        <p:spPr>
          <a:xfrm>
            <a:off x="1325880" y="2487168"/>
            <a:ext cx="1051560" cy="228600"/>
          </a:xfrm>
          <a:prstGeom prst="rect">
            <a:avLst/>
          </a:prstGeom>
          <a:noFill/>
          <a:ln/>
        </p:spPr>
        <p:txBody>
          <a:bodyPr wrap="square" lIns="0" tIns="0" rIns="0" bIns="0" rtlCol="0" anchor="ctr"/>
          <a:lstStyle/>
          <a:p>
            <a:pPr indent="0" marL="0">
              <a:buNone/>
            </a:pPr>
            <a:r>
              <a:rPr lang="en-US" sz="950" b="1" dirty="0">
                <a:solidFill>
                  <a:srgbClr val="0F172A"/>
                </a:solidFill>
                <a:latin typeface="Calibri" pitchFamily="34" charset="0"/>
                <a:ea typeface="Calibri" pitchFamily="34" charset="-122"/>
                <a:cs typeface="Calibri" pitchFamily="34" charset="-120"/>
              </a:rPr>
              <a:t>5-10 -&gt; 11/10</a:t>
            </a:r>
            <a:endParaRPr lang="en-US" sz="950" dirty="0"/>
          </a:p>
        </p:txBody>
      </p:sp>
      <p:sp>
        <p:nvSpPr>
          <p:cNvPr id="20" name="Text 18"/>
          <p:cNvSpPr/>
          <p:nvPr/>
        </p:nvSpPr>
        <p:spPr>
          <a:xfrm>
            <a:off x="2423160" y="2423160"/>
            <a:ext cx="3794760" cy="347472"/>
          </a:xfrm>
          <a:prstGeom prst="rect">
            <a:avLst/>
          </a:prstGeom>
          <a:noFill/>
          <a:ln/>
        </p:spPr>
        <p:txBody>
          <a:bodyPr wrap="square" lIns="0" tIns="0" rIns="0" bIns="0" rtlCol="0" anchor="ctr"/>
          <a:lstStyle/>
          <a:p>
            <a:pPr indent="0" marL="0">
              <a:lnSpc>
                <a:spcPct val="105000"/>
              </a:lnSpc>
              <a:buNone/>
            </a:pPr>
            <a:r>
              <a:rPr lang="en-US" sz="900" dirty="0">
                <a:solidFill>
                  <a:srgbClr val="0F172A"/>
                </a:solidFill>
                <a:latin typeface="Calibri" pitchFamily="34" charset="0"/>
                <a:ea typeface="Calibri" pitchFamily="34" charset="-122"/>
                <a:cs typeface="Calibri" pitchFamily="34" charset="-120"/>
              </a:rPr>
              <a:t>Cơ chế dự báo rủi ro &amp; Phân luồng tài nguyên (RQ1, RQ2): Mô hình hóa chỉ báo rẻ và bộ điều phối 2 tầng.</a:t>
            </a:r>
            <a:endParaRPr lang="en-US" sz="900" dirty="0"/>
          </a:p>
        </p:txBody>
      </p:sp>
      <p:sp>
        <p:nvSpPr>
          <p:cNvPr id="21" name="Text 19"/>
          <p:cNvSpPr/>
          <p:nvPr/>
        </p:nvSpPr>
        <p:spPr>
          <a:xfrm>
            <a:off x="6263640" y="2487168"/>
            <a:ext cx="2240280" cy="228600"/>
          </a:xfrm>
          <a:prstGeom prst="rect">
            <a:avLst/>
          </a:prstGeom>
          <a:noFill/>
          <a:ln/>
        </p:spPr>
        <p:txBody>
          <a:bodyPr wrap="square" lIns="0" tIns="0" rIns="0" bIns="0" rtlCol="0" anchor="ctr"/>
          <a:lstStyle/>
          <a:p>
            <a:pPr algn="r" indent="0" marL="0">
              <a:buNone/>
            </a:pPr>
            <a:r>
              <a:rPr lang="en-US" sz="850" b="1" i="1" dirty="0">
                <a:solidFill>
                  <a:srgbClr val="0284C7"/>
                </a:solidFill>
                <a:latin typeface="Calibri" pitchFamily="34" charset="0"/>
                <a:ea typeface="Calibri" pitchFamily="34" charset="-122"/>
                <a:cs typeface="Calibri" pitchFamily="34" charset="-120"/>
              </a:rPr>
              <a:t>Đào Đặng Nguyên Khôi</a:t>
            </a:r>
            <a:endParaRPr lang="en-US" sz="850" dirty="0"/>
          </a:p>
        </p:txBody>
      </p:sp>
      <p:sp>
        <p:nvSpPr>
          <p:cNvPr id="22" name="Shape 20"/>
          <p:cNvSpPr/>
          <p:nvPr/>
        </p:nvSpPr>
        <p:spPr>
          <a:xfrm>
            <a:off x="548640" y="2907792"/>
            <a:ext cx="8046720" cy="493776"/>
          </a:xfrm>
          <a:prstGeom prst="roundRect">
            <a:avLst>
              <a:gd name="adj" fmla="val 11111"/>
            </a:avLst>
          </a:prstGeom>
          <a:solidFill>
            <a:srgbClr val="FFFFFF"/>
          </a:solidFill>
          <a:ln w="12700">
            <a:solidFill>
              <a:srgbClr val="E2E8F0"/>
            </a:solidFill>
            <a:prstDash val="solid"/>
          </a:ln>
        </p:spPr>
      </p:sp>
      <p:sp>
        <p:nvSpPr>
          <p:cNvPr id="23" name="Shape 21"/>
          <p:cNvSpPr/>
          <p:nvPr/>
        </p:nvSpPr>
        <p:spPr>
          <a:xfrm>
            <a:off x="685800" y="2999232"/>
            <a:ext cx="548640" cy="310896"/>
          </a:xfrm>
          <a:prstGeom prst="roundRect">
            <a:avLst>
              <a:gd name="adj" fmla="val 11765"/>
            </a:avLst>
          </a:prstGeom>
          <a:solidFill>
            <a:srgbClr val="E0F2FE"/>
          </a:solidFill>
          <a:ln w="6350">
            <a:solidFill>
              <a:srgbClr val="0EA5E9"/>
            </a:solidFill>
            <a:prstDash val="solid"/>
          </a:ln>
        </p:spPr>
      </p:sp>
      <p:sp>
        <p:nvSpPr>
          <p:cNvPr id="24" name="Text 22"/>
          <p:cNvSpPr/>
          <p:nvPr/>
        </p:nvSpPr>
        <p:spPr>
          <a:xfrm>
            <a:off x="685800" y="3044952"/>
            <a:ext cx="548640" cy="201168"/>
          </a:xfrm>
          <a:prstGeom prst="rect">
            <a:avLst/>
          </a:prstGeom>
          <a:noFill/>
          <a:ln/>
        </p:spPr>
        <p:txBody>
          <a:bodyPr wrap="square" lIns="0" tIns="0" rIns="0" bIns="0" rtlCol="0" anchor="ctr"/>
          <a:lstStyle/>
          <a:p>
            <a:pPr algn="ctr" indent="0" marL="0">
              <a:buNone/>
            </a:pPr>
            <a:r>
              <a:rPr lang="en-US" sz="1000" b="1" dirty="0">
                <a:solidFill>
                  <a:srgbClr val="0369A1"/>
                </a:solidFill>
                <a:latin typeface="Calibri" pitchFamily="34" charset="0"/>
                <a:ea typeface="Calibri" pitchFamily="34" charset="-122"/>
                <a:cs typeface="Calibri" pitchFamily="34" charset="-120"/>
              </a:rPr>
              <a:t>W4</a:t>
            </a:r>
            <a:endParaRPr lang="en-US" sz="1000" dirty="0"/>
          </a:p>
        </p:txBody>
      </p:sp>
      <p:sp>
        <p:nvSpPr>
          <p:cNvPr id="25" name="Text 23"/>
          <p:cNvSpPr/>
          <p:nvPr/>
        </p:nvSpPr>
        <p:spPr>
          <a:xfrm>
            <a:off x="1325880" y="3044952"/>
            <a:ext cx="1051560" cy="228600"/>
          </a:xfrm>
          <a:prstGeom prst="rect">
            <a:avLst/>
          </a:prstGeom>
          <a:noFill/>
          <a:ln/>
        </p:spPr>
        <p:txBody>
          <a:bodyPr wrap="square" lIns="0" tIns="0" rIns="0" bIns="0" rtlCol="0" anchor="ctr"/>
          <a:lstStyle/>
          <a:p>
            <a:pPr indent="0" marL="0">
              <a:buNone/>
            </a:pPr>
            <a:r>
              <a:rPr lang="en-US" sz="950" b="1" dirty="0">
                <a:solidFill>
                  <a:srgbClr val="0F172A"/>
                </a:solidFill>
                <a:latin typeface="Calibri" pitchFamily="34" charset="0"/>
                <a:ea typeface="Calibri" pitchFamily="34" charset="-122"/>
                <a:cs typeface="Calibri" pitchFamily="34" charset="-120"/>
              </a:rPr>
              <a:t>12-10 -&gt; 18/10</a:t>
            </a:r>
            <a:endParaRPr lang="en-US" sz="950" dirty="0"/>
          </a:p>
        </p:txBody>
      </p:sp>
      <p:sp>
        <p:nvSpPr>
          <p:cNvPr id="26" name="Text 24"/>
          <p:cNvSpPr/>
          <p:nvPr/>
        </p:nvSpPr>
        <p:spPr>
          <a:xfrm>
            <a:off x="2423160" y="2980944"/>
            <a:ext cx="3794760" cy="347472"/>
          </a:xfrm>
          <a:prstGeom prst="rect">
            <a:avLst/>
          </a:prstGeom>
          <a:noFill/>
          <a:ln/>
        </p:spPr>
        <p:txBody>
          <a:bodyPr wrap="square" lIns="0" tIns="0" rIns="0" bIns="0" rtlCol="0" anchor="ctr"/>
          <a:lstStyle/>
          <a:p>
            <a:pPr indent="0" marL="0">
              <a:lnSpc>
                <a:spcPct val="105000"/>
              </a:lnSpc>
              <a:buNone/>
            </a:pPr>
            <a:r>
              <a:rPr lang="en-US" sz="900" dirty="0">
                <a:solidFill>
                  <a:srgbClr val="0F172A"/>
                </a:solidFill>
                <a:latin typeface="Calibri" pitchFamily="34" charset="0"/>
                <a:ea typeface="Calibri" pitchFamily="34" charset="-122"/>
                <a:cs typeface="Calibri" pitchFamily="34" charset="-120"/>
              </a:rPr>
              <a:t>Chiến lược phục hồi &amp; Tích hợp hệ thống (RQ3): Xây dựng bộ phục hồi (loại frame, rematch, tách submosaic).</a:t>
            </a:r>
            <a:endParaRPr lang="en-US" sz="900" dirty="0"/>
          </a:p>
        </p:txBody>
      </p:sp>
      <p:sp>
        <p:nvSpPr>
          <p:cNvPr id="27" name="Text 25"/>
          <p:cNvSpPr/>
          <p:nvPr/>
        </p:nvSpPr>
        <p:spPr>
          <a:xfrm>
            <a:off x="6263640" y="3044952"/>
            <a:ext cx="2240280" cy="228600"/>
          </a:xfrm>
          <a:prstGeom prst="rect">
            <a:avLst/>
          </a:prstGeom>
          <a:noFill/>
          <a:ln/>
        </p:spPr>
        <p:txBody>
          <a:bodyPr wrap="square" lIns="0" tIns="0" rIns="0" bIns="0" rtlCol="0" anchor="ctr"/>
          <a:lstStyle/>
          <a:p>
            <a:pPr algn="r" indent="0" marL="0">
              <a:buNone/>
            </a:pPr>
            <a:r>
              <a:rPr lang="en-US" sz="850" b="1" i="1" dirty="0">
                <a:solidFill>
                  <a:srgbClr val="0284C7"/>
                </a:solidFill>
                <a:latin typeface="Calibri" pitchFamily="34" charset="0"/>
                <a:ea typeface="Calibri" pitchFamily="34" charset="-122"/>
                <a:cs typeface="Calibri" pitchFamily="34" charset="-120"/>
              </a:rPr>
              <a:t>Trương Quang Đăng Khoa</a:t>
            </a:r>
            <a:endParaRPr lang="en-US" sz="850" dirty="0"/>
          </a:p>
        </p:txBody>
      </p:sp>
      <p:sp>
        <p:nvSpPr>
          <p:cNvPr id="28" name="Shape 26"/>
          <p:cNvSpPr/>
          <p:nvPr/>
        </p:nvSpPr>
        <p:spPr>
          <a:xfrm>
            <a:off x="548640" y="3465576"/>
            <a:ext cx="8046720" cy="493776"/>
          </a:xfrm>
          <a:prstGeom prst="roundRect">
            <a:avLst>
              <a:gd name="adj" fmla="val 11111"/>
            </a:avLst>
          </a:prstGeom>
          <a:solidFill>
            <a:srgbClr val="FFFFFF"/>
          </a:solidFill>
          <a:ln w="12700">
            <a:solidFill>
              <a:srgbClr val="E2E8F0"/>
            </a:solidFill>
            <a:prstDash val="solid"/>
          </a:ln>
        </p:spPr>
      </p:sp>
      <p:sp>
        <p:nvSpPr>
          <p:cNvPr id="29" name="Shape 27"/>
          <p:cNvSpPr/>
          <p:nvPr/>
        </p:nvSpPr>
        <p:spPr>
          <a:xfrm>
            <a:off x="685800" y="3557016"/>
            <a:ext cx="548640" cy="310896"/>
          </a:xfrm>
          <a:prstGeom prst="roundRect">
            <a:avLst>
              <a:gd name="adj" fmla="val 11765"/>
            </a:avLst>
          </a:prstGeom>
          <a:solidFill>
            <a:srgbClr val="E0F2FE"/>
          </a:solidFill>
          <a:ln w="6350">
            <a:solidFill>
              <a:srgbClr val="0EA5E9"/>
            </a:solidFill>
            <a:prstDash val="solid"/>
          </a:ln>
        </p:spPr>
      </p:sp>
      <p:sp>
        <p:nvSpPr>
          <p:cNvPr id="30" name="Text 28"/>
          <p:cNvSpPr/>
          <p:nvPr/>
        </p:nvSpPr>
        <p:spPr>
          <a:xfrm>
            <a:off x="685800" y="3602736"/>
            <a:ext cx="548640" cy="201168"/>
          </a:xfrm>
          <a:prstGeom prst="rect">
            <a:avLst/>
          </a:prstGeom>
          <a:noFill/>
          <a:ln/>
        </p:spPr>
        <p:txBody>
          <a:bodyPr wrap="square" lIns="0" tIns="0" rIns="0" bIns="0" rtlCol="0" anchor="ctr"/>
          <a:lstStyle/>
          <a:p>
            <a:pPr algn="ctr" indent="0" marL="0">
              <a:buNone/>
            </a:pPr>
            <a:r>
              <a:rPr lang="en-US" sz="1000" b="1" dirty="0">
                <a:solidFill>
                  <a:srgbClr val="0369A1"/>
                </a:solidFill>
                <a:latin typeface="Calibri" pitchFamily="34" charset="0"/>
                <a:ea typeface="Calibri" pitchFamily="34" charset="-122"/>
                <a:cs typeface="Calibri" pitchFamily="34" charset="-120"/>
              </a:rPr>
              <a:t>W5</a:t>
            </a:r>
            <a:endParaRPr lang="en-US" sz="1000" dirty="0"/>
          </a:p>
        </p:txBody>
      </p:sp>
      <p:sp>
        <p:nvSpPr>
          <p:cNvPr id="31" name="Text 29"/>
          <p:cNvSpPr/>
          <p:nvPr/>
        </p:nvSpPr>
        <p:spPr>
          <a:xfrm>
            <a:off x="1325880" y="3602736"/>
            <a:ext cx="1051560" cy="228600"/>
          </a:xfrm>
          <a:prstGeom prst="rect">
            <a:avLst/>
          </a:prstGeom>
          <a:noFill/>
          <a:ln/>
        </p:spPr>
        <p:txBody>
          <a:bodyPr wrap="square" lIns="0" tIns="0" rIns="0" bIns="0" rtlCol="0" anchor="ctr"/>
          <a:lstStyle/>
          <a:p>
            <a:pPr indent="0" marL="0">
              <a:buNone/>
            </a:pPr>
            <a:r>
              <a:rPr lang="en-US" sz="950" b="1" dirty="0">
                <a:solidFill>
                  <a:srgbClr val="0F172A"/>
                </a:solidFill>
                <a:latin typeface="Calibri" pitchFamily="34" charset="0"/>
                <a:ea typeface="Calibri" pitchFamily="34" charset="-122"/>
                <a:cs typeface="Calibri" pitchFamily="34" charset="-120"/>
              </a:rPr>
              <a:t>19-10 -&gt; 25/10</a:t>
            </a:r>
            <a:endParaRPr lang="en-US" sz="950" dirty="0"/>
          </a:p>
        </p:txBody>
      </p:sp>
      <p:sp>
        <p:nvSpPr>
          <p:cNvPr id="32" name="Text 30"/>
          <p:cNvSpPr/>
          <p:nvPr/>
        </p:nvSpPr>
        <p:spPr>
          <a:xfrm>
            <a:off x="2423160" y="3538728"/>
            <a:ext cx="3794760" cy="347472"/>
          </a:xfrm>
          <a:prstGeom prst="rect">
            <a:avLst/>
          </a:prstGeom>
          <a:noFill/>
          <a:ln/>
        </p:spPr>
        <p:txBody>
          <a:bodyPr wrap="square" lIns="0" tIns="0" rIns="0" bIns="0" rtlCol="0" anchor="ctr"/>
          <a:lstStyle/>
          <a:p>
            <a:pPr indent="0" marL="0">
              <a:lnSpc>
                <a:spcPct val="105000"/>
              </a:lnSpc>
              <a:buNone/>
            </a:pPr>
            <a:r>
              <a:rPr lang="en-US" sz="900" dirty="0">
                <a:solidFill>
                  <a:srgbClr val="0F172A"/>
                </a:solidFill>
                <a:latin typeface="Calibri" pitchFamily="34" charset="0"/>
                <a:ea typeface="Calibri" pitchFamily="34" charset="-122"/>
                <a:cs typeface="Calibri" pitchFamily="34" charset="-120"/>
              </a:rPr>
              <a:t>Thực nghiệm diện rộng &amp; Đánh giá định lượng: Chạy benchmark trên NPU Drone-Map và DroneZaic stress-test.</a:t>
            </a:r>
            <a:endParaRPr lang="en-US" sz="900" dirty="0"/>
          </a:p>
        </p:txBody>
      </p:sp>
      <p:sp>
        <p:nvSpPr>
          <p:cNvPr id="33" name="Text 31"/>
          <p:cNvSpPr/>
          <p:nvPr/>
        </p:nvSpPr>
        <p:spPr>
          <a:xfrm>
            <a:off x="6263640" y="3602736"/>
            <a:ext cx="2240280" cy="228600"/>
          </a:xfrm>
          <a:prstGeom prst="rect">
            <a:avLst/>
          </a:prstGeom>
          <a:noFill/>
          <a:ln/>
        </p:spPr>
        <p:txBody>
          <a:bodyPr wrap="square" lIns="0" tIns="0" rIns="0" bIns="0" rtlCol="0" anchor="ctr"/>
          <a:lstStyle/>
          <a:p>
            <a:pPr algn="r" indent="0" marL="0">
              <a:buNone/>
            </a:pPr>
            <a:r>
              <a:rPr lang="en-US" sz="850" b="1" i="1" dirty="0">
                <a:solidFill>
                  <a:srgbClr val="0284C7"/>
                </a:solidFill>
                <a:latin typeface="Calibri" pitchFamily="34" charset="0"/>
                <a:ea typeface="Calibri" pitchFamily="34" charset="-122"/>
                <a:cs typeface="Calibri" pitchFamily="34" charset="-120"/>
              </a:rPr>
              <a:t>Nguyễn Đức Nam, Trương Quang Đăng Khoa</a:t>
            </a:r>
            <a:endParaRPr lang="en-US" sz="850" dirty="0"/>
          </a:p>
        </p:txBody>
      </p:sp>
      <p:sp>
        <p:nvSpPr>
          <p:cNvPr id="34" name="Shape 32"/>
          <p:cNvSpPr/>
          <p:nvPr/>
        </p:nvSpPr>
        <p:spPr>
          <a:xfrm>
            <a:off x="548640" y="4023360"/>
            <a:ext cx="8046720" cy="493776"/>
          </a:xfrm>
          <a:prstGeom prst="roundRect">
            <a:avLst>
              <a:gd name="adj" fmla="val 11111"/>
            </a:avLst>
          </a:prstGeom>
          <a:solidFill>
            <a:srgbClr val="FFFFFF"/>
          </a:solidFill>
          <a:ln w="12700">
            <a:solidFill>
              <a:srgbClr val="E2E8F0"/>
            </a:solidFill>
            <a:prstDash val="solid"/>
          </a:ln>
        </p:spPr>
      </p:sp>
      <p:sp>
        <p:nvSpPr>
          <p:cNvPr id="35" name="Shape 33"/>
          <p:cNvSpPr/>
          <p:nvPr/>
        </p:nvSpPr>
        <p:spPr>
          <a:xfrm>
            <a:off x="685800" y="4114800"/>
            <a:ext cx="548640" cy="310896"/>
          </a:xfrm>
          <a:prstGeom prst="roundRect">
            <a:avLst>
              <a:gd name="adj" fmla="val 11765"/>
            </a:avLst>
          </a:prstGeom>
          <a:solidFill>
            <a:srgbClr val="E0F2FE"/>
          </a:solidFill>
          <a:ln w="6350">
            <a:solidFill>
              <a:srgbClr val="0EA5E9"/>
            </a:solidFill>
            <a:prstDash val="solid"/>
          </a:ln>
        </p:spPr>
      </p:sp>
      <p:sp>
        <p:nvSpPr>
          <p:cNvPr id="36" name="Text 34"/>
          <p:cNvSpPr/>
          <p:nvPr/>
        </p:nvSpPr>
        <p:spPr>
          <a:xfrm>
            <a:off x="685800" y="4160520"/>
            <a:ext cx="548640" cy="201168"/>
          </a:xfrm>
          <a:prstGeom prst="rect">
            <a:avLst/>
          </a:prstGeom>
          <a:noFill/>
          <a:ln/>
        </p:spPr>
        <p:txBody>
          <a:bodyPr wrap="square" lIns="0" tIns="0" rIns="0" bIns="0" rtlCol="0" anchor="ctr"/>
          <a:lstStyle/>
          <a:p>
            <a:pPr algn="ctr" indent="0" marL="0">
              <a:buNone/>
            </a:pPr>
            <a:r>
              <a:rPr lang="en-US" sz="1000" b="1" dirty="0">
                <a:solidFill>
                  <a:srgbClr val="0369A1"/>
                </a:solidFill>
                <a:latin typeface="Calibri" pitchFamily="34" charset="0"/>
                <a:ea typeface="Calibri" pitchFamily="34" charset="-122"/>
                <a:cs typeface="Calibri" pitchFamily="34" charset="-120"/>
              </a:rPr>
              <a:t>W6</a:t>
            </a:r>
            <a:endParaRPr lang="en-US" sz="1000" dirty="0"/>
          </a:p>
        </p:txBody>
      </p:sp>
      <p:sp>
        <p:nvSpPr>
          <p:cNvPr id="37" name="Text 35"/>
          <p:cNvSpPr/>
          <p:nvPr/>
        </p:nvSpPr>
        <p:spPr>
          <a:xfrm>
            <a:off x="1325880" y="4160520"/>
            <a:ext cx="1051560" cy="228600"/>
          </a:xfrm>
          <a:prstGeom prst="rect">
            <a:avLst/>
          </a:prstGeom>
          <a:noFill/>
          <a:ln/>
        </p:spPr>
        <p:txBody>
          <a:bodyPr wrap="square" lIns="0" tIns="0" rIns="0" bIns="0" rtlCol="0" anchor="ctr"/>
          <a:lstStyle/>
          <a:p>
            <a:pPr indent="0" marL="0">
              <a:buNone/>
            </a:pPr>
            <a:r>
              <a:rPr lang="en-US" sz="950" b="1" dirty="0">
                <a:solidFill>
                  <a:srgbClr val="0F172A"/>
                </a:solidFill>
                <a:latin typeface="Calibri" pitchFamily="34" charset="0"/>
                <a:ea typeface="Calibri" pitchFamily="34" charset="-122"/>
                <a:cs typeface="Calibri" pitchFamily="34" charset="-120"/>
              </a:rPr>
              <a:t>26-10 -&gt; 31/10</a:t>
            </a:r>
            <a:endParaRPr lang="en-US" sz="950" dirty="0"/>
          </a:p>
        </p:txBody>
      </p:sp>
      <p:sp>
        <p:nvSpPr>
          <p:cNvPr id="38" name="Text 36"/>
          <p:cNvSpPr/>
          <p:nvPr/>
        </p:nvSpPr>
        <p:spPr>
          <a:xfrm>
            <a:off x="2423160" y="4096512"/>
            <a:ext cx="3794760" cy="347472"/>
          </a:xfrm>
          <a:prstGeom prst="rect">
            <a:avLst/>
          </a:prstGeom>
          <a:noFill/>
          <a:ln/>
        </p:spPr>
        <p:txBody>
          <a:bodyPr wrap="square" lIns="0" tIns="0" rIns="0" bIns="0" rtlCol="0" anchor="ctr"/>
          <a:lstStyle/>
          <a:p>
            <a:pPr indent="0" marL="0">
              <a:lnSpc>
                <a:spcPct val="105000"/>
              </a:lnSpc>
              <a:buNone/>
            </a:pPr>
            <a:r>
              <a:rPr lang="en-US" sz="900" dirty="0">
                <a:solidFill>
                  <a:srgbClr val="0F172A"/>
                </a:solidFill>
                <a:latin typeface="Calibri" pitchFamily="34" charset="0"/>
                <a:ea typeface="Calibri" pitchFamily="34" charset="-122"/>
                <a:cs typeface="Calibri" pitchFamily="34" charset="-120"/>
              </a:rPr>
              <a:t>Tổng hợp kết quả nghiên cứu &amp; Hoàn thiện tài liệu đề tài: Phân tích 3 RQ, đóng gói mã nguồn và hoàn thiện báo cáo.</a:t>
            </a:r>
            <a:endParaRPr lang="en-US" sz="900" dirty="0"/>
          </a:p>
        </p:txBody>
      </p:sp>
      <p:sp>
        <p:nvSpPr>
          <p:cNvPr id="39" name="Text 37"/>
          <p:cNvSpPr/>
          <p:nvPr/>
        </p:nvSpPr>
        <p:spPr>
          <a:xfrm>
            <a:off x="6263640" y="4160520"/>
            <a:ext cx="2240280" cy="228600"/>
          </a:xfrm>
          <a:prstGeom prst="rect">
            <a:avLst/>
          </a:prstGeom>
          <a:noFill/>
          <a:ln/>
        </p:spPr>
        <p:txBody>
          <a:bodyPr wrap="square" lIns="0" tIns="0" rIns="0" bIns="0" rtlCol="0" anchor="ctr"/>
          <a:lstStyle/>
          <a:p>
            <a:pPr algn="r" indent="0" marL="0">
              <a:buNone/>
            </a:pPr>
            <a:r>
              <a:rPr lang="en-US" sz="850" b="1" i="1" dirty="0">
                <a:solidFill>
                  <a:srgbClr val="0284C7"/>
                </a:solidFill>
                <a:latin typeface="Calibri" pitchFamily="34" charset="0"/>
                <a:ea typeface="Calibri" pitchFamily="34" charset="-122"/>
                <a:cs typeface="Calibri" pitchFamily="34" charset="-120"/>
              </a:rPr>
              <a:t>Cả nhóm</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dirty="0">
                <a:solidFill>
                  <a:srgbClr val="0284C7"/>
                </a:solidFill>
                <a:latin typeface="Calibri" pitchFamily="34" charset="0"/>
                <a:ea typeface="Calibri" pitchFamily="34" charset="-122"/>
                <a:cs typeface="Calibri" pitchFamily="34" charset="-120"/>
              </a:rPr>
              <a:t>KẾT QUẢ DỰ KIẾN</a:t>
            </a:r>
            <a:endParaRPr lang="en-US" sz="1000" dirty="0"/>
          </a:p>
        </p:txBody>
      </p:sp>
      <p:sp>
        <p:nvSpPr>
          <p:cNvPr id="3" name="Text 1"/>
          <p:cNvSpPr/>
          <p:nvPr/>
        </p:nvSpPr>
        <p:spPr>
          <a:xfrm>
            <a:off x="548640" y="621792"/>
            <a:ext cx="8046720" cy="411480"/>
          </a:xfrm>
          <a:prstGeom prst="rect">
            <a:avLst/>
          </a:prstGeom>
          <a:noFill/>
          <a:ln/>
        </p:spPr>
        <p:txBody>
          <a:bodyPr wrap="square" lIns="0" tIns="0" rIns="0" bIns="0" rtlCol="0" anchor="ctr"/>
          <a:lstStyle/>
          <a:p>
            <a:pPr indent="0" marL="0">
              <a:buNone/>
            </a:pPr>
            <a:r>
              <a:rPr lang="en-US" sz="2000" b="1" dirty="0">
                <a:solidFill>
                  <a:srgbClr val="0F172A"/>
                </a:solidFill>
                <a:latin typeface="Calibri" pitchFamily="34" charset="0"/>
                <a:ea typeface="Calibri" pitchFamily="34" charset="-122"/>
                <a:cs typeface="Calibri" pitchFamily="34" charset="-120"/>
              </a:rPr>
              <a:t>Sản phẩm đầu ra và đóng góp của đề tài nghiên cứu</a:t>
            </a:r>
            <a:endParaRPr lang="en-US" sz="2000" dirty="0"/>
          </a:p>
        </p:txBody>
      </p:sp>
      <p:sp>
        <p:nvSpPr>
          <p:cNvPr id="4" name="Shape 2"/>
          <p:cNvSpPr/>
          <p:nvPr/>
        </p:nvSpPr>
        <p:spPr>
          <a:xfrm>
            <a:off x="548640" y="1234440"/>
            <a:ext cx="2560320" cy="3429000"/>
          </a:xfrm>
          <a:prstGeom prst="roundRect">
            <a:avLst>
              <a:gd name="adj" fmla="val 3571"/>
            </a:avLst>
          </a:prstGeom>
          <a:solidFill>
            <a:srgbClr val="FFFFFF"/>
          </a:solidFill>
          <a:ln w="12700">
            <a:solidFill>
              <a:srgbClr val="E2E8F0"/>
            </a:solidFill>
            <a:prstDash val="solid"/>
          </a:ln>
        </p:spPr>
      </p:sp>
      <p:sp>
        <p:nvSpPr>
          <p:cNvPr id="5" name="Shape 3"/>
          <p:cNvSpPr/>
          <p:nvPr/>
        </p:nvSpPr>
        <p:spPr>
          <a:xfrm>
            <a:off x="685800" y="1417320"/>
            <a:ext cx="2286000" cy="320040"/>
          </a:xfrm>
          <a:prstGeom prst="roundRect">
            <a:avLst>
              <a:gd name="adj" fmla="val 17143"/>
            </a:avLst>
          </a:prstGeom>
          <a:solidFill>
            <a:srgbClr val="E0F2FE"/>
          </a:solidFill>
          <a:ln w="6350">
            <a:solidFill>
              <a:srgbClr val="0EA5E9"/>
            </a:solidFill>
            <a:prstDash val="solid"/>
          </a:ln>
        </p:spPr>
      </p:sp>
      <p:sp>
        <p:nvSpPr>
          <p:cNvPr id="6" name="Text 4"/>
          <p:cNvSpPr/>
          <p:nvPr/>
        </p:nvSpPr>
        <p:spPr>
          <a:xfrm>
            <a:off x="731520" y="1481328"/>
            <a:ext cx="2194560" cy="182880"/>
          </a:xfrm>
          <a:prstGeom prst="rect">
            <a:avLst/>
          </a:prstGeom>
          <a:noFill/>
          <a:ln/>
        </p:spPr>
        <p:txBody>
          <a:bodyPr wrap="square" lIns="0" tIns="0" rIns="0" bIns="0" rtlCol="0" anchor="ctr"/>
          <a:lstStyle/>
          <a:p>
            <a:pPr indent="0" marL="0">
              <a:buNone/>
            </a:pPr>
            <a:r>
              <a:rPr lang="en-US" sz="950" b="1" dirty="0">
                <a:solidFill>
                  <a:srgbClr val="0369A1"/>
                </a:solidFill>
                <a:latin typeface="Calibri" pitchFamily="34" charset="0"/>
                <a:ea typeface="Calibri" pitchFamily="34" charset="-122"/>
                <a:cs typeface="Calibri" pitchFamily="34" charset="-120"/>
              </a:rPr>
              <a:t>SẢN PHẨM PHẦN MỀM</a:t>
            </a:r>
            <a:endParaRPr lang="en-US" sz="950" dirty="0"/>
          </a:p>
        </p:txBody>
      </p:sp>
      <p:sp>
        <p:nvSpPr>
          <p:cNvPr id="7" name="Text 5"/>
          <p:cNvSpPr/>
          <p:nvPr/>
        </p:nvSpPr>
        <p:spPr>
          <a:xfrm>
            <a:off x="731520" y="1874520"/>
            <a:ext cx="2194560" cy="457200"/>
          </a:xfrm>
          <a:prstGeom prst="rect">
            <a:avLst/>
          </a:prstGeom>
          <a:noFill/>
          <a:ln/>
        </p:spPr>
        <p:txBody>
          <a:bodyPr wrap="square" lIns="0" tIns="0" rIns="0" bIns="0" rtlCol="0" anchor="ctr"/>
          <a:lstStyle/>
          <a:p>
            <a:pPr indent="0" marL="0">
              <a:lnSpc>
                <a:spcPct val="110000"/>
              </a:lnSpc>
              <a:buNone/>
            </a:pPr>
            <a:r>
              <a:rPr lang="en-US" sz="1250" b="1" dirty="0">
                <a:solidFill>
                  <a:srgbClr val="0F172A"/>
                </a:solidFill>
                <a:latin typeface="Calibri" pitchFamily="34" charset="0"/>
                <a:ea typeface="Calibri" pitchFamily="34" charset="-122"/>
                <a:cs typeface="Calibri" pitchFamily="34" charset="-120"/>
              </a:rPr>
              <a:t>Mã nguồn mở Pipeline &amp; Tooling</a:t>
            </a:r>
            <a:endParaRPr lang="en-US" sz="1250" dirty="0"/>
          </a:p>
        </p:txBody>
      </p:sp>
      <p:sp>
        <p:nvSpPr>
          <p:cNvPr id="8" name="Text 6"/>
          <p:cNvSpPr/>
          <p:nvPr/>
        </p:nvSpPr>
        <p:spPr>
          <a:xfrm>
            <a:off x="731520" y="2423160"/>
            <a:ext cx="2194560" cy="2103120"/>
          </a:xfrm>
          <a:prstGeom prst="rect">
            <a:avLst/>
          </a:prstGeom>
          <a:noFill/>
          <a:ln/>
        </p:spPr>
        <p:txBody>
          <a:bodyPr wrap="square" lIns="0" tIns="0" rIns="0" bIns="0" rtlCol="0" anchor="ctr"/>
          <a:lstStyle/>
          <a:p>
            <a:pPr indent="0" marL="0">
              <a:lnSpc>
                <a:spcPct val="115000"/>
              </a:lnSpc>
              <a:buNone/>
            </a:pPr>
            <a:r>
              <a:rPr lang="en-US" sz="980" dirty="0">
                <a:solidFill>
                  <a:srgbClr val="0F172A"/>
                </a:solidFill>
                <a:latin typeface="Calibri" pitchFamily="34" charset="0"/>
                <a:ea typeface="Calibri" pitchFamily="34" charset="-122"/>
                <a:cs typeface="Calibri" pitchFamily="34" charset="-120"/>
              </a:rPr>
              <a:t>• Khung phần mềm hoàn chỉnh ghép ảnh 2D từ video UAV.</a:t>
            </a:r>
            <a:endParaRPr lang="en-US" sz="980" dirty="0"/>
          </a:p>
          <a:p>
            <a:pPr indent="0" marL="0">
              <a:lnSpc>
                <a:spcPct val="115000"/>
              </a:lnSpc>
              <a:buNone/>
            </a:pPr>
            <a:endParaRPr lang="en-US" sz="980" dirty="0"/>
          </a:p>
          <a:p>
            <a:pPr indent="0" marL="0">
              <a:lnSpc>
                <a:spcPct val="115000"/>
              </a:lnSpc>
              <a:buNone/>
            </a:pPr>
            <a:r>
              <a:rPr lang="en-US" sz="980" dirty="0">
                <a:solidFill>
                  <a:srgbClr val="0F172A"/>
                </a:solidFill>
                <a:latin typeface="Calibri" pitchFamily="34" charset="0"/>
                <a:ea typeface="Calibri" pitchFamily="34" charset="-122"/>
                <a:cs typeface="Calibri" pitchFamily="34" charset="-120"/>
              </a:rPr>
              <a:t>• Module Risk Gate &amp; Matcher Router tự thích ứng.</a:t>
            </a:r>
            <a:endParaRPr lang="en-US" sz="980" dirty="0"/>
          </a:p>
          <a:p>
            <a:pPr indent="0" marL="0">
              <a:lnSpc>
                <a:spcPct val="115000"/>
              </a:lnSpc>
              <a:buNone/>
            </a:pPr>
            <a:endParaRPr lang="en-US" sz="980" dirty="0"/>
          </a:p>
          <a:p>
            <a:pPr indent="0" marL="0">
              <a:lnSpc>
                <a:spcPct val="115000"/>
              </a:lnSpc>
              <a:buNone/>
            </a:pPr>
            <a:r>
              <a:rPr lang="en-US" sz="980" dirty="0">
                <a:solidFill>
                  <a:srgbClr val="0F172A"/>
                </a:solidFill>
                <a:latin typeface="Calibri" pitchFamily="34" charset="0"/>
                <a:ea typeface="Calibri" pitchFamily="34" charset="-122"/>
                <a:cs typeface="Calibri" pitchFamily="34" charset="-120"/>
              </a:rPr>
              <a:t>• Bộ công cụ đo lường định lượng tự động (Evaluation Harness).</a:t>
            </a:r>
            <a:endParaRPr lang="en-US" sz="980" dirty="0"/>
          </a:p>
          <a:p>
            <a:pPr indent="0" marL="0">
              <a:lnSpc>
                <a:spcPct val="115000"/>
              </a:lnSpc>
              <a:buNone/>
            </a:pPr>
            <a:endParaRPr lang="en-US" sz="980" dirty="0"/>
          </a:p>
          <a:p>
            <a:pPr indent="0" marL="0">
              <a:lnSpc>
                <a:spcPct val="115000"/>
              </a:lnSpc>
              <a:buNone/>
            </a:pPr>
            <a:r>
              <a:rPr lang="en-US" sz="980" dirty="0">
                <a:solidFill>
                  <a:srgbClr val="0F172A"/>
                </a:solidFill>
                <a:latin typeface="Calibri" pitchFamily="34" charset="0"/>
                <a:ea typeface="Calibri" pitchFamily="34" charset="-122"/>
                <a:cs typeface="Calibri" pitchFamily="34" charset="-120"/>
              </a:rPr>
              <a:t>• Toàn bộ mã nguồn kèm hướng dẫn tái lập thực nghiệm (Reproducibility).</a:t>
            </a:r>
            <a:endParaRPr lang="en-US" sz="980" dirty="0"/>
          </a:p>
        </p:txBody>
      </p:sp>
      <p:sp>
        <p:nvSpPr>
          <p:cNvPr id="9" name="Shape 7"/>
          <p:cNvSpPr/>
          <p:nvPr/>
        </p:nvSpPr>
        <p:spPr>
          <a:xfrm>
            <a:off x="3291840" y="1234440"/>
            <a:ext cx="2560320" cy="3429000"/>
          </a:xfrm>
          <a:prstGeom prst="roundRect">
            <a:avLst>
              <a:gd name="adj" fmla="val 3571"/>
            </a:avLst>
          </a:prstGeom>
          <a:solidFill>
            <a:srgbClr val="FFFFFF"/>
          </a:solidFill>
          <a:ln w="12700">
            <a:solidFill>
              <a:srgbClr val="E2E8F0"/>
            </a:solidFill>
            <a:prstDash val="solid"/>
          </a:ln>
        </p:spPr>
      </p:sp>
      <p:sp>
        <p:nvSpPr>
          <p:cNvPr id="10" name="Shape 8"/>
          <p:cNvSpPr/>
          <p:nvPr/>
        </p:nvSpPr>
        <p:spPr>
          <a:xfrm>
            <a:off x="3429000" y="1417320"/>
            <a:ext cx="2286000" cy="320040"/>
          </a:xfrm>
          <a:prstGeom prst="roundRect">
            <a:avLst>
              <a:gd name="adj" fmla="val 17143"/>
            </a:avLst>
          </a:prstGeom>
          <a:solidFill>
            <a:srgbClr val="E0F2FE"/>
          </a:solidFill>
          <a:ln w="6350">
            <a:solidFill>
              <a:srgbClr val="0EA5E9"/>
            </a:solidFill>
            <a:prstDash val="solid"/>
          </a:ln>
        </p:spPr>
      </p:sp>
      <p:sp>
        <p:nvSpPr>
          <p:cNvPr id="11" name="Text 9"/>
          <p:cNvSpPr/>
          <p:nvPr/>
        </p:nvSpPr>
        <p:spPr>
          <a:xfrm>
            <a:off x="3474720" y="1481328"/>
            <a:ext cx="2194560" cy="182880"/>
          </a:xfrm>
          <a:prstGeom prst="rect">
            <a:avLst/>
          </a:prstGeom>
          <a:noFill/>
          <a:ln/>
        </p:spPr>
        <p:txBody>
          <a:bodyPr wrap="square" lIns="0" tIns="0" rIns="0" bIns="0" rtlCol="0" anchor="ctr"/>
          <a:lstStyle/>
          <a:p>
            <a:pPr indent="0" marL="0">
              <a:buNone/>
            </a:pPr>
            <a:r>
              <a:rPr lang="en-US" sz="950" b="1" dirty="0">
                <a:solidFill>
                  <a:srgbClr val="0369A1"/>
                </a:solidFill>
                <a:latin typeface="Calibri" pitchFamily="34" charset="0"/>
                <a:ea typeface="Calibri" pitchFamily="34" charset="-122"/>
                <a:cs typeface="Calibri" pitchFamily="34" charset="-120"/>
              </a:rPr>
              <a:t>DỮ LIỆU KHOA HỌC</a:t>
            </a:r>
            <a:endParaRPr lang="en-US" sz="950" dirty="0"/>
          </a:p>
        </p:txBody>
      </p:sp>
      <p:sp>
        <p:nvSpPr>
          <p:cNvPr id="12" name="Text 10"/>
          <p:cNvSpPr/>
          <p:nvPr/>
        </p:nvSpPr>
        <p:spPr>
          <a:xfrm>
            <a:off x="3474720" y="1874520"/>
            <a:ext cx="2194560" cy="457200"/>
          </a:xfrm>
          <a:prstGeom prst="rect">
            <a:avLst/>
          </a:prstGeom>
          <a:noFill/>
          <a:ln/>
        </p:spPr>
        <p:txBody>
          <a:bodyPr wrap="square" lIns="0" tIns="0" rIns="0" bIns="0" rtlCol="0" anchor="ctr"/>
          <a:lstStyle/>
          <a:p>
            <a:pPr indent="0" marL="0">
              <a:lnSpc>
                <a:spcPct val="110000"/>
              </a:lnSpc>
              <a:buNone/>
            </a:pPr>
            <a:r>
              <a:rPr lang="en-US" sz="1250" b="1" dirty="0">
                <a:solidFill>
                  <a:srgbClr val="0F172A"/>
                </a:solidFill>
                <a:latin typeface="Calibri" pitchFamily="34" charset="0"/>
                <a:ea typeface="Calibri" pitchFamily="34" charset="-122"/>
                <a:cs typeface="Calibri" pitchFamily="34" charset="-120"/>
              </a:rPr>
              <a:t>Bộ thực nghiệm đối chuẩn (Benchmark)</a:t>
            </a:r>
            <a:endParaRPr lang="en-US" sz="1250" dirty="0"/>
          </a:p>
        </p:txBody>
      </p:sp>
      <p:sp>
        <p:nvSpPr>
          <p:cNvPr id="13" name="Text 11"/>
          <p:cNvSpPr/>
          <p:nvPr/>
        </p:nvSpPr>
        <p:spPr>
          <a:xfrm>
            <a:off x="3474720" y="2423160"/>
            <a:ext cx="2194560" cy="2103120"/>
          </a:xfrm>
          <a:prstGeom prst="rect">
            <a:avLst/>
          </a:prstGeom>
          <a:noFill/>
          <a:ln/>
        </p:spPr>
        <p:txBody>
          <a:bodyPr wrap="square" lIns="0" tIns="0" rIns="0" bIns="0" rtlCol="0" anchor="ctr"/>
          <a:lstStyle/>
          <a:p>
            <a:pPr indent="0" marL="0">
              <a:lnSpc>
                <a:spcPct val="115000"/>
              </a:lnSpc>
              <a:buNone/>
            </a:pPr>
            <a:r>
              <a:rPr lang="en-US" sz="980" dirty="0">
                <a:solidFill>
                  <a:srgbClr val="0F172A"/>
                </a:solidFill>
                <a:latin typeface="Calibri" pitchFamily="34" charset="0"/>
                <a:ea typeface="Calibri" pitchFamily="34" charset="-122"/>
                <a:cs typeface="Calibri" pitchFamily="34" charset="-120"/>
              </a:rPr>
              <a:t>• Tập số liệu thực nghiệm đầy đủ giải đáp định lượng 3 RQ.</a:t>
            </a:r>
            <a:endParaRPr lang="en-US" sz="980" dirty="0"/>
          </a:p>
          <a:p>
            <a:pPr indent="0" marL="0">
              <a:lnSpc>
                <a:spcPct val="115000"/>
              </a:lnSpc>
              <a:buNone/>
            </a:pPr>
            <a:endParaRPr lang="en-US" sz="980" dirty="0"/>
          </a:p>
          <a:p>
            <a:pPr indent="0" marL="0">
              <a:lnSpc>
                <a:spcPct val="115000"/>
              </a:lnSpc>
              <a:buNone/>
            </a:pPr>
            <a:r>
              <a:rPr lang="en-US" sz="980" dirty="0">
                <a:solidFill>
                  <a:srgbClr val="0F172A"/>
                </a:solidFill>
                <a:latin typeface="Calibri" pitchFamily="34" charset="0"/>
                <a:ea typeface="Calibri" pitchFamily="34" charset="-122"/>
                <a:cs typeface="Calibri" pitchFamily="34" charset="-120"/>
              </a:rPr>
              <a:t>• Báo cáo đối chuẩn sai số GCP RMSE, drift khép vòng, độ trễ P50/P95.</a:t>
            </a:r>
            <a:endParaRPr lang="en-US" sz="980" dirty="0"/>
          </a:p>
          <a:p>
            <a:pPr indent="0" marL="0">
              <a:lnSpc>
                <a:spcPct val="115000"/>
              </a:lnSpc>
              <a:buNone/>
            </a:pPr>
            <a:endParaRPr lang="en-US" sz="980" dirty="0"/>
          </a:p>
          <a:p>
            <a:pPr indent="0" marL="0">
              <a:lnSpc>
                <a:spcPct val="115000"/>
              </a:lnSpc>
              <a:buNone/>
            </a:pPr>
            <a:r>
              <a:rPr lang="en-US" sz="980" dirty="0">
                <a:solidFill>
                  <a:srgbClr val="0F172A"/>
                </a:solidFill>
                <a:latin typeface="Calibri" pitchFamily="34" charset="0"/>
                <a:ea typeface="Calibri" pitchFamily="34" charset="-122"/>
                <a:cs typeface="Calibri" pitchFamily="34" charset="-120"/>
              </a:rPr>
              <a:t>• Bộ ma trận homography tích lũy chuẩn hóa trên NPU Drone-Map và DroneZaic.</a:t>
            </a:r>
            <a:endParaRPr lang="en-US" sz="980" dirty="0"/>
          </a:p>
        </p:txBody>
      </p:sp>
      <p:sp>
        <p:nvSpPr>
          <p:cNvPr id="14" name="Shape 12"/>
          <p:cNvSpPr/>
          <p:nvPr/>
        </p:nvSpPr>
        <p:spPr>
          <a:xfrm>
            <a:off x="6035040" y="1234440"/>
            <a:ext cx="2560320" cy="3429000"/>
          </a:xfrm>
          <a:prstGeom prst="roundRect">
            <a:avLst>
              <a:gd name="adj" fmla="val 3571"/>
            </a:avLst>
          </a:prstGeom>
          <a:solidFill>
            <a:srgbClr val="FFFFFF"/>
          </a:solidFill>
          <a:ln w="12700">
            <a:solidFill>
              <a:srgbClr val="E2E8F0"/>
            </a:solidFill>
            <a:prstDash val="solid"/>
          </a:ln>
        </p:spPr>
      </p:sp>
      <p:sp>
        <p:nvSpPr>
          <p:cNvPr id="15" name="Shape 13"/>
          <p:cNvSpPr/>
          <p:nvPr/>
        </p:nvSpPr>
        <p:spPr>
          <a:xfrm>
            <a:off x="6172200" y="1417320"/>
            <a:ext cx="2286000" cy="320040"/>
          </a:xfrm>
          <a:prstGeom prst="roundRect">
            <a:avLst>
              <a:gd name="adj" fmla="val 17143"/>
            </a:avLst>
          </a:prstGeom>
          <a:solidFill>
            <a:srgbClr val="E0F2FE"/>
          </a:solidFill>
          <a:ln w="6350">
            <a:solidFill>
              <a:srgbClr val="0EA5E9"/>
            </a:solidFill>
            <a:prstDash val="solid"/>
          </a:ln>
        </p:spPr>
      </p:sp>
      <p:sp>
        <p:nvSpPr>
          <p:cNvPr id="16" name="Text 14"/>
          <p:cNvSpPr/>
          <p:nvPr/>
        </p:nvSpPr>
        <p:spPr>
          <a:xfrm>
            <a:off x="6217920" y="1481328"/>
            <a:ext cx="2194560" cy="182880"/>
          </a:xfrm>
          <a:prstGeom prst="rect">
            <a:avLst/>
          </a:prstGeom>
          <a:noFill/>
          <a:ln/>
        </p:spPr>
        <p:txBody>
          <a:bodyPr wrap="square" lIns="0" tIns="0" rIns="0" bIns="0" rtlCol="0" anchor="ctr"/>
          <a:lstStyle/>
          <a:p>
            <a:pPr indent="0" marL="0">
              <a:buNone/>
            </a:pPr>
            <a:r>
              <a:rPr lang="en-US" sz="950" b="1" dirty="0">
                <a:solidFill>
                  <a:srgbClr val="0369A1"/>
                </a:solidFill>
                <a:latin typeface="Calibri" pitchFamily="34" charset="0"/>
                <a:ea typeface="Calibri" pitchFamily="34" charset="-122"/>
                <a:cs typeface="Calibri" pitchFamily="34" charset="-120"/>
              </a:rPr>
              <a:t>CÔNG BỐ HỌC THUẬT</a:t>
            </a:r>
            <a:endParaRPr lang="en-US" sz="950" dirty="0"/>
          </a:p>
        </p:txBody>
      </p:sp>
      <p:sp>
        <p:nvSpPr>
          <p:cNvPr id="17" name="Text 15"/>
          <p:cNvSpPr/>
          <p:nvPr/>
        </p:nvSpPr>
        <p:spPr>
          <a:xfrm>
            <a:off x="6217920" y="1874520"/>
            <a:ext cx="2194560" cy="457200"/>
          </a:xfrm>
          <a:prstGeom prst="rect">
            <a:avLst/>
          </a:prstGeom>
          <a:noFill/>
          <a:ln/>
        </p:spPr>
        <p:txBody>
          <a:bodyPr wrap="square" lIns="0" tIns="0" rIns="0" bIns="0" rtlCol="0" anchor="ctr"/>
          <a:lstStyle/>
          <a:p>
            <a:pPr indent="0" marL="0">
              <a:lnSpc>
                <a:spcPct val="110000"/>
              </a:lnSpc>
              <a:buNone/>
            </a:pPr>
            <a:r>
              <a:rPr lang="en-US" sz="1250" b="1" dirty="0">
                <a:solidFill>
                  <a:srgbClr val="0F172A"/>
                </a:solidFill>
                <a:latin typeface="Calibri" pitchFamily="34" charset="0"/>
                <a:ea typeface="Calibri" pitchFamily="34" charset="-122"/>
                <a:cs typeface="Calibri" pitchFamily="34" charset="-120"/>
              </a:rPr>
              <a:t>Báo cáo &amp; Bài báo nghiên cứu</a:t>
            </a:r>
            <a:endParaRPr lang="en-US" sz="1250" dirty="0"/>
          </a:p>
        </p:txBody>
      </p:sp>
      <p:sp>
        <p:nvSpPr>
          <p:cNvPr id="18" name="Text 16"/>
          <p:cNvSpPr/>
          <p:nvPr/>
        </p:nvSpPr>
        <p:spPr>
          <a:xfrm>
            <a:off x="6217920" y="2423160"/>
            <a:ext cx="2194560" cy="2103120"/>
          </a:xfrm>
          <a:prstGeom prst="rect">
            <a:avLst/>
          </a:prstGeom>
          <a:noFill/>
          <a:ln/>
        </p:spPr>
        <p:txBody>
          <a:bodyPr wrap="square" lIns="0" tIns="0" rIns="0" bIns="0" rtlCol="0" anchor="ctr"/>
          <a:lstStyle/>
          <a:p>
            <a:pPr indent="0" marL="0">
              <a:lnSpc>
                <a:spcPct val="115000"/>
              </a:lnSpc>
              <a:buNone/>
            </a:pPr>
            <a:r>
              <a:rPr lang="en-US" sz="980" dirty="0">
                <a:solidFill>
                  <a:srgbClr val="0F172A"/>
                </a:solidFill>
                <a:latin typeface="Calibri" pitchFamily="34" charset="0"/>
                <a:ea typeface="Calibri" pitchFamily="34" charset="-122"/>
                <a:cs typeface="Calibri" pitchFamily="34" charset="-120"/>
              </a:rPr>
              <a:t>• Báo cáo tổng kết đề tài hoàn chỉnh (Research Report).</a:t>
            </a:r>
            <a:endParaRPr lang="en-US" sz="980" dirty="0"/>
          </a:p>
          <a:p>
            <a:pPr indent="0" marL="0">
              <a:lnSpc>
                <a:spcPct val="115000"/>
              </a:lnSpc>
              <a:buNone/>
            </a:pPr>
            <a:endParaRPr lang="en-US" sz="980" dirty="0"/>
          </a:p>
          <a:p>
            <a:pPr indent="0" marL="0">
              <a:lnSpc>
                <a:spcPct val="115000"/>
              </a:lnSpc>
              <a:buNone/>
            </a:pPr>
            <a:r>
              <a:rPr lang="en-US" sz="980" dirty="0">
                <a:solidFill>
                  <a:srgbClr val="0F172A"/>
                </a:solidFill>
                <a:latin typeface="Calibri" pitchFamily="34" charset="0"/>
                <a:ea typeface="Calibri" pitchFamily="34" charset="-122"/>
                <a:cs typeface="Calibri" pitchFamily="34" charset="-120"/>
              </a:rPr>
              <a:t>• Một bản thảo bài báo khoa học trình bày kiến trúc đề xuất và kết quả thực nghiệm.</a:t>
            </a:r>
            <a:endParaRPr lang="en-US" sz="980" dirty="0"/>
          </a:p>
          <a:p>
            <a:pPr indent="0" marL="0">
              <a:lnSpc>
                <a:spcPct val="115000"/>
              </a:lnSpc>
              <a:buNone/>
            </a:pPr>
            <a:endParaRPr lang="en-US" sz="980" dirty="0"/>
          </a:p>
          <a:p>
            <a:pPr indent="0" marL="0">
              <a:lnSpc>
                <a:spcPct val="115000"/>
              </a:lnSpc>
              <a:buNone/>
            </a:pPr>
            <a:r>
              <a:rPr lang="en-US" sz="980" dirty="0">
                <a:solidFill>
                  <a:srgbClr val="0F172A"/>
                </a:solidFill>
                <a:latin typeface="Calibri" pitchFamily="34" charset="0"/>
                <a:ea typeface="Calibri" pitchFamily="34" charset="-122"/>
                <a:cs typeface="Calibri" pitchFamily="34" charset="-120"/>
              </a:rPr>
              <a:t>• Đóng góp phương pháp phân luồng tài nguyên thực tế cho cộng đồng UAV CV.</a:t>
            </a:r>
            <a:endParaRPr lang="en-US" sz="9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731520" y="822960"/>
            <a:ext cx="7680960" cy="320040"/>
          </a:xfrm>
          <a:prstGeom prst="rect">
            <a:avLst/>
          </a:prstGeom>
          <a:noFill/>
          <a:ln/>
        </p:spPr>
        <p:txBody>
          <a:bodyPr wrap="square" lIns="0" tIns="0" rIns="0" bIns="0" rtlCol="0" anchor="ctr"/>
          <a:lstStyle/>
          <a:p>
            <a:pPr indent="0" marL="0">
              <a:buNone/>
            </a:pPr>
            <a:r>
              <a:rPr lang="en-US" sz="1300" b="1" dirty="0">
                <a:solidFill>
                  <a:srgbClr val="0EA5E9"/>
                </a:solidFill>
                <a:latin typeface="Calibri" pitchFamily="34" charset="0"/>
                <a:ea typeface="Calibri" pitchFamily="34" charset="-122"/>
                <a:cs typeface="Calibri" pitchFamily="34" charset="-120"/>
              </a:rPr>
              <a:t>KẾT LUẬN &amp; HỎI ĐÁP (Q&amp;A)</a:t>
            </a:r>
            <a:endParaRPr lang="en-US" sz="1300" dirty="0"/>
          </a:p>
        </p:txBody>
      </p:sp>
      <p:sp>
        <p:nvSpPr>
          <p:cNvPr id="3" name="Text 1"/>
          <p:cNvSpPr/>
          <p:nvPr/>
        </p:nvSpPr>
        <p:spPr>
          <a:xfrm>
            <a:off x="731520" y="1234440"/>
            <a:ext cx="7680960" cy="54864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Cảm ơn Thầy và Hội đồng đã lắng nghe!</a:t>
            </a:r>
            <a:endParaRPr lang="en-US" sz="2600" dirty="0"/>
          </a:p>
        </p:txBody>
      </p:sp>
      <p:sp>
        <p:nvSpPr>
          <p:cNvPr id="4" name="Shape 2"/>
          <p:cNvSpPr/>
          <p:nvPr/>
        </p:nvSpPr>
        <p:spPr>
          <a:xfrm>
            <a:off x="731520" y="1965960"/>
            <a:ext cx="7680960" cy="1645920"/>
          </a:xfrm>
          <a:prstGeom prst="roundRect">
            <a:avLst>
              <a:gd name="adj" fmla="val 5556"/>
            </a:avLst>
          </a:prstGeom>
          <a:solidFill>
            <a:srgbClr val="1E293B"/>
          </a:solidFill>
          <a:ln w="12700">
            <a:solidFill>
              <a:srgbClr val="334155"/>
            </a:solidFill>
            <a:prstDash val="solid"/>
          </a:ln>
        </p:spPr>
      </p:sp>
      <p:sp>
        <p:nvSpPr>
          <p:cNvPr id="5" name="Text 3"/>
          <p:cNvSpPr/>
          <p:nvPr/>
        </p:nvSpPr>
        <p:spPr>
          <a:xfrm>
            <a:off x="1005840" y="2148840"/>
            <a:ext cx="7132320" cy="1280160"/>
          </a:xfrm>
          <a:prstGeom prst="rect">
            <a:avLst/>
          </a:prstGeom>
          <a:noFill/>
          <a:ln/>
        </p:spPr>
        <p:txBody>
          <a:bodyPr wrap="square" lIns="0" tIns="0" rIns="0" bIns="0" rtlCol="0" anchor="ctr"/>
          <a:lstStyle/>
          <a:p>
            <a:pPr indent="0" marL="0">
              <a:lnSpc>
                <a:spcPct val="120000"/>
              </a:lnSpc>
              <a:buNone/>
            </a:pPr>
            <a:r>
              <a:rPr lang="en-US" sz="1100" dirty="0">
                <a:solidFill>
                  <a:srgbClr val="FFFFFF"/>
                </a:solidFill>
                <a:latin typeface="Calibri" pitchFamily="34" charset="0"/>
                <a:ea typeface="Calibri" pitchFamily="34" charset="-122"/>
                <a:cs typeface="Calibri" pitchFamily="34" charset="-120"/>
              </a:rPr>
              <a:t>• Tính thời sự &amp; thực tiễn: Giải quyết bài toán tạo bản đồ ảnh 2D hiện trường nhanh, khắc phục hiện tượng mất dấu và sai số tích lũy.</a:t>
            </a:r>
            <a:endParaRPr lang="en-US" sz="1100" dirty="0"/>
          </a:p>
          <a:p>
            <a:pPr indent="0" marL="0">
              <a:lnSpc>
                <a:spcPct val="120000"/>
              </a:lnSpc>
              <a:buNone/>
            </a:pPr>
            <a:endParaRPr lang="en-US" sz="1100" dirty="0"/>
          </a:p>
          <a:p>
            <a:pPr indent="0" marL="0">
              <a:lnSpc>
                <a:spcPct val="120000"/>
              </a:lnSpc>
              <a:buNone/>
            </a:pPr>
            <a:r>
              <a:rPr lang="en-US" sz="1100" dirty="0">
                <a:solidFill>
                  <a:srgbClr val="FFFFFF"/>
                </a:solidFill>
                <a:latin typeface="Calibri" pitchFamily="34" charset="0"/>
                <a:ea typeface="Calibri" pitchFamily="34" charset="-122"/>
                <a:cs typeface="Calibri" pitchFamily="34" charset="-120"/>
              </a:rPr>
              <a:t>• Đóng góp phương pháp luận: Khung 2 tầng tích hợp cổng rủi ro sớm (Risk Gate) và phục hồi có kiểm soát mà không phụ thuộc GPS RTK.</a:t>
            </a:r>
            <a:endParaRPr lang="en-US" sz="1100" dirty="0"/>
          </a:p>
          <a:p>
            <a:pPr indent="0" marL="0">
              <a:lnSpc>
                <a:spcPct val="120000"/>
              </a:lnSpc>
              <a:buNone/>
            </a:pPr>
            <a:endParaRPr lang="en-US" sz="1100" dirty="0"/>
          </a:p>
          <a:p>
            <a:pPr indent="0" marL="0">
              <a:lnSpc>
                <a:spcPct val="120000"/>
              </a:lnSpc>
              <a:buNone/>
            </a:pPr>
            <a:r>
              <a:rPr lang="en-US" sz="1100" dirty="0">
                <a:solidFill>
                  <a:srgbClr val="FFFFFF"/>
                </a:solidFill>
                <a:latin typeface="Calibri" pitchFamily="34" charset="0"/>
                <a:ea typeface="Calibri" pitchFamily="34" charset="-122"/>
                <a:cs typeface="Calibri" pitchFamily="34" charset="-120"/>
              </a:rPr>
              <a:t>• Kế hoạch hành động khả thi: Dữ liệu thực nghiệm đã sẵn sàng, phân công 4 nhân sự rõ ràng cho 6 tuần từ 21/09 đến 31/10.</a:t>
            </a:r>
            <a:endParaRPr lang="en-US" sz="1100" dirty="0"/>
          </a:p>
        </p:txBody>
      </p:sp>
      <p:sp>
        <p:nvSpPr>
          <p:cNvPr id="6" name="Text 4"/>
          <p:cNvSpPr/>
          <p:nvPr/>
        </p:nvSpPr>
        <p:spPr>
          <a:xfrm>
            <a:off x="731520" y="3886200"/>
            <a:ext cx="7680960" cy="548640"/>
          </a:xfrm>
          <a:prstGeom prst="rect">
            <a:avLst/>
          </a:prstGeom>
          <a:noFill/>
          <a:ln/>
        </p:spPr>
        <p:txBody>
          <a:bodyPr wrap="square" lIns="0" tIns="0" rIns="0" bIns="0" rtlCol="0" anchor="ctr"/>
          <a:lstStyle/>
          <a:p>
            <a:pPr algn="ctr" indent="0" marL="0">
              <a:lnSpc>
                <a:spcPct val="120000"/>
              </a:lnSpc>
              <a:buNone/>
            </a:pPr>
            <a:r>
              <a:rPr lang="en-US" sz="1050" i="1" dirty="0">
                <a:solidFill>
                  <a:srgbClr val="CADCFC"/>
                </a:solidFill>
                <a:latin typeface="Calibri" pitchFamily="34" charset="0"/>
                <a:ea typeface="Calibri" pitchFamily="34" charset="-122"/>
                <a:cs typeface="Calibri" pitchFamily="34" charset="-120"/>
              </a:rPr>
              <a:t>Nhóm 09: Diệp Quang Sáng • Nguyễn Đức Nam • Đào Đặng Nguyên Khôi • Trương Quang Đăng Khoa</a:t>
            </a:r>
            <a:endParaRPr lang="en-US" sz="1050" dirty="0"/>
          </a:p>
          <a:p>
            <a:pPr algn="ctr" indent="0" marL="0">
              <a:lnSpc>
                <a:spcPct val="120000"/>
              </a:lnSpc>
              <a:buNone/>
            </a:pPr>
            <a:r>
              <a:rPr lang="en-US" sz="1050" i="1" dirty="0">
                <a:solidFill>
                  <a:srgbClr val="CADCFC"/>
                </a:solidFill>
                <a:latin typeface="Calibri" pitchFamily="34" charset="0"/>
                <a:ea typeface="Calibri" pitchFamily="34" charset="-122"/>
                <a:cs typeface="Calibri" pitchFamily="34" charset="-120"/>
              </a:rPr>
              <a:t>Giảng viên hướng dẫn: TS. Nguyễn Hồng Hải (HaiNH51)</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2026-09-18T22:37:27Z</dcterms:created>
  <dcterms:modified xsi:type="dcterms:W3CDTF">2026-09-18T22:37:27Z</dcterms:modified>
</cp:coreProperties>
</file>